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both for sitting down with me. I've been thinking about this for a while, and I wanted to present it properly rather than bring it up at dinner and hope for the best.</a:t>
            </a:r>
          </a:p>
          <a:p/>
          <a:p>
            <a:r>
              <a:t>So this is a proposal, not a request. It isn't a business idea and it isn't about earning anything back — it's a plan for my own development, and I think it deserves the same care I'd give a project.</a:t>
            </a:r>
          </a:p>
          <a:p/>
          <a:p>
            <a:r>
              <a:t>Over the next few minutes I'll cover four things: where I want to go, what it would cost, how you'd see every rupee, and what I'd hold myself to in return. Then I'll ask for something quite small.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screen is work I already do — just at a small scale. A sensor here, a microcontroller there, a robot that follows a line or turns away from a wall.</a:t>
            </a:r>
          </a:p>
          <a:p/>
          <a:p>
            <a:r>
              <a:t>Those interests aren't new. What's new is that I now know what I want to do with them. I want to study engineering seriously — AI, robotics, and if I get the chance, space technology — and I want to be the kind of engineer who has actually built things.</a:t>
            </a:r>
          </a:p>
          <a:p/>
          <a:p>
            <a:r>
              <a:t>The line at the bottom is how the work really happens. Learn, experiment, design, prototype, test, improve — and then round again. That cycle doesn't run on one purchase. It runs on a steady supply of parts, tools and time. That's the honest reason I'm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about this slide, because it would be easy to misread.</a:t>
            </a:r>
          </a:p>
          <a:p/>
          <a:p>
            <a:r>
              <a:t>Nothing here suggests that you don't support me. You already buy the equipment I ask for, and you've never made me feel like a burden for asking.</a:t>
            </a:r>
          </a:p>
          <a:p/>
          <a:p>
            <a:r>
              <a:t>The point is narrower than that. At the moment, each purchase is its own conversation: I ask, you consider it, and we decide in that moment. It works, but it means spending follows the moment rather than a plan, and anything expensive keeps getting pushed to "later".</a:t>
            </a:r>
          </a:p>
          <a:p/>
          <a:p>
            <a:r>
              <a:t>A fund moves that planning to the start of the month, once. One decision instead of many.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is ₹2,000 a month, given at the beginning of each month.</a:t>
            </a:r>
          </a:p>
          <a:p/>
          <a:p>
            <a:r>
              <a:t>₹1,900 goes into a development fund. ₹100 is for ordinary personal expenses — small things, not equipment.</a:t>
            </a:r>
          </a:p>
          <a:p/>
          <a:p>
            <a:r>
              <a:t>The part that matters most is what happens to the ₹1,900: it does not get spent every month. It sits there and accumulates. Some months I'll buy something small, some months I'll buy nothing at all, and that's by design. The 5% slice exists so that I'm not asking you for a hundred rupees here and there, and so that the development fund stays clean and easy to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if we simply let it run.</a:t>
            </a:r>
          </a:p>
          <a:p/>
          <a:p>
            <a:r>
              <a:t>At three months the fund holds ₹5,700. At six, ₹11,400. At nine, ₹17,100. At twelve months, ₹22,800.</a:t>
            </a:r>
          </a:p>
          <a:p/>
          <a:p>
            <a:r>
              <a:t>Over a year you'd contribute ₹24,000 in total, of which ₹1,200 is personal allocation and ₹22,800 stays in the development fund.</a:t>
            </a:r>
          </a:p>
          <a:p/>
          <a:p>
            <a:r>
              <a:t>I want to be precise about one thing: these are contributions, not returns. There's no interest, no investment, nothing that depends on the market. It's just money arriving and staying put, which means the numbers are as reliable as the arrangement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would genuinely change what I can build, and I want to name them honestly.</a:t>
            </a:r>
          </a:p>
          <a:p/>
          <a:p>
            <a:r>
              <a:t>The first is a 3D printer. Right now, every custom bracket or mount is a problem to solve by hand. A printer turns a design into a part the same evening, which changes how quickly I can test an idea.</a:t>
            </a:r>
          </a:p>
          <a:p/>
          <a:p>
            <a:r>
              <a:t>The second is a capable laptop, later on. AI work, CAD and larger projects all need a machine that can keep up.</a:t>
            </a:r>
          </a:p>
          <a:p/>
          <a:p>
            <a:r>
              <a:t>Notice what isn't on this slide: prices. I'm deliberately not asking for either of these today, and I don't want to build a case around a number I haven't researched properly. These are goals the fund moves towards, and you'd approve any purchase before it happens.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is in three phases, and the order matters.</a:t>
            </a:r>
          </a:p>
          <a:p/>
          <a:p>
            <a:r>
              <a:t>Foundation is about habits and basics — a consistent routine, fundamentals, small frequent experiments. That phase costs very little.</a:t>
            </a:r>
          </a:p>
          <a:p/>
          <a:p>
            <a:r>
              <a:t>Expansion is where the printer starts to matter: CAD, real design work, more ambitious prototypes, and saving towards a defined target.</a:t>
            </a:r>
          </a:p>
          <a:p/>
          <a:p>
            <a:r>
              <a:t>Advanced is where the laptop and bigger projects come in — AI work, longer builds, competitions.</a:t>
            </a:r>
          </a:p>
          <a:p/>
          <a:p>
            <a:r>
              <a:t>You'll notice there are no dates. I'd rather say "this begins when the last phase is genuinely in place" than promise a timeline I can't control.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I'd ask you to hold me to, and I've tried to make it specific rather than impressive.</a:t>
            </a:r>
          </a:p>
          <a:p/>
          <a:p>
            <a:r>
              <a:t>Four areas. Academics: consistent work, assignments on time, visible improvement — and I'd ask that we judge that on consistency, effort and progress, not on one exam mark.</a:t>
            </a:r>
          </a:p>
          <a:p/>
          <a:p>
            <a:r>
              <a:t>School: my responsibilities as Emerald Vice Captain, done properly.</a:t>
            </a:r>
          </a:p>
          <a:p/>
          <a:p>
            <a:r>
              <a:t>Home: agreed responsibilities, followed through without being reminded.</a:t>
            </a:r>
          </a:p>
          <a:p/>
          <a:p>
            <a:r>
              <a:t>Discipline: time managed, technology used purposefully, and a balance between studies and projects that actually holds.</a:t>
            </a:r>
          </a:p>
          <a:p/>
          <a:p>
            <a:r>
              <a:t>If one of these slips, I'd rather we talk about it in the monthly check-in than wait for month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rest of it believable.</a:t>
            </a:r>
          </a:p>
          <a:p/>
          <a:p>
            <a:r>
              <a:t>One page. Contributions in, balance, every purchase, what it was for, and what's left. The figures here are illustrative — a sample of what the record would look like after three months, not a claim about spending that has happened.</a:t>
            </a:r>
          </a:p>
          <a:p/>
          <a:p>
            <a:r>
              <a:t>There are four rules I'd keep: record it the day it happens, write the purpose and not just the amount, share the whole record unedited, and talk to you before anything significant.</a:t>
            </a:r>
          </a:p>
          <a:p/>
          <a:p>
            <a:r>
              <a:t>You'd have access whenever you want it. Not a summary I've prepared — the actual record, including the boring entries.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ask itself is deliberately small.</a:t>
            </a:r>
          </a:p>
          <a:p/>
          <a:p>
            <a:r>
              <a:t>Three months, ₹2,000 a month, ₹6,000 in total. ₹5,700 of that would sit in the development fund and ₹300 would be personal.</a:t>
            </a:r>
          </a:p>
          <a:p/>
          <a:p>
            <a:r>
              <a:t>Month one sets the system up. Month two is about settling into the routine. Month three is about preparing an honest review.</a:t>
            </a:r>
          </a:p>
          <a:p/>
          <a:p>
            <a:r>
              <a:t>At the end we look at six things together: academics, responsibilities, discipline, transparency, technical progress, and whether the arrangement is actually working.</a:t>
            </a:r>
          </a:p>
          <a:p/>
          <a:p>
            <a:r>
              <a:t>And then you choose. Continue, continue with changes, or stop — and you won't owe me an explanation if the answer is stop.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I've tried to think of the questions you'd actually want to ask, rather than the ones that are easy to answer.</a:t>
            </a:r>
          </a:p>
          <a:p/>
          <a:p>
            <a:r>
              <a:t>The first is the one I'd ask in your position: "we already buy what you need — why a monthly fund?" The answer is that this isn't a replacement; it's structure.</a:t>
            </a:r>
          </a:p>
          <a:p/>
          <a:p>
            <a:r>
              <a:t>The others follow the same pattern. Individual requests solve today's need; a fund builds towards something months away. Transparency answers the trust question. The three-month review answers the discipline question. And no, I don't need expensive equipment right now — that's the whole point of saving first.</a:t>
            </a:r>
          </a:p>
          <a:p/>
          <a:p>
            <a:r>
              <a:t>There's a longer written list in the supporting document, with answers I couldn't fit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decision I'm asking for.</a:t>
            </a:r>
          </a:p>
          <a:p/>
          <a:p>
            <a:r>
              <a:t>A three-month pilot: ₹2,000 at the beginning of each month, split ₹1,900 and ₹100. Complete visibility. The accountability agreement, starting from month one. And a formal review at the end.</a:t>
            </a:r>
          </a:p>
          <a:p/>
          <a:p>
            <a:r>
              <a:t>Everything is negotiable except the transparency — if you'd rather change the amount, the timing, or the split, I'd rather have a version you're comfortable with than the version I designed.</a:t>
            </a:r>
          </a:p>
          <a:p/>
          <a:p>
            <a:r>
              <a:t>The five principles along the bottom are what I'd like this to be judged against.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finish with the honest version of why I'm asking.</a:t>
            </a:r>
          </a:p>
          <a:p/>
          <a:p>
            <a:r>
              <a:t>I don't want to keep asking for individual purchases whenever I need something. I want to plan ahead, save towards my goals, and take real responsibility for my own development — including the parts that are boring, like keeping a ledger straight.</a:t>
            </a:r>
          </a:p>
          <a:p/>
          <a:p>
            <a:r>
              <a:t>With your support, I hope to build something that helps me grow, not just as a student, but as a future engineer.</a:t>
            </a:r>
          </a:p>
          <a:p/>
          <a:p>
            <a:r>
              <a:t>That's the whole proposal. Thank you for listening — and I'm happy to go back to any slide or answer anything I've skipped.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cxnSp>
        <p:nvCxnSpPr>
          <p:cNvPr id="2" name="Connector 1"/>
          <p:cNvCxnSpPr/>
          <p:nvPr/>
        </p:nvCxnSpPr>
        <p:spPr>
          <a:xfrm>
            <a:off x="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87782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75564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63347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511296"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38912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26694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14476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2259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900416"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5606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3388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41171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0"/>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0" y="877824"/>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0" y="1755648"/>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2633472"/>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3511296"/>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4389120"/>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5266944"/>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6144768"/>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023360" y="-7132320"/>
            <a:ext cx="13167360" cy="13167360"/>
          </a:xfrm>
          <a:prstGeom prst="ellipse">
            <a:avLst/>
          </a:prstGeom>
          <a:gradFill rotWithShape="1">
            <a:gsLst>
              <a:gs pos="0">
                <a:srgbClr val="123A78">
                  <a:alpha val="42000"/>
                </a:srgbClr>
              </a:gs>
              <a:gs pos="35000">
                <a:srgbClr val="0C2450">
                  <a:alpha val="22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72000" y="2560320"/>
            <a:ext cx="9875520" cy="9875520"/>
          </a:xfrm>
          <a:prstGeom prst="ellipse">
            <a:avLst/>
          </a:prstGeom>
          <a:gradFill rotWithShape="1">
            <a:gsLst>
              <a:gs pos="0">
                <a:srgbClr val="0C4C63">
                  <a:alpha val="30000"/>
                </a:srgbClr>
              </a:gs>
              <a:gs pos="50000">
                <a:srgbClr val="08303F">
                  <a:alpha val="12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0" y="0"/>
            <a:ext cx="12191695" cy="0"/>
          </a:xfrm>
          <a:prstGeom prst="line">
            <a:avLst/>
          </a:prstGeom>
          <a:ln w="30480">
            <a:solidFill>
              <a:srgbClr val="22D3EE">
                <a:alpha val="55000"/>
              </a:srgbClr>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1847088"/>
            <a:ext cx="6583680" cy="219456"/>
          </a:xfrm>
          <a:prstGeom prst="rect">
            <a:avLst/>
          </a:prstGeom>
          <a:noFill/>
        </p:spPr>
        <p:txBody>
          <a:bodyPr wrap="square" lIns="0" rIns="0" tIns="0" bIns="0" anchor="t">
            <a:spAutoFit/>
          </a:bodyPr>
          <a:lstStyle/>
          <a:p>
            <a:pPr algn="l">
              <a:lnSpc>
                <a:spcPct val="130000"/>
              </a:lnSpc>
            </a:pPr>
            <a:r>
              <a:rPr sz="950" b="1" spc="300">
                <a:solidFill>
                  <a:srgbClr val="22D3EE"/>
                </a:solidFill>
                <a:latin typeface="Inter"/>
              </a:rPr>
              <a:t>A PROPOSAL FOR MY PARENTS</a:t>
            </a:r>
          </a:p>
        </p:txBody>
      </p:sp>
      <p:sp>
        <p:nvSpPr>
          <p:cNvPr id="28" name="TextBox 27"/>
          <p:cNvSpPr txBox="1"/>
          <p:nvPr/>
        </p:nvSpPr>
        <p:spPr>
          <a:xfrm>
            <a:off x="822960" y="2194560"/>
            <a:ext cx="7680960" cy="2606040"/>
          </a:xfrm>
          <a:prstGeom prst="rect">
            <a:avLst/>
          </a:prstGeom>
          <a:noFill/>
        </p:spPr>
        <p:txBody>
          <a:bodyPr wrap="square" lIns="0" rIns="0" tIns="0" bIns="0" anchor="t">
            <a:spAutoFit/>
          </a:bodyPr>
          <a:lstStyle/>
          <a:p>
            <a:pPr algn="l">
              <a:lnSpc>
                <a:spcPct val="94000"/>
              </a:lnSpc>
            </a:pPr>
            <a:r>
              <a:rPr sz="7600" b="1" spc="-180">
                <a:solidFill>
                  <a:srgbClr val="FFFFFF"/>
                </a:solidFill>
                <a:latin typeface="Inter"/>
              </a:rPr>
              <a:t>PROJECT</a:t>
            </a:r>
          </a:p>
        </p:txBody>
      </p:sp>
      <p:sp>
        <p:nvSpPr>
          <p:cNvPr id="29" name="TextBox 28"/>
          <p:cNvSpPr txBox="1"/>
          <p:nvPr/>
        </p:nvSpPr>
        <p:spPr>
          <a:xfrm>
            <a:off x="822960" y="3108960"/>
            <a:ext cx="7680960" cy="1234440"/>
          </a:xfrm>
          <a:prstGeom prst="rect">
            <a:avLst/>
          </a:prstGeom>
          <a:noFill/>
        </p:spPr>
        <p:txBody>
          <a:bodyPr wrap="square" lIns="0" rIns="0" tIns="0" bIns="0" anchor="t">
            <a:spAutoFit/>
          </a:bodyPr>
          <a:lstStyle/>
          <a:p>
            <a:pPr algn="l">
              <a:lnSpc>
                <a:spcPct val="94000"/>
              </a:lnSpc>
            </a:pPr>
            <a:r>
              <a:rPr sz="7600" b="1" spc="-180">
                <a:solidFill>
                  <a:srgbClr val="22D3EE"/>
                </a:solidFill>
                <a:latin typeface="Inter"/>
              </a:rPr>
              <a:t>FUTURE</a:t>
            </a:r>
          </a:p>
        </p:txBody>
      </p:sp>
      <p:sp>
        <p:nvSpPr>
          <p:cNvPr id="30" name="Rectangle 29"/>
          <p:cNvSpPr/>
          <p:nvPr/>
        </p:nvSpPr>
        <p:spPr>
          <a:xfrm>
            <a:off x="822960" y="4315968"/>
            <a:ext cx="56692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498848"/>
            <a:ext cx="6400800" cy="310896"/>
          </a:xfrm>
          <a:prstGeom prst="rect">
            <a:avLst/>
          </a:prstGeom>
          <a:noFill/>
        </p:spPr>
        <p:txBody>
          <a:bodyPr wrap="square" lIns="0" rIns="0" tIns="0" bIns="0" anchor="t">
            <a:spAutoFit/>
          </a:bodyPr>
          <a:lstStyle/>
          <a:p>
            <a:pPr algn="l">
              <a:lnSpc>
                <a:spcPct val="130000"/>
              </a:lnSpc>
            </a:pPr>
            <a:r>
              <a:rPr sz="1650" b="0">
                <a:solidFill>
                  <a:srgbClr val="D5DEEA"/>
                </a:solidFill>
                <a:latin typeface="Inter"/>
              </a:rPr>
              <a:t>Personal Development &amp; Technology Fund</a:t>
            </a:r>
          </a:p>
        </p:txBody>
      </p:sp>
      <p:sp>
        <p:nvSpPr>
          <p:cNvPr id="32" name="TextBox 31"/>
          <p:cNvSpPr txBox="1"/>
          <p:nvPr/>
        </p:nvSpPr>
        <p:spPr>
          <a:xfrm>
            <a:off x="822960" y="4919472"/>
            <a:ext cx="6309360" cy="274320"/>
          </a:xfrm>
          <a:prstGeom prst="rect">
            <a:avLst/>
          </a:prstGeom>
          <a:noFill/>
        </p:spPr>
        <p:txBody>
          <a:bodyPr wrap="square" lIns="0" rIns="0" tIns="0" bIns="0" anchor="t">
            <a:spAutoFit/>
          </a:bodyPr>
          <a:lstStyle/>
          <a:p>
            <a:pPr algn="l">
              <a:lnSpc>
                <a:spcPct val="130000"/>
              </a:lnSpc>
            </a:pPr>
            <a:r>
              <a:rPr sz="1150" b="0" spc="20">
                <a:solidFill>
                  <a:srgbClr val="7E90AB"/>
                </a:solidFill>
                <a:latin typeface="Inter"/>
              </a:rPr>
              <a:t>Investing in skills today. Building possibilities for tomorrow.</a:t>
            </a:r>
          </a:p>
        </p:txBody>
      </p:sp>
      <p:sp>
        <p:nvSpPr>
          <p:cNvPr id="33" name="TextBox 32"/>
          <p:cNvSpPr txBox="1"/>
          <p:nvPr/>
        </p:nvSpPr>
        <p:spPr>
          <a:xfrm>
            <a:off x="822960" y="5541264"/>
            <a:ext cx="1371600" cy="274320"/>
          </a:xfrm>
          <a:prstGeom prst="rect">
            <a:avLst/>
          </a:prstGeom>
          <a:noFill/>
        </p:spPr>
        <p:txBody>
          <a:bodyPr wrap="square" lIns="0" rIns="0" tIns="0" bIns="0" anchor="t">
            <a:spAutoFit/>
          </a:bodyPr>
          <a:lstStyle/>
          <a:p>
            <a:pPr algn="l">
              <a:lnSpc>
                <a:spcPct val="130000"/>
              </a:lnSpc>
            </a:pPr>
            <a:r>
              <a:rPr sz="1300" b="1" spc="-20">
                <a:solidFill>
                  <a:srgbClr val="FFFFFF"/>
                </a:solidFill>
                <a:latin typeface="Inter"/>
              </a:rPr>
              <a:t>₹2,000</a:t>
            </a:r>
          </a:p>
        </p:txBody>
      </p:sp>
      <p:sp>
        <p:nvSpPr>
          <p:cNvPr id="34" name="TextBox 33"/>
          <p:cNvSpPr txBox="1"/>
          <p:nvPr/>
        </p:nvSpPr>
        <p:spPr>
          <a:xfrm>
            <a:off x="822960" y="5797296"/>
            <a:ext cx="1463040" cy="182880"/>
          </a:xfrm>
          <a:prstGeom prst="rect">
            <a:avLst/>
          </a:prstGeom>
          <a:noFill/>
        </p:spPr>
        <p:txBody>
          <a:bodyPr wrap="square" lIns="0" rIns="0" tIns="0" bIns="0" anchor="t">
            <a:spAutoFit/>
          </a:bodyPr>
          <a:lstStyle/>
          <a:p>
            <a:pPr algn="l">
              <a:lnSpc>
                <a:spcPct val="130000"/>
              </a:lnSpc>
            </a:pPr>
            <a:r>
              <a:rPr sz="700" b="1" spc="190">
                <a:solidFill>
                  <a:srgbClr val="6F819C"/>
                </a:solidFill>
                <a:latin typeface="Inter"/>
              </a:rPr>
              <a:t>PER MONTH</a:t>
            </a:r>
          </a:p>
        </p:txBody>
      </p:sp>
      <p:sp>
        <p:nvSpPr>
          <p:cNvPr id="35" name="TextBox 34"/>
          <p:cNvSpPr txBox="1"/>
          <p:nvPr/>
        </p:nvSpPr>
        <p:spPr>
          <a:xfrm>
            <a:off x="2395728" y="5541264"/>
            <a:ext cx="1371600" cy="274320"/>
          </a:xfrm>
          <a:prstGeom prst="rect">
            <a:avLst/>
          </a:prstGeom>
          <a:noFill/>
        </p:spPr>
        <p:txBody>
          <a:bodyPr wrap="square" lIns="0" rIns="0" tIns="0" bIns="0" anchor="t">
            <a:spAutoFit/>
          </a:bodyPr>
          <a:lstStyle/>
          <a:p>
            <a:pPr algn="l">
              <a:lnSpc>
                <a:spcPct val="130000"/>
              </a:lnSpc>
            </a:pPr>
            <a:r>
              <a:rPr sz="1300" b="1" spc="-20">
                <a:solidFill>
                  <a:srgbClr val="FFFFFF"/>
                </a:solidFill>
                <a:latin typeface="Inter"/>
              </a:rPr>
              <a:t>3</a:t>
            </a:r>
          </a:p>
        </p:txBody>
      </p:sp>
      <p:sp>
        <p:nvSpPr>
          <p:cNvPr id="36" name="TextBox 35"/>
          <p:cNvSpPr txBox="1"/>
          <p:nvPr/>
        </p:nvSpPr>
        <p:spPr>
          <a:xfrm>
            <a:off x="2395728" y="5797296"/>
            <a:ext cx="1463040" cy="182880"/>
          </a:xfrm>
          <a:prstGeom prst="rect">
            <a:avLst/>
          </a:prstGeom>
          <a:noFill/>
        </p:spPr>
        <p:txBody>
          <a:bodyPr wrap="square" lIns="0" rIns="0" tIns="0" bIns="0" anchor="t">
            <a:spAutoFit/>
          </a:bodyPr>
          <a:lstStyle/>
          <a:p>
            <a:pPr algn="l">
              <a:lnSpc>
                <a:spcPct val="130000"/>
              </a:lnSpc>
            </a:pPr>
            <a:r>
              <a:rPr sz="700" b="1" spc="190">
                <a:solidFill>
                  <a:srgbClr val="6F819C"/>
                </a:solidFill>
                <a:latin typeface="Inter"/>
              </a:rPr>
              <a:t>MONTH PILOT</a:t>
            </a:r>
          </a:p>
        </p:txBody>
      </p:sp>
      <p:sp>
        <p:nvSpPr>
          <p:cNvPr id="37" name="TextBox 36"/>
          <p:cNvSpPr txBox="1"/>
          <p:nvPr/>
        </p:nvSpPr>
        <p:spPr>
          <a:xfrm>
            <a:off x="3968496" y="5541264"/>
            <a:ext cx="1371600" cy="274320"/>
          </a:xfrm>
          <a:prstGeom prst="rect">
            <a:avLst/>
          </a:prstGeom>
          <a:noFill/>
        </p:spPr>
        <p:txBody>
          <a:bodyPr wrap="square" lIns="0" rIns="0" tIns="0" bIns="0" anchor="t">
            <a:spAutoFit/>
          </a:bodyPr>
          <a:lstStyle/>
          <a:p>
            <a:pPr algn="l">
              <a:lnSpc>
                <a:spcPct val="130000"/>
              </a:lnSpc>
            </a:pPr>
            <a:r>
              <a:rPr sz="1300" b="1" spc="-20">
                <a:solidFill>
                  <a:srgbClr val="FFFFFF"/>
                </a:solidFill>
                <a:latin typeface="Inter"/>
              </a:rPr>
              <a:t>100%</a:t>
            </a:r>
          </a:p>
        </p:txBody>
      </p:sp>
      <p:sp>
        <p:nvSpPr>
          <p:cNvPr id="38" name="TextBox 37"/>
          <p:cNvSpPr txBox="1"/>
          <p:nvPr/>
        </p:nvSpPr>
        <p:spPr>
          <a:xfrm>
            <a:off x="3968496" y="5797296"/>
            <a:ext cx="1463040" cy="182880"/>
          </a:xfrm>
          <a:prstGeom prst="rect">
            <a:avLst/>
          </a:prstGeom>
          <a:noFill/>
        </p:spPr>
        <p:txBody>
          <a:bodyPr wrap="square" lIns="0" rIns="0" tIns="0" bIns="0" anchor="t">
            <a:spAutoFit/>
          </a:bodyPr>
          <a:lstStyle/>
          <a:p>
            <a:pPr algn="l">
              <a:lnSpc>
                <a:spcPct val="130000"/>
              </a:lnSpc>
            </a:pPr>
            <a:r>
              <a:rPr sz="700" b="1" spc="190">
                <a:solidFill>
                  <a:srgbClr val="6F819C"/>
                </a:solidFill>
                <a:latin typeface="Inter"/>
              </a:rPr>
              <a:t>TRANSPARENT</a:t>
            </a:r>
          </a:p>
        </p:txBody>
      </p:sp>
      <p:cxnSp>
        <p:nvCxnSpPr>
          <p:cNvPr id="39" name="Connector 38"/>
          <p:cNvCxnSpPr/>
          <p:nvPr/>
        </p:nvCxnSpPr>
        <p:spPr>
          <a:xfrm>
            <a:off x="822960" y="6272784"/>
            <a:ext cx="4754880" cy="0"/>
          </a:xfrm>
          <a:prstGeom prst="line">
            <a:avLst/>
          </a:prstGeom>
          <a:ln w="10160">
            <a:solidFill>
              <a:srgbClr val="FFFFFF">
                <a:alpha val="13000"/>
              </a:srgbClr>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2960" y="6364224"/>
            <a:ext cx="5486400" cy="182880"/>
          </a:xfrm>
          <a:prstGeom prst="rect">
            <a:avLst/>
          </a:prstGeom>
          <a:noFill/>
        </p:spPr>
        <p:txBody>
          <a:bodyPr wrap="square" lIns="0" rIns="0" tIns="0" bIns="0" anchor="t">
            <a:spAutoFit/>
          </a:bodyPr>
          <a:lstStyle/>
          <a:p>
            <a:pPr algn="l">
              <a:lnSpc>
                <a:spcPct val="130000"/>
              </a:lnSpc>
            </a:pPr>
            <a:r>
              <a:rPr sz="700" b="1" spc="170">
                <a:solidFill>
                  <a:srgbClr val="5E708C"/>
                </a:solidFill>
                <a:latin typeface="Inter"/>
              </a:rPr>
              <a:t>OCTOBER 2026  ·  THREE-MONTH PILOT PROPOSAL</a:t>
            </a:r>
          </a:p>
        </p:txBody>
      </p:sp>
      <p:sp>
        <p:nvSpPr>
          <p:cNvPr id="41" name="Oval 40"/>
          <p:cNvSpPr/>
          <p:nvPr/>
        </p:nvSpPr>
        <p:spPr>
          <a:xfrm>
            <a:off x="8065008" y="2267712"/>
            <a:ext cx="2926080" cy="2926080"/>
          </a:xfrm>
          <a:prstGeom prst="ellipse">
            <a:avLst/>
          </a:prstGeom>
          <a:noFill/>
          <a:ln w="12700">
            <a:solidFill>
              <a:srgbClr val="22D3E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91472" y="223113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51238" y="219090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05088" y="1924812"/>
            <a:ext cx="1645920" cy="201168"/>
          </a:xfrm>
          <a:prstGeom prst="rect">
            <a:avLst/>
          </a:prstGeom>
          <a:noFill/>
        </p:spPr>
        <p:txBody>
          <a:bodyPr wrap="square" lIns="0" rIns="0" tIns="0" bIns="0" anchor="t">
            <a:spAutoFit/>
          </a:bodyPr>
          <a:lstStyle/>
          <a:p>
            <a:pPr algn="ctr">
              <a:lnSpc>
                <a:spcPct val="130000"/>
              </a:lnSpc>
            </a:pPr>
            <a:r>
              <a:rPr sz="760" b="1" spc="150">
                <a:solidFill>
                  <a:srgbClr val="8FA6C4">
                    <a:alpha val="78000"/>
                  </a:srgbClr>
                </a:solidFill>
                <a:latin typeface="Inter"/>
              </a:rPr>
              <a:t>LEARN</a:t>
            </a:r>
          </a:p>
        </p:txBody>
      </p:sp>
      <p:sp>
        <p:nvSpPr>
          <p:cNvPr id="45" name="Oval 44"/>
          <p:cNvSpPr/>
          <p:nvPr/>
        </p:nvSpPr>
        <p:spPr>
          <a:xfrm>
            <a:off x="10758502" y="296265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718268" y="292242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7782" y="2793492"/>
            <a:ext cx="1371600" cy="201168"/>
          </a:xfrm>
          <a:prstGeom prst="rect">
            <a:avLst/>
          </a:prstGeom>
          <a:noFill/>
        </p:spPr>
        <p:txBody>
          <a:bodyPr wrap="square" lIns="0" rIns="0" tIns="0" bIns="0" anchor="t">
            <a:spAutoFit/>
          </a:bodyPr>
          <a:lstStyle/>
          <a:p>
            <a:pPr algn="l">
              <a:lnSpc>
                <a:spcPct val="130000"/>
              </a:lnSpc>
            </a:pPr>
            <a:r>
              <a:rPr sz="760" b="1" spc="150">
                <a:solidFill>
                  <a:srgbClr val="8FA6C4">
                    <a:alpha val="78000"/>
                  </a:srgbClr>
                </a:solidFill>
                <a:latin typeface="Inter"/>
              </a:rPr>
              <a:t>EXPERIMENT</a:t>
            </a:r>
          </a:p>
        </p:txBody>
      </p:sp>
      <p:sp>
        <p:nvSpPr>
          <p:cNvPr id="48" name="Oval 47"/>
          <p:cNvSpPr/>
          <p:nvPr/>
        </p:nvSpPr>
        <p:spPr>
          <a:xfrm>
            <a:off x="10758502" y="442569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718268" y="438546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77782" y="4530852"/>
            <a:ext cx="1371600" cy="201168"/>
          </a:xfrm>
          <a:prstGeom prst="rect">
            <a:avLst/>
          </a:prstGeom>
          <a:noFill/>
        </p:spPr>
        <p:txBody>
          <a:bodyPr wrap="square" lIns="0" rIns="0" tIns="0" bIns="0" anchor="t">
            <a:spAutoFit/>
          </a:bodyPr>
          <a:lstStyle/>
          <a:p>
            <a:pPr algn="l">
              <a:lnSpc>
                <a:spcPct val="130000"/>
              </a:lnSpc>
            </a:pPr>
            <a:r>
              <a:rPr sz="760" b="1" spc="150">
                <a:solidFill>
                  <a:srgbClr val="8FA6C4">
                    <a:alpha val="78000"/>
                  </a:srgbClr>
                </a:solidFill>
                <a:latin typeface="Inter"/>
              </a:rPr>
              <a:t>DESIGN</a:t>
            </a:r>
          </a:p>
        </p:txBody>
      </p:sp>
      <p:sp>
        <p:nvSpPr>
          <p:cNvPr id="51" name="Oval 50"/>
          <p:cNvSpPr/>
          <p:nvPr/>
        </p:nvSpPr>
        <p:spPr>
          <a:xfrm>
            <a:off x="9491472" y="515721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451238" y="511698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05088" y="5399532"/>
            <a:ext cx="1645920" cy="201168"/>
          </a:xfrm>
          <a:prstGeom prst="rect">
            <a:avLst/>
          </a:prstGeom>
          <a:noFill/>
        </p:spPr>
        <p:txBody>
          <a:bodyPr wrap="square" lIns="0" rIns="0" tIns="0" bIns="0" anchor="t">
            <a:spAutoFit/>
          </a:bodyPr>
          <a:lstStyle/>
          <a:p>
            <a:pPr algn="ctr">
              <a:lnSpc>
                <a:spcPct val="130000"/>
              </a:lnSpc>
            </a:pPr>
            <a:r>
              <a:rPr sz="760" b="1" spc="150">
                <a:solidFill>
                  <a:srgbClr val="8FA6C4">
                    <a:alpha val="78000"/>
                  </a:srgbClr>
                </a:solidFill>
                <a:latin typeface="Inter"/>
              </a:rPr>
              <a:t>PROTOTYPE</a:t>
            </a:r>
          </a:p>
        </p:txBody>
      </p:sp>
      <p:sp>
        <p:nvSpPr>
          <p:cNvPr id="54" name="Oval 53"/>
          <p:cNvSpPr/>
          <p:nvPr/>
        </p:nvSpPr>
        <p:spPr>
          <a:xfrm>
            <a:off x="8224442" y="442569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184209" y="438546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06714" y="4530852"/>
            <a:ext cx="1371600" cy="201168"/>
          </a:xfrm>
          <a:prstGeom prst="rect">
            <a:avLst/>
          </a:prstGeom>
          <a:noFill/>
        </p:spPr>
        <p:txBody>
          <a:bodyPr wrap="square" lIns="0" rIns="0" tIns="0" bIns="0" anchor="t">
            <a:spAutoFit/>
          </a:bodyPr>
          <a:lstStyle/>
          <a:p>
            <a:pPr algn="r">
              <a:lnSpc>
                <a:spcPct val="130000"/>
              </a:lnSpc>
            </a:pPr>
            <a:r>
              <a:rPr sz="760" b="1" spc="150">
                <a:solidFill>
                  <a:srgbClr val="8FA6C4">
                    <a:alpha val="78000"/>
                  </a:srgbClr>
                </a:solidFill>
                <a:latin typeface="Inter"/>
              </a:rPr>
              <a:t>TEST</a:t>
            </a:r>
          </a:p>
        </p:txBody>
      </p:sp>
      <p:sp>
        <p:nvSpPr>
          <p:cNvPr id="57" name="Oval 56"/>
          <p:cNvSpPr/>
          <p:nvPr/>
        </p:nvSpPr>
        <p:spPr>
          <a:xfrm>
            <a:off x="8224442" y="2962656"/>
            <a:ext cx="73152" cy="73152"/>
          </a:xfrm>
          <a:prstGeom prst="ellipse">
            <a:avLst/>
          </a:prstGeom>
          <a:solidFill>
            <a:srgbClr val="22D3E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184209" y="2922422"/>
            <a:ext cx="153619" cy="153619"/>
          </a:xfrm>
          <a:prstGeom prst="ellipse">
            <a:avLst/>
          </a:prstGeom>
          <a:noFill/>
          <a:ln w="10160">
            <a:solidFill>
              <a:srgbClr val="22D3EE">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06714" y="2793492"/>
            <a:ext cx="1371600" cy="201168"/>
          </a:xfrm>
          <a:prstGeom prst="rect">
            <a:avLst/>
          </a:prstGeom>
          <a:noFill/>
        </p:spPr>
        <p:txBody>
          <a:bodyPr wrap="square" lIns="0" rIns="0" tIns="0" bIns="0" anchor="t">
            <a:spAutoFit/>
          </a:bodyPr>
          <a:lstStyle/>
          <a:p>
            <a:pPr algn="r">
              <a:lnSpc>
                <a:spcPct val="130000"/>
              </a:lnSpc>
            </a:pPr>
            <a:r>
              <a:rPr sz="760" b="1" spc="150">
                <a:solidFill>
                  <a:srgbClr val="8FA6C4">
                    <a:alpha val="78000"/>
                  </a:srgbClr>
                </a:solidFill>
                <a:latin typeface="Inter"/>
              </a:rPr>
              <a:t>IMPROVE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01 · THE VISION</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Engineering is the direction I've chosen.</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Robotics, AI and electronics are not passing interests. They are the areas I keep returning to, and the areas I want to build a career in.</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02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2121408"/>
            <a:ext cx="5486400" cy="182880"/>
          </a:xfrm>
          <a:prstGeom prst="rect">
            <a:avLst/>
          </a:prstGeom>
          <a:noFill/>
        </p:spPr>
        <p:txBody>
          <a:bodyPr wrap="square" lIns="0" rIns="0" tIns="0" bIns="0" anchor="t">
            <a:spAutoFit/>
          </a:bodyPr>
          <a:lstStyle/>
          <a:p>
            <a:pPr algn="l">
              <a:lnSpc>
                <a:spcPct val="130000"/>
              </a:lnSpc>
            </a:pPr>
            <a:r>
              <a:rPr sz="780" b="1" spc="200">
                <a:solidFill>
                  <a:srgbClr val="8A99AE"/>
                </a:solidFill>
                <a:latin typeface="Inter"/>
              </a:rPr>
              <a:t>MY FOCUS</a:t>
            </a:r>
          </a:p>
        </p:txBody>
      </p:sp>
      <p:sp>
        <p:nvSpPr>
          <p:cNvPr id="8" name="TextBox 7"/>
          <p:cNvSpPr txBox="1"/>
          <p:nvPr/>
        </p:nvSpPr>
        <p:spPr>
          <a:xfrm>
            <a:off x="685800" y="2395728"/>
            <a:ext cx="5074920" cy="1188720"/>
          </a:xfrm>
          <a:prstGeom prst="rect">
            <a:avLst/>
          </a:prstGeom>
          <a:noFill/>
        </p:spPr>
        <p:txBody>
          <a:bodyPr wrap="square" lIns="0" rIns="0" tIns="0" bIns="0" anchor="t">
            <a:spAutoFit/>
          </a:bodyPr>
          <a:lstStyle/>
          <a:p>
            <a:pPr algn="l">
              <a:lnSpc>
                <a:spcPct val="162000"/>
              </a:lnSpc>
            </a:pPr>
            <a:r>
              <a:rPr sz="1120" b="0">
                <a:solidFill>
                  <a:srgbClr val="4E5F78"/>
                </a:solidFill>
                <a:latin typeface="Inter"/>
              </a:rPr>
              <a:t>Most of what I build today is small: a sensor, a microcontroller, a robot that follows a line or avoids a wall. Each project teaches something the next one needs — and each one depends on materials, tools and time.</a:t>
            </a:r>
          </a:p>
        </p:txBody>
      </p:sp>
      <p:sp>
        <p:nvSpPr>
          <p:cNvPr id="9" name="Rounded Rectangle 8"/>
          <p:cNvSpPr/>
          <p:nvPr/>
        </p:nvSpPr>
        <p:spPr>
          <a:xfrm>
            <a:off x="685800" y="3675888"/>
            <a:ext cx="5074920" cy="1417320"/>
          </a:xfrm>
          <a:prstGeom prst="roundRect">
            <a:avLst>
              <a:gd name="adj" fmla="val 7741"/>
            </a:avLst>
          </a:prstGeom>
          <a:solidFill>
            <a:srgbClr val="070D1B"/>
          </a:solidFill>
          <a:ln>
            <a:noFill/>
          </a:ln>
          <a:effectLst>
            <a:outerShdw blurRad="237744" dist="64008" dir="5400000" algn="ctr" rotWithShape="0">
              <a:srgbClr val="0A1322">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3675888"/>
            <a:ext cx="50292" cy="1417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13632"/>
            <a:ext cx="4480560" cy="182880"/>
          </a:xfrm>
          <a:prstGeom prst="rect">
            <a:avLst/>
          </a:prstGeom>
          <a:noFill/>
        </p:spPr>
        <p:txBody>
          <a:bodyPr wrap="square" lIns="0" rIns="0" tIns="0" bIns="0" anchor="t">
            <a:spAutoFit/>
          </a:bodyPr>
          <a:lstStyle/>
          <a:p>
            <a:pPr algn="l">
              <a:lnSpc>
                <a:spcPct val="130000"/>
              </a:lnSpc>
            </a:pPr>
            <a:r>
              <a:rPr sz="750" b="1" spc="220">
                <a:solidFill>
                  <a:srgbClr val="22D3EE"/>
                </a:solidFill>
                <a:latin typeface="Inter"/>
              </a:rPr>
              <a:t>THE LONG-TERM GOAL</a:t>
            </a:r>
          </a:p>
        </p:txBody>
      </p:sp>
      <p:sp>
        <p:nvSpPr>
          <p:cNvPr id="12" name="TextBox 11"/>
          <p:cNvSpPr txBox="1"/>
          <p:nvPr/>
        </p:nvSpPr>
        <p:spPr>
          <a:xfrm>
            <a:off x="1005840" y="4187952"/>
            <a:ext cx="4434840" cy="685800"/>
          </a:xfrm>
          <a:prstGeom prst="rect">
            <a:avLst/>
          </a:prstGeom>
          <a:noFill/>
        </p:spPr>
        <p:txBody>
          <a:bodyPr wrap="square" lIns="0" rIns="0" tIns="0" bIns="0" anchor="t">
            <a:spAutoFit/>
          </a:bodyPr>
          <a:lstStyle/>
          <a:p>
            <a:pPr algn="l">
              <a:lnSpc>
                <a:spcPct val="148000"/>
              </a:lnSpc>
            </a:pPr>
            <a:r>
              <a:rPr sz="1160" b="0">
                <a:solidFill>
                  <a:srgbClr val="D8E1EC"/>
                </a:solidFill>
                <a:latin typeface="Inter"/>
              </a:rPr>
              <a:t>Advanced engineering — artificial intelligence, robotics and space technology — studied properly and applied to real systems.</a:t>
            </a:r>
          </a:p>
        </p:txBody>
      </p:sp>
      <p:sp>
        <p:nvSpPr>
          <p:cNvPr id="13" name="TextBox 12"/>
          <p:cNvSpPr txBox="1"/>
          <p:nvPr/>
        </p:nvSpPr>
        <p:spPr>
          <a:xfrm>
            <a:off x="685800" y="5358384"/>
            <a:ext cx="5074920" cy="457200"/>
          </a:xfrm>
          <a:prstGeom prst="rect">
            <a:avLst/>
          </a:prstGeom>
          <a:noFill/>
        </p:spPr>
        <p:txBody>
          <a:bodyPr wrap="square" lIns="0" rIns="0" tIns="0" bIns="0" anchor="t">
            <a:spAutoFit/>
          </a:bodyPr>
          <a:lstStyle/>
          <a:p>
            <a:pPr algn="l">
              <a:lnSpc>
                <a:spcPct val="145000"/>
              </a:lnSpc>
            </a:pPr>
            <a:r>
              <a:rPr sz="919" b="0">
                <a:solidFill>
                  <a:srgbClr val="8A99AE"/>
                </a:solidFill>
                <a:latin typeface="Inter"/>
              </a:rPr>
              <a:t>That kind of work is not a single purchase. It is a continuous cycle of learning and building.</a:t>
            </a:r>
          </a:p>
        </p:txBody>
      </p:sp>
      <p:sp>
        <p:nvSpPr>
          <p:cNvPr id="14" name="Rounded Rectangle 13"/>
          <p:cNvSpPr/>
          <p:nvPr/>
        </p:nvSpPr>
        <p:spPr>
          <a:xfrm>
            <a:off x="6108192" y="2121408"/>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81928" y="2441448"/>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78" y="2587798"/>
            <a:ext cx="73061" cy="73061"/>
          </a:xfrm>
          <a:prstGeom prst="roundRect">
            <a:avLst>
              <a:gd name="adj" fmla="val 14705"/>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48692" y="2608212"/>
            <a:ext cx="32233" cy="32233"/>
          </a:xfrm>
          <a:prstGeom prst="roundRect">
            <a:avLst>
              <a:gd name="adj" fmla="val 13333"/>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a:off x="6411087" y="2600691"/>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01338" y="2600691"/>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441171" y="2570607"/>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41171" y="2660858"/>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411087" y="2624328"/>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501338" y="2624328"/>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464808" y="2570607"/>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64808" y="2660858"/>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411087" y="2647965"/>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01338" y="2647965"/>
            <a:ext cx="17191"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88445" y="2570607"/>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488445" y="2660858"/>
            <a:ext cx="0" cy="17191"/>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57416" y="2258568"/>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Robotics &amp;
Automation</a:t>
            </a:r>
          </a:p>
        </p:txBody>
      </p:sp>
      <p:sp>
        <p:nvSpPr>
          <p:cNvPr id="31" name="Rounded Rectangle 30"/>
          <p:cNvSpPr/>
          <p:nvPr/>
        </p:nvSpPr>
        <p:spPr>
          <a:xfrm>
            <a:off x="8897112" y="2121408"/>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070848" y="2441448"/>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V="1">
            <a:off x="9208602" y="2624328"/>
            <a:ext cx="45126" cy="32233"/>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08602" y="2592095"/>
            <a:ext cx="45126" cy="32233"/>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253728" y="2594244"/>
            <a:ext cx="45126" cy="30084"/>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53728" y="2624328"/>
            <a:ext cx="45126" cy="34381"/>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208602" y="2592095"/>
            <a:ext cx="0" cy="64466"/>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9196784" y="2644742"/>
            <a:ext cx="23637" cy="2363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196784" y="2580277"/>
            <a:ext cx="23637" cy="2363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241909" y="2612509"/>
            <a:ext cx="23637" cy="2363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87035" y="2582426"/>
            <a:ext cx="23637" cy="2363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287035" y="2646891"/>
            <a:ext cx="23637" cy="2363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46336" y="2258568"/>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Artificial
Intelligence</a:t>
            </a:r>
          </a:p>
        </p:txBody>
      </p:sp>
      <p:sp>
        <p:nvSpPr>
          <p:cNvPr id="44" name="Rounded Rectangle 43"/>
          <p:cNvSpPr/>
          <p:nvPr/>
        </p:nvSpPr>
        <p:spPr>
          <a:xfrm>
            <a:off x="6108192" y="3255264"/>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281928" y="3575304"/>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6408938" y="3809756"/>
            <a:ext cx="113889"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408938" y="3702314"/>
            <a:ext cx="0" cy="107442"/>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419682" y="3759258"/>
            <a:ext cx="17191" cy="32233"/>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447617" y="3730249"/>
            <a:ext cx="17191" cy="51572"/>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475552" y="3694793"/>
            <a:ext cx="17191" cy="75209"/>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57416" y="3392424"/>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Machine
Learning</a:t>
            </a:r>
          </a:p>
        </p:txBody>
      </p:sp>
      <p:sp>
        <p:nvSpPr>
          <p:cNvPr id="52" name="Rounded Rectangle 51"/>
          <p:cNvSpPr/>
          <p:nvPr/>
        </p:nvSpPr>
        <p:spPr>
          <a:xfrm>
            <a:off x="8897112" y="3255264"/>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070848" y="3575304"/>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217198" y="3721654"/>
            <a:ext cx="73061" cy="73061"/>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240835" y="3745291"/>
            <a:ext cx="25786" cy="25786"/>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9301002" y="3758184"/>
            <a:ext cx="19340"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87156" y="3791612"/>
            <a:ext cx="13675" cy="13675"/>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53728" y="3805458"/>
            <a:ext cx="0" cy="1934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9206625" y="3791612"/>
            <a:ext cx="13675" cy="13675"/>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9187114" y="3758184"/>
            <a:ext cx="19340" cy="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9206625" y="3711081"/>
            <a:ext cx="13675" cy="13675"/>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9253728" y="3691570"/>
            <a:ext cx="0" cy="19340"/>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287156" y="3711081"/>
            <a:ext cx="13675" cy="13675"/>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9546336" y="3392424"/>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Electronics &amp;
Embedded Systems</a:t>
            </a:r>
          </a:p>
        </p:txBody>
      </p:sp>
      <p:sp>
        <p:nvSpPr>
          <p:cNvPr id="65" name="Rounded Rectangle 64"/>
          <p:cNvSpPr/>
          <p:nvPr/>
        </p:nvSpPr>
        <p:spPr>
          <a:xfrm>
            <a:off x="6108192" y="4389120"/>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6281928" y="4709160"/>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400800" y="4572000"/>
            <a:ext cx="0" cy="0"/>
          </a:xfrm>
          <a:custGeom>
            <a:avLst/>
            <a:gdLst/>
            <a:ahLst/>
            <a:cxnLst/>
            <a:rect l="l" t="t" r="r" b="b"/>
            <a:pathLst>
              <a:path w="0" h="0">
                <a:moveTo>
                  <a:pt x="0" y="0"/>
                </a:moveTo>
                <a:lnTo>
                  <a:pt x="0" y="0"/>
                </a:lnTo>
                <a:lnTo>
                  <a:pt x="0" y="0"/>
                </a:lnTo>
              </a:path>
            </a:pathLst>
          </a:cu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400800" y="4572000"/>
            <a:ext cx="0" cy="0"/>
          </a:xfrm>
          <a:custGeom>
            <a:avLst/>
            <a:gdLst/>
            <a:ahLst/>
            <a:cxnLst/>
            <a:rect l="l" t="t" r="r" b="b"/>
            <a:pathLst>
              <a:path w="0" h="0">
                <a:moveTo>
                  <a:pt x="0" y="0"/>
                </a:moveTo>
                <a:lnTo>
                  <a:pt x="0" y="0"/>
                </a:lnTo>
                <a:lnTo>
                  <a:pt x="0" y="0"/>
                </a:lnTo>
              </a:path>
            </a:pathLst>
          </a:cu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57416" y="4526280"/>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Programming &amp;
Software</a:t>
            </a:r>
          </a:p>
        </p:txBody>
      </p:sp>
      <p:sp>
        <p:nvSpPr>
          <p:cNvPr id="70" name="Rounded Rectangle 69"/>
          <p:cNvSpPr/>
          <p:nvPr/>
        </p:nvSpPr>
        <p:spPr>
          <a:xfrm>
            <a:off x="8897112" y="4389120"/>
            <a:ext cx="2651760" cy="1005840"/>
          </a:xfrm>
          <a:prstGeom prst="roundRect">
            <a:avLst>
              <a:gd name="adj" fmla="val 909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9070848" y="4709160"/>
            <a:ext cx="365760" cy="365760"/>
          </a:xfrm>
          <a:prstGeom prst="roundRect">
            <a:avLst>
              <a:gd name="adj" fmla="val 22499"/>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200007" y="4838319"/>
            <a:ext cx="107442" cy="107442"/>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238686" y="4876998"/>
            <a:ext cx="30084" cy="3008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206454" y="4842617"/>
            <a:ext cx="21488" cy="2148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288109" y="4909231"/>
            <a:ext cx="21488" cy="2148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9232240" y="4870552"/>
            <a:ext cx="42976" cy="42976"/>
          </a:xfrm>
          <a:prstGeom prst="line">
            <a:avLst/>
          </a:prstGeom>
          <a:ln w="12445">
            <a:solidFill>
              <a:srgbClr val="1D4ED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546336" y="4526280"/>
            <a:ext cx="1865376" cy="731520"/>
          </a:xfrm>
          <a:prstGeom prst="rect">
            <a:avLst/>
          </a:prstGeom>
          <a:noFill/>
        </p:spPr>
        <p:txBody>
          <a:bodyPr wrap="square" lIns="0" rIns="0" tIns="0" bIns="0" anchor="ctr">
            <a:spAutoFit/>
          </a:bodyPr>
          <a:lstStyle/>
          <a:p>
            <a:pPr algn="l">
              <a:lnSpc>
                <a:spcPct val="130000"/>
              </a:lnSpc>
            </a:pPr>
            <a:r>
              <a:rPr sz="1019" b="1">
                <a:solidFill>
                  <a:srgbClr val="0A1322"/>
                </a:solidFill>
                <a:latin typeface="Inter"/>
              </a:rPr>
              <a:t>Space Technology
&amp; Exploration</a:t>
            </a:r>
          </a:p>
        </p:txBody>
      </p:sp>
      <p:sp>
        <p:nvSpPr>
          <p:cNvPr id="78" name="TextBox 77"/>
          <p:cNvSpPr txBox="1"/>
          <p:nvPr/>
        </p:nvSpPr>
        <p:spPr>
          <a:xfrm>
            <a:off x="6173914" y="6035040"/>
            <a:ext cx="5374958" cy="182880"/>
          </a:xfrm>
          <a:prstGeom prst="rect">
            <a:avLst/>
          </a:prstGeom>
          <a:noFill/>
        </p:spPr>
        <p:txBody>
          <a:bodyPr wrap="square" lIns="0" rIns="0" tIns="0" bIns="0" anchor="t">
            <a:spAutoFit/>
          </a:bodyPr>
          <a:lstStyle/>
          <a:p>
            <a:pPr algn="l">
              <a:lnSpc>
                <a:spcPct val="130000"/>
              </a:lnSpc>
            </a:pPr>
            <a:r>
              <a:rPr sz="800" b="1" spc="210">
                <a:solidFill>
                  <a:srgbClr val="8598AF"/>
                </a:solidFill>
                <a:latin typeface="Inter"/>
              </a:rPr>
              <a:t>LEARN  →  EXPERIMENT  →  DESIGN  →  PROTOTYPE  →  TEST  →  IMPROVE</a:t>
            </a:r>
          </a:p>
        </p:txBody>
      </p:sp>
      <p:sp>
        <p:nvSpPr>
          <p:cNvPr id="79" name="TextBox 78"/>
          <p:cNvSpPr txBox="1"/>
          <p:nvPr/>
        </p:nvSpPr>
        <p:spPr>
          <a:xfrm>
            <a:off x="685800" y="6039612"/>
            <a:ext cx="5213794" cy="182880"/>
          </a:xfrm>
          <a:prstGeom prst="rect">
            <a:avLst/>
          </a:prstGeom>
          <a:noFill/>
        </p:spPr>
        <p:txBody>
          <a:bodyPr wrap="square" lIns="0" rIns="0" tIns="0" bIns="0" anchor="t">
            <a:spAutoFit/>
          </a:bodyPr>
          <a:lstStyle/>
          <a:p>
            <a:pPr algn="l">
              <a:lnSpc>
                <a:spcPct val="130000"/>
              </a:lnSpc>
            </a:pPr>
            <a:r>
              <a:rPr sz="720" b="1" spc="220">
                <a:solidFill>
                  <a:srgbClr val="1D4ED8"/>
                </a:solidFill>
                <a:latin typeface="Inter"/>
              </a:rPr>
              <a:t>THE DEVELOPMENT CYCLE</a:t>
            </a:r>
          </a:p>
        </p:txBody>
      </p:sp>
      <p:cxnSp>
        <p:nvCxnSpPr>
          <p:cNvPr id="80" name="Connector 79"/>
          <p:cNvCxnSpPr/>
          <p:nvPr/>
        </p:nvCxnSpPr>
        <p:spPr>
          <a:xfrm>
            <a:off x="685800" y="5797296"/>
            <a:ext cx="10817352" cy="0"/>
          </a:xfrm>
          <a:prstGeom prst="line">
            <a:avLst/>
          </a:prstGeom>
          <a:ln w="11430">
            <a:solidFill>
              <a:srgbClr val="E7EDF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83" name="TextBox 82"/>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84" name="TextBox 83"/>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85" name="TextBox 84"/>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02 · THE OPPORTUNITY</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From one-off requests to a planned fund.</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Nothing about this suggests a problem at home. The idea is to add structure to something you already support.</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03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 y="2103120"/>
            <a:ext cx="4590288" cy="2267712"/>
          </a:xfrm>
          <a:prstGeom prst="roundRect">
            <a:avLst>
              <a:gd name="adj" fmla="val 5241"/>
            </a:avLst>
          </a:prstGeom>
          <a:solidFill>
            <a:srgbClr val="F7F9FC"/>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304288"/>
            <a:ext cx="5486400" cy="182880"/>
          </a:xfrm>
          <a:prstGeom prst="rect">
            <a:avLst/>
          </a:prstGeom>
          <a:noFill/>
        </p:spPr>
        <p:txBody>
          <a:bodyPr wrap="square" lIns="0" rIns="0" tIns="0" bIns="0" anchor="t">
            <a:spAutoFit/>
          </a:bodyPr>
          <a:lstStyle/>
          <a:p>
            <a:pPr algn="l">
              <a:lnSpc>
                <a:spcPct val="130000"/>
              </a:lnSpc>
            </a:pPr>
            <a:r>
              <a:rPr sz="780" b="1" spc="200">
                <a:solidFill>
                  <a:srgbClr val="8A99AE"/>
                </a:solidFill>
                <a:latin typeface="Inter"/>
              </a:rPr>
              <a:t>TODAY</a:t>
            </a:r>
          </a:p>
        </p:txBody>
      </p:sp>
      <p:sp>
        <p:nvSpPr>
          <p:cNvPr id="9" name="TextBox 8"/>
          <p:cNvSpPr txBox="1"/>
          <p:nvPr/>
        </p:nvSpPr>
        <p:spPr>
          <a:xfrm>
            <a:off x="960120" y="2560320"/>
            <a:ext cx="4023360" cy="502920"/>
          </a:xfrm>
          <a:prstGeom prst="rect">
            <a:avLst/>
          </a:prstGeom>
          <a:noFill/>
        </p:spPr>
        <p:txBody>
          <a:bodyPr wrap="square" lIns="0" rIns="0" tIns="0" bIns="0" anchor="t">
            <a:spAutoFit/>
          </a:bodyPr>
          <a:lstStyle/>
          <a:p>
            <a:pPr algn="l">
              <a:lnSpc>
                <a:spcPct val="126000"/>
              </a:lnSpc>
            </a:pPr>
            <a:r>
              <a:rPr sz="1350" b="1">
                <a:solidFill>
                  <a:srgbClr val="3D4C63"/>
                </a:solidFill>
                <a:latin typeface="Inter"/>
              </a:rPr>
              <a:t>Separate requests,
as needs appear</a:t>
            </a:r>
          </a:p>
        </p:txBody>
      </p:sp>
      <p:sp>
        <p:nvSpPr>
          <p:cNvPr id="10" name="Oval 9"/>
          <p:cNvSpPr/>
          <p:nvPr/>
        </p:nvSpPr>
        <p:spPr>
          <a:xfrm>
            <a:off x="1007669" y="3444545"/>
            <a:ext cx="51206" cy="51206"/>
          </a:xfrm>
          <a:prstGeom prst="ellipse">
            <a:avLst/>
          </a:prstGeom>
          <a:solidFill>
            <a:srgbClr val="B9C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401568"/>
            <a:ext cx="3840480" cy="274320"/>
          </a:xfrm>
          <a:prstGeom prst="rect">
            <a:avLst/>
          </a:prstGeom>
          <a:noFill/>
        </p:spPr>
        <p:txBody>
          <a:bodyPr wrap="square" lIns="0" rIns="0" tIns="0" bIns="0" anchor="t">
            <a:spAutoFit/>
          </a:bodyPr>
          <a:lstStyle/>
          <a:p>
            <a:pPr algn="l">
              <a:lnSpc>
                <a:spcPct val="130000"/>
              </a:lnSpc>
            </a:pPr>
            <a:r>
              <a:rPr sz="940" b="0">
                <a:solidFill>
                  <a:srgbClr val="4E5F78"/>
                </a:solidFill>
                <a:latin typeface="Inter"/>
              </a:rPr>
              <a:t>Each purchase starts a new conversation.</a:t>
            </a:r>
          </a:p>
        </p:txBody>
      </p:sp>
      <p:sp>
        <p:nvSpPr>
          <p:cNvPr id="12" name="Oval 11"/>
          <p:cNvSpPr/>
          <p:nvPr/>
        </p:nvSpPr>
        <p:spPr>
          <a:xfrm>
            <a:off x="1007669" y="3764585"/>
            <a:ext cx="51206" cy="51206"/>
          </a:xfrm>
          <a:prstGeom prst="ellipse">
            <a:avLst/>
          </a:prstGeom>
          <a:solidFill>
            <a:srgbClr val="B9C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3721608"/>
            <a:ext cx="3840480" cy="274320"/>
          </a:xfrm>
          <a:prstGeom prst="rect">
            <a:avLst/>
          </a:prstGeom>
          <a:noFill/>
        </p:spPr>
        <p:txBody>
          <a:bodyPr wrap="square" lIns="0" rIns="0" tIns="0" bIns="0" anchor="t">
            <a:spAutoFit/>
          </a:bodyPr>
          <a:lstStyle/>
          <a:p>
            <a:pPr algn="l">
              <a:lnSpc>
                <a:spcPct val="130000"/>
              </a:lnSpc>
            </a:pPr>
            <a:r>
              <a:rPr sz="940" b="0">
                <a:solidFill>
                  <a:srgbClr val="4E5F78"/>
                </a:solidFill>
                <a:latin typeface="Inter"/>
              </a:rPr>
              <a:t>Spending follows the moment, not a plan.</a:t>
            </a:r>
          </a:p>
        </p:txBody>
      </p:sp>
      <p:sp>
        <p:nvSpPr>
          <p:cNvPr id="14" name="Oval 13"/>
          <p:cNvSpPr/>
          <p:nvPr/>
        </p:nvSpPr>
        <p:spPr>
          <a:xfrm>
            <a:off x="1007669" y="4084625"/>
            <a:ext cx="51206" cy="51206"/>
          </a:xfrm>
          <a:prstGeom prst="ellipse">
            <a:avLst/>
          </a:prstGeom>
          <a:solidFill>
            <a:srgbClr val="B9C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4041648"/>
            <a:ext cx="3840480" cy="274320"/>
          </a:xfrm>
          <a:prstGeom prst="rect">
            <a:avLst/>
          </a:prstGeom>
          <a:noFill/>
        </p:spPr>
        <p:txBody>
          <a:bodyPr wrap="square" lIns="0" rIns="0" tIns="0" bIns="0" anchor="t">
            <a:spAutoFit/>
          </a:bodyPr>
          <a:lstStyle/>
          <a:p>
            <a:pPr algn="l">
              <a:lnSpc>
                <a:spcPct val="130000"/>
              </a:lnSpc>
            </a:pPr>
            <a:r>
              <a:rPr sz="940" b="0">
                <a:solidFill>
                  <a:srgbClr val="4E5F78"/>
                </a:solidFill>
                <a:latin typeface="Inter"/>
              </a:rPr>
              <a:t>Larger items wait until the timing feels right.</a:t>
            </a:r>
          </a:p>
        </p:txBody>
      </p:sp>
      <p:sp>
        <p:nvSpPr>
          <p:cNvPr id="16" name="Oval 15"/>
          <p:cNvSpPr/>
          <p:nvPr/>
        </p:nvSpPr>
        <p:spPr>
          <a:xfrm>
            <a:off x="5541264" y="2962656"/>
            <a:ext cx="548640" cy="548640"/>
          </a:xfrm>
          <a:prstGeom prst="ellipse">
            <a:avLst/>
          </a:prstGeom>
          <a:solidFill>
            <a:srgbClr val="FFFFFF"/>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756148" y="3236976"/>
            <a:ext cx="116495" cy="0"/>
          </a:xfrm>
          <a:prstGeom prst="line">
            <a:avLst/>
          </a:prstGeom>
          <a:ln w="19050">
            <a:solidFill>
              <a:srgbClr val="1D4ED8"/>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5486400" y="3657600"/>
            <a:ext cx="0" cy="0"/>
          </a:xfrm>
          <a:custGeom>
            <a:avLst/>
            <a:gdLst/>
            <a:ahLst/>
            <a:cxnLst/>
            <a:rect l="l" t="t" r="r" b="b"/>
            <a:pathLst>
              <a:path w="0" h="0">
                <a:moveTo>
                  <a:pt x="0" y="0"/>
                </a:moveTo>
                <a:lnTo>
                  <a:pt x="0" y="0"/>
                </a:lnTo>
                <a:lnTo>
                  <a:pt x="0" y="0"/>
                </a:lnTo>
              </a:path>
            </a:pathLst>
          </a:custGeom>
          <a:no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12864" y="2103120"/>
            <a:ext cx="4590288" cy="2267712"/>
          </a:xfrm>
          <a:prstGeom prst="roundRect">
            <a:avLst>
              <a:gd name="adj" fmla="val 5241"/>
            </a:avLst>
          </a:prstGeom>
          <a:solidFill>
            <a:srgbClr val="F2F6FF"/>
          </a:solidFill>
          <a:ln w="11430">
            <a:solidFill>
              <a:srgbClr val="CFDD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87184" y="2304288"/>
            <a:ext cx="5486400" cy="182880"/>
          </a:xfrm>
          <a:prstGeom prst="rect">
            <a:avLst/>
          </a:prstGeom>
          <a:noFill/>
        </p:spPr>
        <p:txBody>
          <a:bodyPr wrap="square" lIns="0" rIns="0" tIns="0" bIns="0" anchor="t">
            <a:spAutoFit/>
          </a:bodyPr>
          <a:lstStyle/>
          <a:p>
            <a:pPr algn="l">
              <a:lnSpc>
                <a:spcPct val="130000"/>
              </a:lnSpc>
            </a:pPr>
            <a:r>
              <a:rPr sz="780" b="1" spc="200">
                <a:solidFill>
                  <a:srgbClr val="1D4ED8"/>
                </a:solidFill>
                <a:latin typeface="Inter"/>
              </a:rPr>
              <a:t>WITH PROJECT FUTURE</a:t>
            </a:r>
          </a:p>
        </p:txBody>
      </p:sp>
      <p:sp>
        <p:nvSpPr>
          <p:cNvPr id="21" name="TextBox 20"/>
          <p:cNvSpPr txBox="1"/>
          <p:nvPr/>
        </p:nvSpPr>
        <p:spPr>
          <a:xfrm>
            <a:off x="7187184" y="2560320"/>
            <a:ext cx="4023360" cy="502920"/>
          </a:xfrm>
          <a:prstGeom prst="rect">
            <a:avLst/>
          </a:prstGeom>
          <a:noFill/>
        </p:spPr>
        <p:txBody>
          <a:bodyPr wrap="square" lIns="0" rIns="0" tIns="0" bIns="0" anchor="t">
            <a:spAutoFit/>
          </a:bodyPr>
          <a:lstStyle/>
          <a:p>
            <a:pPr algn="l">
              <a:lnSpc>
                <a:spcPct val="126000"/>
              </a:lnSpc>
            </a:pPr>
            <a:r>
              <a:rPr sz="1350" b="1">
                <a:solidFill>
                  <a:srgbClr val="0A1322"/>
                </a:solidFill>
                <a:latin typeface="Inter"/>
              </a:rPr>
              <a:t>One fund,
planned in advance</a:t>
            </a:r>
          </a:p>
        </p:txBody>
      </p:sp>
      <p:sp>
        <p:nvSpPr>
          <p:cNvPr id="22" name="Oval 21"/>
          <p:cNvSpPr/>
          <p:nvPr/>
        </p:nvSpPr>
        <p:spPr>
          <a:xfrm>
            <a:off x="7234733" y="3444545"/>
            <a:ext cx="51206" cy="5120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97496" y="3401568"/>
            <a:ext cx="3840480" cy="274320"/>
          </a:xfrm>
          <a:prstGeom prst="rect">
            <a:avLst/>
          </a:prstGeom>
          <a:noFill/>
        </p:spPr>
        <p:txBody>
          <a:bodyPr wrap="square" lIns="0" rIns="0" tIns="0" bIns="0" anchor="t">
            <a:spAutoFit/>
          </a:bodyPr>
          <a:lstStyle/>
          <a:p>
            <a:pPr algn="l">
              <a:lnSpc>
                <a:spcPct val="130000"/>
              </a:lnSpc>
            </a:pPr>
            <a:r>
              <a:rPr sz="940" b="0">
                <a:solidFill>
                  <a:srgbClr val="33445C"/>
                </a:solidFill>
                <a:latin typeface="Inter"/>
              </a:rPr>
              <a:t>A fixed amount, agreed at the start.</a:t>
            </a:r>
          </a:p>
        </p:txBody>
      </p:sp>
      <p:sp>
        <p:nvSpPr>
          <p:cNvPr id="24" name="Oval 23"/>
          <p:cNvSpPr/>
          <p:nvPr/>
        </p:nvSpPr>
        <p:spPr>
          <a:xfrm>
            <a:off x="7234733" y="3764585"/>
            <a:ext cx="51206" cy="5120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7496" y="3721608"/>
            <a:ext cx="3840480" cy="274320"/>
          </a:xfrm>
          <a:prstGeom prst="rect">
            <a:avLst/>
          </a:prstGeom>
          <a:noFill/>
        </p:spPr>
        <p:txBody>
          <a:bodyPr wrap="square" lIns="0" rIns="0" tIns="0" bIns="0" anchor="t">
            <a:spAutoFit/>
          </a:bodyPr>
          <a:lstStyle/>
          <a:p>
            <a:pPr algn="l">
              <a:lnSpc>
                <a:spcPct val="130000"/>
              </a:lnSpc>
            </a:pPr>
            <a:r>
              <a:rPr sz="940" b="0">
                <a:solidFill>
                  <a:srgbClr val="33445C"/>
                </a:solidFill>
                <a:latin typeface="Inter"/>
              </a:rPr>
              <a:t>Savings build towards equipment that is months away.</a:t>
            </a:r>
          </a:p>
        </p:txBody>
      </p:sp>
      <p:sp>
        <p:nvSpPr>
          <p:cNvPr id="26" name="Oval 25"/>
          <p:cNvSpPr/>
          <p:nvPr/>
        </p:nvSpPr>
        <p:spPr>
          <a:xfrm>
            <a:off x="7234733" y="4084625"/>
            <a:ext cx="51206" cy="5120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7496" y="4041648"/>
            <a:ext cx="3840480" cy="274320"/>
          </a:xfrm>
          <a:prstGeom prst="rect">
            <a:avLst/>
          </a:prstGeom>
          <a:noFill/>
        </p:spPr>
        <p:txBody>
          <a:bodyPr wrap="square" lIns="0" rIns="0" tIns="0" bIns="0" anchor="t">
            <a:spAutoFit/>
          </a:bodyPr>
          <a:lstStyle/>
          <a:p>
            <a:pPr algn="l">
              <a:lnSpc>
                <a:spcPct val="130000"/>
              </a:lnSpc>
            </a:pPr>
            <a:r>
              <a:rPr sz="940" b="0">
                <a:solidFill>
                  <a:srgbClr val="33445C"/>
                </a:solidFill>
                <a:latin typeface="Inter"/>
              </a:rPr>
              <a:t>I set priorities — and explain every one.</a:t>
            </a:r>
          </a:p>
        </p:txBody>
      </p:sp>
      <p:sp>
        <p:nvSpPr>
          <p:cNvPr id="28" name="Rounded Rectangle 27"/>
          <p:cNvSpPr/>
          <p:nvPr/>
        </p:nvSpPr>
        <p:spPr>
          <a:xfrm>
            <a:off x="685800" y="4663440"/>
            <a:ext cx="3538728" cy="969264"/>
          </a:xfrm>
          <a:prstGeom prst="roundRect">
            <a:avLst>
              <a:gd name="adj" fmla="val 10377"/>
            </a:avLst>
          </a:prstGeom>
          <a:solidFill>
            <a:srgbClr val="FFFFFF"/>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 y="5079492"/>
            <a:ext cx="137160" cy="137160"/>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700" y="5106924"/>
            <a:ext cx="82296" cy="82296"/>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4760" y="5132984"/>
            <a:ext cx="30175" cy="30175"/>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979322" y="5148072"/>
            <a:ext cx="21946"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38428" y="5148072"/>
            <a:ext cx="21946"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69848" y="5057546"/>
            <a:ext cx="0" cy="21946"/>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69848" y="5216652"/>
            <a:ext cx="0" cy="21946"/>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417320" y="4882896"/>
            <a:ext cx="2642616" cy="201168"/>
          </a:xfrm>
          <a:prstGeom prst="rect">
            <a:avLst/>
          </a:prstGeom>
          <a:noFill/>
        </p:spPr>
        <p:txBody>
          <a:bodyPr wrap="square" lIns="0" rIns="0" tIns="0" bIns="0" anchor="t">
            <a:spAutoFit/>
          </a:bodyPr>
          <a:lstStyle/>
          <a:p>
            <a:pPr algn="l">
              <a:lnSpc>
                <a:spcPct val="130000"/>
              </a:lnSpc>
            </a:pPr>
            <a:r>
              <a:rPr sz="960" b="1" spc="80">
                <a:solidFill>
                  <a:srgbClr val="0A1322"/>
                </a:solidFill>
                <a:latin typeface="Inter"/>
              </a:rPr>
              <a:t>PLAN AHEAD</a:t>
            </a:r>
          </a:p>
        </p:txBody>
      </p:sp>
      <p:sp>
        <p:nvSpPr>
          <p:cNvPr id="37" name="TextBox 36"/>
          <p:cNvSpPr txBox="1"/>
          <p:nvPr/>
        </p:nvSpPr>
        <p:spPr>
          <a:xfrm>
            <a:off x="1417320" y="5120640"/>
            <a:ext cx="2642616" cy="402336"/>
          </a:xfrm>
          <a:prstGeom prst="rect">
            <a:avLst/>
          </a:prstGeom>
          <a:noFill/>
        </p:spPr>
        <p:txBody>
          <a:bodyPr wrap="square" lIns="0" rIns="0" tIns="0" bIns="0" anchor="t">
            <a:spAutoFit/>
          </a:bodyPr>
          <a:lstStyle/>
          <a:p>
            <a:pPr algn="l">
              <a:lnSpc>
                <a:spcPct val="140000"/>
              </a:lnSpc>
            </a:pPr>
            <a:r>
              <a:rPr sz="880" b="0">
                <a:solidFill>
                  <a:srgbClr val="4E5F78"/>
                </a:solidFill>
                <a:latin typeface="Inter"/>
              </a:rPr>
              <a:t>Know what is coming before it is needed.</a:t>
            </a:r>
          </a:p>
        </p:txBody>
      </p:sp>
      <p:sp>
        <p:nvSpPr>
          <p:cNvPr id="38" name="Rounded Rectangle 37"/>
          <p:cNvSpPr/>
          <p:nvPr/>
        </p:nvSpPr>
        <p:spPr>
          <a:xfrm>
            <a:off x="4370832" y="4663440"/>
            <a:ext cx="3538728" cy="969264"/>
          </a:xfrm>
          <a:prstGeom prst="roundRect">
            <a:avLst>
              <a:gd name="adj" fmla="val 10377"/>
            </a:avLst>
          </a:prstGeom>
          <a:solidFill>
            <a:srgbClr val="FFFFFF"/>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695901" y="5112410"/>
            <a:ext cx="117958" cy="82296"/>
          </a:xfrm>
          <a:prstGeom prst="roundRect">
            <a:avLst>
              <a:gd name="adj" fmla="val 16666"/>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4695901" y="5134356"/>
            <a:ext cx="117958"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4775454" y="5149444"/>
            <a:ext cx="24689" cy="24689"/>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4713732" y="5106924"/>
            <a:ext cx="54864" cy="0"/>
          </a:xfrm>
          <a:prstGeom prst="line">
            <a:avLst/>
          </a:prstGeom>
          <a:ln w="15113">
            <a:solidFill>
              <a:srgbClr val="1D4ED8"/>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102352" y="4882896"/>
            <a:ext cx="2642616" cy="201168"/>
          </a:xfrm>
          <a:prstGeom prst="rect">
            <a:avLst/>
          </a:prstGeom>
          <a:noFill/>
        </p:spPr>
        <p:txBody>
          <a:bodyPr wrap="square" lIns="0" rIns="0" tIns="0" bIns="0" anchor="t">
            <a:spAutoFit/>
          </a:bodyPr>
          <a:lstStyle/>
          <a:p>
            <a:pPr algn="l">
              <a:lnSpc>
                <a:spcPct val="130000"/>
              </a:lnSpc>
            </a:pPr>
            <a:r>
              <a:rPr sz="960" b="1" spc="80">
                <a:solidFill>
                  <a:srgbClr val="0A1322"/>
                </a:solidFill>
                <a:latin typeface="Inter"/>
              </a:rPr>
              <a:t>ACCUMULATE</a:t>
            </a:r>
          </a:p>
        </p:txBody>
      </p:sp>
      <p:sp>
        <p:nvSpPr>
          <p:cNvPr id="44" name="TextBox 43"/>
          <p:cNvSpPr txBox="1"/>
          <p:nvPr/>
        </p:nvSpPr>
        <p:spPr>
          <a:xfrm>
            <a:off x="5102352" y="5120640"/>
            <a:ext cx="2642616" cy="402336"/>
          </a:xfrm>
          <a:prstGeom prst="rect">
            <a:avLst/>
          </a:prstGeom>
          <a:noFill/>
        </p:spPr>
        <p:txBody>
          <a:bodyPr wrap="square" lIns="0" rIns="0" tIns="0" bIns="0" anchor="t">
            <a:spAutoFit/>
          </a:bodyPr>
          <a:lstStyle/>
          <a:p>
            <a:pPr algn="l">
              <a:lnSpc>
                <a:spcPct val="140000"/>
              </a:lnSpc>
            </a:pPr>
            <a:r>
              <a:rPr sz="880" b="0">
                <a:solidFill>
                  <a:srgbClr val="4E5F78"/>
                </a:solidFill>
                <a:latin typeface="Inter"/>
              </a:rPr>
              <a:t>Small monthly amounts add up to real capability.</a:t>
            </a:r>
          </a:p>
        </p:txBody>
      </p:sp>
      <p:sp>
        <p:nvSpPr>
          <p:cNvPr id="45" name="Rounded Rectangle 44"/>
          <p:cNvSpPr/>
          <p:nvPr/>
        </p:nvSpPr>
        <p:spPr>
          <a:xfrm>
            <a:off x="8055864" y="4663440"/>
            <a:ext cx="3538728" cy="969264"/>
          </a:xfrm>
          <a:prstGeom prst="roundRect">
            <a:avLst>
              <a:gd name="adj" fmla="val 10377"/>
            </a:avLst>
          </a:prstGeom>
          <a:solidFill>
            <a:srgbClr val="FFFFFF"/>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229600" y="5486400"/>
            <a:ext cx="0" cy="0"/>
          </a:xfrm>
          <a:custGeom>
            <a:avLst/>
            <a:gdLst/>
            <a:ahLst/>
            <a:cxnLst/>
            <a:rect l="l" t="t" r="r" b="b"/>
            <a:pathLst>
              <a:path w="0" h="0">
                <a:moveTo>
                  <a:pt x="0" y="0"/>
                </a:moveTo>
                <a:lnTo>
                  <a:pt x="0" y="0"/>
                </a:lnTo>
                <a:lnTo>
                  <a:pt x="0" y="0"/>
                </a:lnTo>
                <a:lnTo>
                  <a:pt x="0" y="0"/>
                </a:lnTo>
                <a:lnTo>
                  <a:pt x="0" y="0"/>
                </a:lnTo>
                <a:lnTo>
                  <a:pt x="0" y="0"/>
                </a:lnTo>
                <a:close/>
              </a:path>
            </a:pathLst>
          </a:cu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229600" y="5486400"/>
            <a:ext cx="0" cy="0"/>
          </a:xfrm>
          <a:custGeom>
            <a:avLst/>
            <a:gdLst/>
            <a:ahLst/>
            <a:cxnLst/>
            <a:rect l="l" t="t" r="r" b="b"/>
            <a:pathLst>
              <a:path w="0" h="0">
                <a:moveTo>
                  <a:pt x="0" y="0"/>
                </a:moveTo>
                <a:lnTo>
                  <a:pt x="0" y="0"/>
                </a:lnTo>
                <a:lnTo>
                  <a:pt x="0" y="0"/>
                </a:lnTo>
              </a:path>
            </a:pathLst>
          </a:custGeom>
          <a:noFill/>
          <a:ln w="19558">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87384" y="4882896"/>
            <a:ext cx="2642616" cy="201168"/>
          </a:xfrm>
          <a:prstGeom prst="rect">
            <a:avLst/>
          </a:prstGeom>
          <a:noFill/>
        </p:spPr>
        <p:txBody>
          <a:bodyPr wrap="square" lIns="0" rIns="0" tIns="0" bIns="0" anchor="t">
            <a:spAutoFit/>
          </a:bodyPr>
          <a:lstStyle/>
          <a:p>
            <a:pPr algn="l">
              <a:lnSpc>
                <a:spcPct val="130000"/>
              </a:lnSpc>
            </a:pPr>
            <a:r>
              <a:rPr sz="960" b="1" spc="80">
                <a:solidFill>
                  <a:srgbClr val="0A1322"/>
                </a:solidFill>
                <a:latin typeface="Inter"/>
              </a:rPr>
              <a:t>OWN IT</a:t>
            </a:r>
          </a:p>
        </p:txBody>
      </p:sp>
      <p:sp>
        <p:nvSpPr>
          <p:cNvPr id="49" name="TextBox 48"/>
          <p:cNvSpPr txBox="1"/>
          <p:nvPr/>
        </p:nvSpPr>
        <p:spPr>
          <a:xfrm>
            <a:off x="8787384" y="5120640"/>
            <a:ext cx="2642616" cy="402336"/>
          </a:xfrm>
          <a:prstGeom prst="rect">
            <a:avLst/>
          </a:prstGeom>
          <a:noFill/>
        </p:spPr>
        <p:txBody>
          <a:bodyPr wrap="square" lIns="0" rIns="0" tIns="0" bIns="0" anchor="t">
            <a:spAutoFit/>
          </a:bodyPr>
          <a:lstStyle/>
          <a:p>
            <a:pPr algn="l">
              <a:lnSpc>
                <a:spcPct val="140000"/>
              </a:lnSpc>
            </a:pPr>
            <a:r>
              <a:rPr sz="880" b="0">
                <a:solidFill>
                  <a:srgbClr val="4E5F78"/>
                </a:solidFill>
                <a:latin typeface="Inter"/>
              </a:rPr>
              <a:t>Age-appropriate financial responsibility.</a:t>
            </a:r>
          </a:p>
        </p:txBody>
      </p:sp>
      <p:sp>
        <p:nvSpPr>
          <p:cNvPr id="50" name="TextBox 49"/>
          <p:cNvSpPr txBox="1"/>
          <p:nvPr/>
        </p:nvSpPr>
        <p:spPr>
          <a:xfrm>
            <a:off x="685800" y="5888736"/>
            <a:ext cx="10789920" cy="274320"/>
          </a:xfrm>
          <a:prstGeom prst="rect">
            <a:avLst/>
          </a:prstGeom>
          <a:noFill/>
        </p:spPr>
        <p:txBody>
          <a:bodyPr wrap="square" lIns="0" rIns="0" tIns="0" bIns="0" anchor="t">
            <a:spAutoFit/>
          </a:bodyPr>
          <a:lstStyle/>
          <a:p>
            <a:pPr algn="l">
              <a:lnSpc>
                <a:spcPct val="130000"/>
              </a:lnSpc>
            </a:pPr>
            <a:r>
              <a:rPr sz="960" b="1" spc="20">
                <a:solidFill>
                  <a:srgbClr val="1D4ED8"/>
                </a:solidFill>
                <a:latin typeface="Inter"/>
              </a:rPr>
              <a:t>This supplements what you already provide. It does not replace it.</a:t>
            </a:r>
          </a:p>
        </p:txBody>
      </p:sp>
      <p:cxnSp>
        <p:nvCxnSpPr>
          <p:cNvPr id="51" name="Connector 50"/>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53" name="TextBox 52"/>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54" name="TextBox 53"/>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55" name="TextBox 54"/>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Oval 1"/>
          <p:cNvSpPr/>
          <p:nvPr/>
        </p:nvSpPr>
        <p:spPr>
          <a:xfrm>
            <a:off x="4389120" y="-5852160"/>
            <a:ext cx="12070080" cy="12070080"/>
          </a:xfrm>
          <a:prstGeom prst="ellipse">
            <a:avLst/>
          </a:prstGeom>
          <a:gradFill rotWithShape="1">
            <a:gsLst>
              <a:gs pos="0">
                <a:srgbClr val="10305F">
                  <a:alpha val="40000"/>
                </a:srgbClr>
              </a:gs>
              <a:gs pos="45000">
                <a:srgbClr val="0A1B36">
                  <a:alpha val="18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22D3EE"/>
                </a:solidFill>
                <a:latin typeface="Inter"/>
              </a:rPr>
              <a:t>03 · THE PROPOSAL</a:t>
            </a:r>
          </a:p>
        </p:txBody>
      </p:sp>
      <p:sp>
        <p:nvSpPr>
          <p:cNvPr id="4" name="TextBox 3"/>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FFFFFF"/>
                </a:solidFill>
                <a:latin typeface="Inter"/>
              </a:rPr>
              <a:t>₹2,000 a month, split with intent.</a:t>
            </a:r>
          </a:p>
        </p:txBody>
      </p:sp>
      <p:sp>
        <p:nvSpPr>
          <p:cNvPr id="5" name="TextBox 4"/>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A9B7CC"/>
                </a:solidFill>
                <a:latin typeface="Inter"/>
              </a:rPr>
              <a:t>Provided at the beginning of each month. The development portion is not spent by default — it accumulates.</a:t>
            </a:r>
          </a:p>
        </p:txBody>
      </p:sp>
      <p:sp>
        <p:nvSpPr>
          <p:cNvPr id="6" name="TextBox 5"/>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5D6F8C"/>
                </a:solidFill>
                <a:latin typeface="Inter"/>
              </a:rPr>
              <a:t>04 / 13</a:t>
            </a:r>
          </a:p>
        </p:txBody>
      </p:sp>
      <p:cxnSp>
        <p:nvCxnSpPr>
          <p:cNvPr id="7" name="Connector 6"/>
          <p:cNvCxnSpPr/>
          <p:nvPr/>
        </p:nvCxnSpPr>
        <p:spPr>
          <a:xfrm>
            <a:off x="685800" y="1920240"/>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21408"/>
            <a:ext cx="4892040" cy="3913632"/>
          </a:xfrm>
          <a:prstGeom prst="roundRect">
            <a:avLst>
              <a:gd name="adj" fmla="val 3271"/>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22576"/>
            <a:ext cx="4206240" cy="182880"/>
          </a:xfrm>
          <a:prstGeom prst="rect">
            <a:avLst/>
          </a:prstGeom>
          <a:noFill/>
        </p:spPr>
        <p:txBody>
          <a:bodyPr wrap="square" lIns="0" rIns="0" tIns="0" bIns="0" anchor="t">
            <a:spAutoFit/>
          </a:bodyPr>
          <a:lstStyle/>
          <a:p>
            <a:pPr algn="l">
              <a:lnSpc>
                <a:spcPct val="130000"/>
              </a:lnSpc>
            </a:pPr>
            <a:r>
              <a:rPr sz="780" b="1" spc="200">
                <a:solidFill>
                  <a:srgbClr val="6F86A8"/>
                </a:solidFill>
                <a:latin typeface="Inter"/>
              </a:rPr>
              <a:t>MONTHLY ALLOCATION</a:t>
            </a:r>
          </a:p>
        </p:txBody>
      </p:sp>
      <p:sp>
        <p:nvSpPr>
          <p:cNvPr id="10" name="Freeform 9"/>
          <p:cNvSpPr/>
          <p:nvPr/>
        </p:nvSpPr>
        <p:spPr>
          <a:xfrm>
            <a:off x="1828800" y="2743200"/>
            <a:ext cx="2743200" cy="2743200"/>
          </a:xfrm>
          <a:custGeom>
            <a:avLst/>
            <a:gdLst/>
            <a:ahLst/>
            <a:cxnLst/>
            <a:rect l="l" t="t" r="r" b="b"/>
            <a:pathLst>
              <a:path w="3" h="3">
                <a:moveTo>
                  <a:pt x="1" y="0"/>
                </a:moveTo>
                <a:lnTo>
                  <a:pt x="1"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2"/>
                </a:lnTo>
                <a:lnTo>
                  <a:pt x="3" y="2"/>
                </a:lnTo>
                <a:lnTo>
                  <a:pt x="3" y="2"/>
                </a:lnTo>
                <a:lnTo>
                  <a:pt x="3" y="2"/>
                </a:lnTo>
                <a:lnTo>
                  <a:pt x="3" y="2"/>
                </a:lnTo>
                <a:lnTo>
                  <a:pt x="3" y="2"/>
                </a:lnTo>
                <a:lnTo>
                  <a:pt x="3" y="2"/>
                </a:lnTo>
                <a:lnTo>
                  <a:pt x="3" y="2"/>
                </a:lnTo>
                <a:lnTo>
                  <a:pt x="3"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3"/>
                </a:lnTo>
                <a:lnTo>
                  <a:pt x="2" y="3"/>
                </a:lnTo>
                <a:lnTo>
                  <a:pt x="2" y="3"/>
                </a:lnTo>
                <a:lnTo>
                  <a:pt x="2" y="3"/>
                </a:lnTo>
                <a:lnTo>
                  <a:pt x="1" y="3"/>
                </a:lnTo>
                <a:lnTo>
                  <a:pt x="1" y="3"/>
                </a:lnTo>
                <a:lnTo>
                  <a:pt x="1" y="3"/>
                </a:lnTo>
                <a:lnTo>
                  <a:pt x="1" y="3"/>
                </a:lnTo>
                <a:lnTo>
                  <a:pt x="1" y="3"/>
                </a:lnTo>
                <a:lnTo>
                  <a:pt x="1" y="3"/>
                </a:lnTo>
                <a:lnTo>
                  <a:pt x="1" y="3"/>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1"/>
                </a:lnTo>
                <a:lnTo>
                  <a:pt x="0" y="0"/>
                </a:lnTo>
                <a:lnTo>
                  <a:pt x="0" y="0"/>
                </a:lnTo>
                <a:lnTo>
                  <a:pt x="0" y="0"/>
                </a:lnTo>
                <a:lnTo>
                  <a:pt x="0"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0"/>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1"/>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2" y="0"/>
                </a:lnTo>
                <a:lnTo>
                  <a:pt x="2" y="0"/>
                </a:lnTo>
                <a:lnTo>
                  <a:pt x="2" y="0"/>
                </a:lnTo>
                <a:lnTo>
                  <a:pt x="2" y="0"/>
                </a:lnTo>
                <a:lnTo>
                  <a:pt x="2" y="0"/>
                </a:lnTo>
                <a:lnTo>
                  <a:pt x="2" y="0"/>
                </a:lnTo>
                <a:lnTo>
                  <a:pt x="2" y="0"/>
                </a:lnTo>
                <a:lnTo>
                  <a:pt x="2" y="0"/>
                </a:lnTo>
                <a:lnTo>
                  <a:pt x="2" y="0"/>
                </a:lnTo>
                <a:lnTo>
                  <a:pt x="2" y="0"/>
                </a:lnTo>
                <a:lnTo>
                  <a:pt x="2" y="0"/>
                </a:lnTo>
                <a:lnTo>
                  <a:pt x="1" y="0"/>
                </a:lnTo>
                <a:lnTo>
                  <a:pt x="1" y="0"/>
                </a:lnTo>
                <a:lnTo>
                  <a:pt x="1" y="0"/>
                </a:lnTo>
                <a:close/>
              </a:path>
            </a:pathLst>
          </a:cu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743200" y="2743200"/>
            <a:ext cx="0" cy="0"/>
          </a:xfrm>
          <a:custGeom>
            <a:avLst/>
            <a:gdLst/>
            <a:ahLst/>
            <a:cxnLst/>
            <a:rect l="l" t="t" r="r" b="b"/>
            <a:pathLst>
              <a:path w="0" h="0">
                <a:moveTo>
                  <a:pt x="0" y="0"/>
                </a:move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12848" y="3493008"/>
            <a:ext cx="1828800" cy="457200"/>
          </a:xfrm>
          <a:prstGeom prst="rect">
            <a:avLst/>
          </a:prstGeom>
          <a:noFill/>
        </p:spPr>
        <p:txBody>
          <a:bodyPr wrap="square" lIns="0" rIns="0" tIns="0" bIns="0" anchor="t">
            <a:spAutoFit/>
          </a:bodyPr>
          <a:lstStyle/>
          <a:p>
            <a:pPr algn="ctr">
              <a:lnSpc>
                <a:spcPct val="130000"/>
              </a:lnSpc>
            </a:pPr>
            <a:r>
              <a:rPr sz="2600" b="1" spc="-60">
                <a:solidFill>
                  <a:srgbClr val="FFFFFF"/>
                </a:solidFill>
                <a:latin typeface="Inter"/>
              </a:rPr>
              <a:t>₹2,000</a:t>
            </a:r>
          </a:p>
        </p:txBody>
      </p:sp>
      <p:sp>
        <p:nvSpPr>
          <p:cNvPr id="13" name="TextBox 12"/>
          <p:cNvSpPr txBox="1"/>
          <p:nvPr/>
        </p:nvSpPr>
        <p:spPr>
          <a:xfrm>
            <a:off x="2212848" y="4005072"/>
            <a:ext cx="1828800" cy="201168"/>
          </a:xfrm>
          <a:prstGeom prst="rect">
            <a:avLst/>
          </a:prstGeom>
          <a:noFill/>
        </p:spPr>
        <p:txBody>
          <a:bodyPr wrap="square" lIns="0" rIns="0" tIns="0" bIns="0" anchor="t">
            <a:spAutoFit/>
          </a:bodyPr>
          <a:lstStyle/>
          <a:p>
            <a:pPr algn="ctr">
              <a:lnSpc>
                <a:spcPct val="130000"/>
              </a:lnSpc>
            </a:pPr>
            <a:r>
              <a:rPr sz="720" b="1" spc="190">
                <a:solidFill>
                  <a:srgbClr val="7C8FA8"/>
                </a:solidFill>
                <a:latin typeface="Inter"/>
              </a:rPr>
              <a:t>PER MONTH</a:t>
            </a:r>
          </a:p>
        </p:txBody>
      </p:sp>
      <p:sp>
        <p:nvSpPr>
          <p:cNvPr id="14" name="Oval 13"/>
          <p:cNvSpPr/>
          <p:nvPr/>
        </p:nvSpPr>
        <p:spPr>
          <a:xfrm>
            <a:off x="982980" y="5477256"/>
            <a:ext cx="82296" cy="8229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5449824"/>
            <a:ext cx="2651760" cy="201168"/>
          </a:xfrm>
          <a:prstGeom prst="rect">
            <a:avLst/>
          </a:prstGeom>
          <a:noFill/>
        </p:spPr>
        <p:txBody>
          <a:bodyPr wrap="square" lIns="0" rIns="0" tIns="0" bIns="0" anchor="t">
            <a:spAutoFit/>
          </a:bodyPr>
          <a:lstStyle/>
          <a:p>
            <a:pPr algn="l">
              <a:lnSpc>
                <a:spcPct val="130000"/>
              </a:lnSpc>
            </a:pPr>
            <a:r>
              <a:rPr sz="919" b="0">
                <a:solidFill>
                  <a:srgbClr val="D5DEEA"/>
                </a:solidFill>
                <a:latin typeface="Inter"/>
              </a:rPr>
              <a:t>Future Development Fund</a:t>
            </a:r>
          </a:p>
        </p:txBody>
      </p:sp>
      <p:sp>
        <p:nvSpPr>
          <p:cNvPr id="16" name="TextBox 15"/>
          <p:cNvSpPr txBox="1"/>
          <p:nvPr/>
        </p:nvSpPr>
        <p:spPr>
          <a:xfrm>
            <a:off x="3703320" y="5445252"/>
            <a:ext cx="1645920" cy="219456"/>
          </a:xfrm>
          <a:prstGeom prst="rect">
            <a:avLst/>
          </a:prstGeom>
          <a:noFill/>
        </p:spPr>
        <p:txBody>
          <a:bodyPr wrap="square" lIns="0" rIns="0" tIns="0" bIns="0" anchor="t">
            <a:spAutoFit/>
          </a:bodyPr>
          <a:lstStyle/>
          <a:p>
            <a:pPr algn="r">
              <a:lnSpc>
                <a:spcPct val="130000"/>
              </a:lnSpc>
            </a:pPr>
            <a:r>
              <a:rPr sz="1000" b="1">
                <a:solidFill>
                  <a:srgbClr val="FFFFFF"/>
                </a:solidFill>
                <a:latin typeface="Inter"/>
              </a:rPr>
              <a:t>₹1,900  ·  95%</a:t>
            </a:r>
          </a:p>
        </p:txBody>
      </p:sp>
      <p:sp>
        <p:nvSpPr>
          <p:cNvPr id="17" name="Oval 16"/>
          <p:cNvSpPr/>
          <p:nvPr/>
        </p:nvSpPr>
        <p:spPr>
          <a:xfrm>
            <a:off x="982980" y="575157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5724144"/>
            <a:ext cx="2651760" cy="201168"/>
          </a:xfrm>
          <a:prstGeom prst="rect">
            <a:avLst/>
          </a:prstGeom>
          <a:noFill/>
        </p:spPr>
        <p:txBody>
          <a:bodyPr wrap="square" lIns="0" rIns="0" tIns="0" bIns="0" anchor="t">
            <a:spAutoFit/>
          </a:bodyPr>
          <a:lstStyle/>
          <a:p>
            <a:pPr algn="l">
              <a:lnSpc>
                <a:spcPct val="130000"/>
              </a:lnSpc>
            </a:pPr>
            <a:r>
              <a:rPr sz="919" b="0">
                <a:solidFill>
                  <a:srgbClr val="D5DEEA"/>
                </a:solidFill>
                <a:latin typeface="Inter"/>
              </a:rPr>
              <a:t>Personal expenses</a:t>
            </a:r>
          </a:p>
        </p:txBody>
      </p:sp>
      <p:sp>
        <p:nvSpPr>
          <p:cNvPr id="19" name="TextBox 18"/>
          <p:cNvSpPr txBox="1"/>
          <p:nvPr/>
        </p:nvSpPr>
        <p:spPr>
          <a:xfrm>
            <a:off x="3703320" y="5719572"/>
            <a:ext cx="1645920" cy="219456"/>
          </a:xfrm>
          <a:prstGeom prst="rect">
            <a:avLst/>
          </a:prstGeom>
          <a:noFill/>
        </p:spPr>
        <p:txBody>
          <a:bodyPr wrap="square" lIns="0" rIns="0" tIns="0" bIns="0" anchor="t">
            <a:spAutoFit/>
          </a:bodyPr>
          <a:lstStyle/>
          <a:p>
            <a:pPr algn="r">
              <a:lnSpc>
                <a:spcPct val="130000"/>
              </a:lnSpc>
            </a:pPr>
            <a:r>
              <a:rPr sz="1000" b="1">
                <a:solidFill>
                  <a:srgbClr val="FFFFFF"/>
                </a:solidFill>
                <a:latin typeface="Inter"/>
              </a:rPr>
              <a:t>₹100  ·  5%</a:t>
            </a:r>
          </a:p>
        </p:txBody>
      </p:sp>
      <p:sp>
        <p:nvSpPr>
          <p:cNvPr id="20" name="TextBox 19"/>
          <p:cNvSpPr txBox="1"/>
          <p:nvPr/>
        </p:nvSpPr>
        <p:spPr>
          <a:xfrm>
            <a:off x="6172200" y="2322576"/>
            <a:ext cx="5120640" cy="182880"/>
          </a:xfrm>
          <a:prstGeom prst="rect">
            <a:avLst/>
          </a:prstGeom>
          <a:noFill/>
        </p:spPr>
        <p:txBody>
          <a:bodyPr wrap="square" lIns="0" rIns="0" tIns="0" bIns="0" anchor="t">
            <a:spAutoFit/>
          </a:bodyPr>
          <a:lstStyle/>
          <a:p>
            <a:pPr algn="l">
              <a:lnSpc>
                <a:spcPct val="130000"/>
              </a:lnSpc>
            </a:pPr>
            <a:r>
              <a:rPr sz="780" b="1" spc="200">
                <a:solidFill>
                  <a:srgbClr val="6F86A8"/>
                </a:solidFill>
                <a:latin typeface="Inter"/>
              </a:rPr>
              <a:t>WHAT EACH PART IS FOR</a:t>
            </a:r>
          </a:p>
        </p:txBody>
      </p:sp>
      <p:sp>
        <p:nvSpPr>
          <p:cNvPr id="21" name="TextBox 20"/>
          <p:cNvSpPr txBox="1"/>
          <p:nvPr/>
        </p:nvSpPr>
        <p:spPr>
          <a:xfrm>
            <a:off x="6172200" y="2633472"/>
            <a:ext cx="457200" cy="201168"/>
          </a:xfrm>
          <a:prstGeom prst="rect">
            <a:avLst/>
          </a:prstGeom>
          <a:noFill/>
        </p:spPr>
        <p:txBody>
          <a:bodyPr wrap="square" lIns="0" rIns="0" tIns="0" bIns="0" anchor="t">
            <a:spAutoFit/>
          </a:bodyPr>
          <a:lstStyle/>
          <a:p>
            <a:pPr algn="l">
              <a:lnSpc>
                <a:spcPct val="130000"/>
              </a:lnSpc>
            </a:pPr>
            <a:r>
              <a:rPr sz="800" b="1" spc="160">
                <a:solidFill>
                  <a:srgbClr val="5D6F8C"/>
                </a:solidFill>
                <a:latin typeface="Inter"/>
              </a:rPr>
              <a:t>01</a:t>
            </a:r>
          </a:p>
        </p:txBody>
      </p:sp>
      <p:sp>
        <p:nvSpPr>
          <p:cNvPr id="22" name="TextBox 21"/>
          <p:cNvSpPr txBox="1"/>
          <p:nvPr/>
        </p:nvSpPr>
        <p:spPr>
          <a:xfrm>
            <a:off x="6556248" y="2615184"/>
            <a:ext cx="3017520" cy="274320"/>
          </a:xfrm>
          <a:prstGeom prst="rect">
            <a:avLst/>
          </a:prstGeom>
          <a:noFill/>
        </p:spPr>
        <p:txBody>
          <a:bodyPr wrap="square" lIns="0" rIns="0" tIns="0" bIns="0" anchor="t">
            <a:spAutoFit/>
          </a:bodyPr>
          <a:lstStyle/>
          <a:p>
            <a:pPr algn="l">
              <a:lnSpc>
                <a:spcPct val="130000"/>
              </a:lnSpc>
            </a:pPr>
            <a:r>
              <a:rPr sz="1240" b="1">
                <a:solidFill>
                  <a:srgbClr val="FFFFFF"/>
                </a:solidFill>
                <a:latin typeface="Inter"/>
              </a:rPr>
              <a:t>Future Development Fund</a:t>
            </a:r>
          </a:p>
        </p:txBody>
      </p:sp>
      <p:sp>
        <p:nvSpPr>
          <p:cNvPr id="23" name="TextBox 22"/>
          <p:cNvSpPr txBox="1"/>
          <p:nvPr/>
        </p:nvSpPr>
        <p:spPr>
          <a:xfrm>
            <a:off x="9418320" y="2560320"/>
            <a:ext cx="1188720" cy="365760"/>
          </a:xfrm>
          <a:prstGeom prst="rect">
            <a:avLst/>
          </a:prstGeom>
          <a:noFill/>
        </p:spPr>
        <p:txBody>
          <a:bodyPr wrap="square" lIns="0" rIns="0" tIns="0" bIns="0" anchor="t">
            <a:spAutoFit/>
          </a:bodyPr>
          <a:lstStyle/>
          <a:p>
            <a:pPr algn="r">
              <a:lnSpc>
                <a:spcPct val="130000"/>
              </a:lnSpc>
            </a:pPr>
            <a:r>
              <a:rPr sz="1900" b="1" spc="-40">
                <a:solidFill>
                  <a:srgbClr val="FFFFFF"/>
                </a:solidFill>
                <a:latin typeface="Inter"/>
              </a:rPr>
              <a:t>₹1,900</a:t>
            </a:r>
          </a:p>
        </p:txBody>
      </p:sp>
      <p:sp>
        <p:nvSpPr>
          <p:cNvPr id="24" name="Rounded Rectangle 23"/>
          <p:cNvSpPr/>
          <p:nvPr/>
        </p:nvSpPr>
        <p:spPr>
          <a:xfrm>
            <a:off x="6556248" y="3108960"/>
            <a:ext cx="4892040" cy="68580"/>
          </a:xfrm>
          <a:prstGeom prst="roundRect">
            <a:avLst>
              <a:gd name="adj" fmla="val 50000"/>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56248" y="3108960"/>
            <a:ext cx="4647438" cy="6858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6248" y="3273552"/>
            <a:ext cx="4480560" cy="548640"/>
          </a:xfrm>
          <a:prstGeom prst="rect">
            <a:avLst/>
          </a:prstGeom>
          <a:noFill/>
        </p:spPr>
        <p:txBody>
          <a:bodyPr wrap="square" lIns="0" rIns="0" tIns="0" bIns="0" anchor="t">
            <a:spAutoFit/>
          </a:bodyPr>
          <a:lstStyle/>
          <a:p>
            <a:pPr algn="l">
              <a:lnSpc>
                <a:spcPct val="150000"/>
              </a:lnSpc>
            </a:pPr>
            <a:r>
              <a:rPr sz="890" b="0">
                <a:solidFill>
                  <a:srgbClr val="93A4BC"/>
                </a:solidFill>
                <a:latin typeface="Inter"/>
              </a:rPr>
              <a:t>Accumulates for educational resources, robotics parts, sensors, tools and larger equipment. Spent only when there is a clear purpose.</a:t>
            </a:r>
          </a:p>
        </p:txBody>
      </p:sp>
      <p:sp>
        <p:nvSpPr>
          <p:cNvPr id="27" name="TextBox 26"/>
          <p:cNvSpPr txBox="1"/>
          <p:nvPr/>
        </p:nvSpPr>
        <p:spPr>
          <a:xfrm>
            <a:off x="6172200" y="3895344"/>
            <a:ext cx="457200" cy="201168"/>
          </a:xfrm>
          <a:prstGeom prst="rect">
            <a:avLst/>
          </a:prstGeom>
          <a:noFill/>
        </p:spPr>
        <p:txBody>
          <a:bodyPr wrap="square" lIns="0" rIns="0" tIns="0" bIns="0" anchor="t">
            <a:spAutoFit/>
          </a:bodyPr>
          <a:lstStyle/>
          <a:p>
            <a:pPr algn="l">
              <a:lnSpc>
                <a:spcPct val="130000"/>
              </a:lnSpc>
            </a:pPr>
            <a:r>
              <a:rPr sz="800" b="1" spc="160">
                <a:solidFill>
                  <a:srgbClr val="5D6F8C"/>
                </a:solidFill>
                <a:latin typeface="Inter"/>
              </a:rPr>
              <a:t>02</a:t>
            </a:r>
          </a:p>
        </p:txBody>
      </p:sp>
      <p:sp>
        <p:nvSpPr>
          <p:cNvPr id="28" name="TextBox 27"/>
          <p:cNvSpPr txBox="1"/>
          <p:nvPr/>
        </p:nvSpPr>
        <p:spPr>
          <a:xfrm>
            <a:off x="6556248" y="3877056"/>
            <a:ext cx="3017520" cy="274320"/>
          </a:xfrm>
          <a:prstGeom prst="rect">
            <a:avLst/>
          </a:prstGeom>
          <a:noFill/>
        </p:spPr>
        <p:txBody>
          <a:bodyPr wrap="square" lIns="0" rIns="0" tIns="0" bIns="0" anchor="t">
            <a:spAutoFit/>
          </a:bodyPr>
          <a:lstStyle/>
          <a:p>
            <a:pPr algn="l">
              <a:lnSpc>
                <a:spcPct val="130000"/>
              </a:lnSpc>
            </a:pPr>
            <a:r>
              <a:rPr sz="1240" b="1">
                <a:solidFill>
                  <a:srgbClr val="FFFFFF"/>
                </a:solidFill>
                <a:latin typeface="Inter"/>
              </a:rPr>
              <a:t>Personal expenses</a:t>
            </a:r>
          </a:p>
        </p:txBody>
      </p:sp>
      <p:sp>
        <p:nvSpPr>
          <p:cNvPr id="29" name="TextBox 28"/>
          <p:cNvSpPr txBox="1"/>
          <p:nvPr/>
        </p:nvSpPr>
        <p:spPr>
          <a:xfrm>
            <a:off x="9418320" y="3822192"/>
            <a:ext cx="1188720" cy="365760"/>
          </a:xfrm>
          <a:prstGeom prst="rect">
            <a:avLst/>
          </a:prstGeom>
          <a:noFill/>
        </p:spPr>
        <p:txBody>
          <a:bodyPr wrap="square" lIns="0" rIns="0" tIns="0" bIns="0" anchor="t">
            <a:spAutoFit/>
          </a:bodyPr>
          <a:lstStyle/>
          <a:p>
            <a:pPr algn="r">
              <a:lnSpc>
                <a:spcPct val="130000"/>
              </a:lnSpc>
            </a:pPr>
            <a:r>
              <a:rPr sz="1900" b="1" spc="-40">
                <a:solidFill>
                  <a:srgbClr val="FFFFFF"/>
                </a:solidFill>
                <a:latin typeface="Inter"/>
              </a:rPr>
              <a:t>₹100</a:t>
            </a:r>
          </a:p>
        </p:txBody>
      </p:sp>
      <p:sp>
        <p:nvSpPr>
          <p:cNvPr id="30" name="Rounded Rectangle 29"/>
          <p:cNvSpPr/>
          <p:nvPr/>
        </p:nvSpPr>
        <p:spPr>
          <a:xfrm>
            <a:off x="6556248" y="4370832"/>
            <a:ext cx="4892040" cy="68580"/>
          </a:xfrm>
          <a:prstGeom prst="roundRect">
            <a:avLst>
              <a:gd name="adj" fmla="val 50000"/>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56248" y="4370832"/>
            <a:ext cx="244602" cy="6858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6248" y="4535424"/>
            <a:ext cx="4480560" cy="548640"/>
          </a:xfrm>
          <a:prstGeom prst="rect">
            <a:avLst/>
          </a:prstGeom>
          <a:noFill/>
        </p:spPr>
        <p:txBody>
          <a:bodyPr wrap="square" lIns="0" rIns="0" tIns="0" bIns="0" anchor="t">
            <a:spAutoFit/>
          </a:bodyPr>
          <a:lstStyle/>
          <a:p>
            <a:pPr algn="l">
              <a:lnSpc>
                <a:spcPct val="150000"/>
              </a:lnSpc>
            </a:pPr>
            <a:r>
              <a:rPr sz="890" b="0">
                <a:solidFill>
                  <a:srgbClr val="93A4BC"/>
                </a:solidFill>
                <a:latin typeface="Inter"/>
              </a:rPr>
              <a:t>A small, ordinary allowance — not a development cost.</a:t>
            </a:r>
          </a:p>
        </p:txBody>
      </p:sp>
      <p:cxnSp>
        <p:nvCxnSpPr>
          <p:cNvPr id="33" name="Connector 32"/>
          <p:cNvCxnSpPr/>
          <p:nvPr/>
        </p:nvCxnSpPr>
        <p:spPr>
          <a:xfrm>
            <a:off x="6172200" y="4937760"/>
            <a:ext cx="53309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172200" y="5138928"/>
            <a:ext cx="2743200" cy="201168"/>
          </a:xfrm>
          <a:prstGeom prst="rect">
            <a:avLst/>
          </a:prstGeom>
          <a:noFill/>
        </p:spPr>
        <p:txBody>
          <a:bodyPr wrap="square" lIns="0" rIns="0" tIns="0" bIns="0" anchor="t">
            <a:spAutoFit/>
          </a:bodyPr>
          <a:lstStyle/>
          <a:p>
            <a:pPr algn="l">
              <a:lnSpc>
                <a:spcPct val="130000"/>
              </a:lnSpc>
            </a:pPr>
            <a:r>
              <a:rPr sz="760" b="1" spc="200">
                <a:solidFill>
                  <a:srgbClr val="6F86A8"/>
                </a:solidFill>
                <a:latin typeface="Inter"/>
              </a:rPr>
              <a:t>TOTAL PER MONTH</a:t>
            </a:r>
          </a:p>
        </p:txBody>
      </p:sp>
      <p:sp>
        <p:nvSpPr>
          <p:cNvPr id="35" name="TextBox 34"/>
          <p:cNvSpPr txBox="1"/>
          <p:nvPr/>
        </p:nvSpPr>
        <p:spPr>
          <a:xfrm>
            <a:off x="9281160" y="5047488"/>
            <a:ext cx="1463040" cy="411480"/>
          </a:xfrm>
          <a:prstGeom prst="rect">
            <a:avLst/>
          </a:prstGeom>
          <a:noFill/>
        </p:spPr>
        <p:txBody>
          <a:bodyPr wrap="square" lIns="0" rIns="0" tIns="0" bIns="0" anchor="t">
            <a:spAutoFit/>
          </a:bodyPr>
          <a:lstStyle/>
          <a:p>
            <a:pPr algn="r">
              <a:lnSpc>
                <a:spcPct val="130000"/>
              </a:lnSpc>
            </a:pPr>
            <a:r>
              <a:rPr sz="2200" b="1" spc="-40">
                <a:solidFill>
                  <a:srgbClr val="FFFFFF"/>
                </a:solidFill>
                <a:latin typeface="Inter"/>
              </a:rPr>
              <a:t>₹2,000</a:t>
            </a:r>
          </a:p>
        </p:txBody>
      </p:sp>
      <p:sp>
        <p:nvSpPr>
          <p:cNvPr id="36" name="TextBox 35"/>
          <p:cNvSpPr txBox="1"/>
          <p:nvPr/>
        </p:nvSpPr>
        <p:spPr>
          <a:xfrm>
            <a:off x="685800" y="6272784"/>
            <a:ext cx="10789920" cy="219456"/>
          </a:xfrm>
          <a:prstGeom prst="rect">
            <a:avLst/>
          </a:prstGeom>
          <a:noFill/>
        </p:spPr>
        <p:txBody>
          <a:bodyPr wrap="square" lIns="0" rIns="0" tIns="0" bIns="0" anchor="t">
            <a:spAutoFit/>
          </a:bodyPr>
          <a:lstStyle/>
          <a:p>
            <a:pPr algn="l">
              <a:lnSpc>
                <a:spcPct val="130000"/>
              </a:lnSpc>
            </a:pPr>
            <a:r>
              <a:rPr sz="760" b="1" spc="150">
                <a:solidFill>
                  <a:srgbClr val="6C7F9B"/>
                </a:solidFill>
                <a:latin typeface="Inter"/>
              </a:rPr>
              <a:t>PAID AT THE START OF EACH MONTH        ·        NO AUTOMATIC SPENDING        ·        EVERY TRANSACTION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04 · THE PROJECTION</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What ₹1,900 a month becomes.</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Contributions only. No interest, no returns, nothing assumed beyond the monthly deposit.</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05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4864608"/>
            <a:ext cx="960120" cy="182880"/>
          </a:xfrm>
          <a:prstGeom prst="rect">
            <a:avLst/>
          </a:prstGeom>
          <a:noFill/>
        </p:spPr>
        <p:txBody>
          <a:bodyPr wrap="square" lIns="0" rIns="0" tIns="0" bIns="0" anchor="t">
            <a:spAutoFit/>
          </a:bodyPr>
          <a:lstStyle/>
          <a:p>
            <a:pPr algn="r">
              <a:lnSpc>
                <a:spcPct val="130000"/>
              </a:lnSpc>
            </a:pPr>
            <a:r>
              <a:rPr sz="760" b="0">
                <a:solidFill>
                  <a:srgbClr val="8A99AE"/>
                </a:solidFill>
                <a:latin typeface="Inter"/>
              </a:rPr>
              <a:t>₹0</a:t>
            </a:r>
          </a:p>
        </p:txBody>
      </p:sp>
      <p:cxnSp>
        <p:nvCxnSpPr>
          <p:cNvPr id="8" name="Connector 7"/>
          <p:cNvCxnSpPr/>
          <p:nvPr/>
        </p:nvCxnSpPr>
        <p:spPr>
          <a:xfrm>
            <a:off x="1783080" y="4315968"/>
            <a:ext cx="5715000" cy="0"/>
          </a:xfrm>
          <a:prstGeom prst="line">
            <a:avLst/>
          </a:prstGeom>
          <a:ln w="10160">
            <a:solidFill>
              <a:srgbClr val="E8EDF5"/>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4224528"/>
            <a:ext cx="960120" cy="182880"/>
          </a:xfrm>
          <a:prstGeom prst="rect">
            <a:avLst/>
          </a:prstGeom>
          <a:noFill/>
        </p:spPr>
        <p:txBody>
          <a:bodyPr wrap="square" lIns="0" rIns="0" tIns="0" bIns="0" anchor="t">
            <a:spAutoFit/>
          </a:bodyPr>
          <a:lstStyle/>
          <a:p>
            <a:pPr algn="r">
              <a:lnSpc>
                <a:spcPct val="130000"/>
              </a:lnSpc>
            </a:pPr>
            <a:r>
              <a:rPr sz="760" b="0">
                <a:solidFill>
                  <a:srgbClr val="8A99AE"/>
                </a:solidFill>
                <a:latin typeface="Inter"/>
              </a:rPr>
              <a:t>₹6k</a:t>
            </a:r>
          </a:p>
        </p:txBody>
      </p:sp>
      <p:cxnSp>
        <p:nvCxnSpPr>
          <p:cNvPr id="10" name="Connector 9"/>
          <p:cNvCxnSpPr/>
          <p:nvPr/>
        </p:nvCxnSpPr>
        <p:spPr>
          <a:xfrm>
            <a:off x="1783080" y="3675888"/>
            <a:ext cx="5715000" cy="0"/>
          </a:xfrm>
          <a:prstGeom prst="line">
            <a:avLst/>
          </a:prstGeom>
          <a:ln w="10160">
            <a:solidFill>
              <a:srgbClr val="E8EDF5"/>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3584448"/>
            <a:ext cx="960120" cy="182880"/>
          </a:xfrm>
          <a:prstGeom prst="rect">
            <a:avLst/>
          </a:prstGeom>
          <a:noFill/>
        </p:spPr>
        <p:txBody>
          <a:bodyPr wrap="square" lIns="0" rIns="0" tIns="0" bIns="0" anchor="t">
            <a:spAutoFit/>
          </a:bodyPr>
          <a:lstStyle/>
          <a:p>
            <a:pPr algn="r">
              <a:lnSpc>
                <a:spcPct val="130000"/>
              </a:lnSpc>
            </a:pPr>
            <a:r>
              <a:rPr sz="760" b="0">
                <a:solidFill>
                  <a:srgbClr val="8A99AE"/>
                </a:solidFill>
                <a:latin typeface="Inter"/>
              </a:rPr>
              <a:t>₹12k</a:t>
            </a:r>
          </a:p>
        </p:txBody>
      </p:sp>
      <p:cxnSp>
        <p:nvCxnSpPr>
          <p:cNvPr id="12" name="Connector 11"/>
          <p:cNvCxnSpPr/>
          <p:nvPr/>
        </p:nvCxnSpPr>
        <p:spPr>
          <a:xfrm>
            <a:off x="1783080" y="3035808"/>
            <a:ext cx="5715000" cy="0"/>
          </a:xfrm>
          <a:prstGeom prst="line">
            <a:avLst/>
          </a:prstGeom>
          <a:ln w="10160">
            <a:solidFill>
              <a:srgbClr val="E8EDF5"/>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2944368"/>
            <a:ext cx="960120" cy="182880"/>
          </a:xfrm>
          <a:prstGeom prst="rect">
            <a:avLst/>
          </a:prstGeom>
          <a:noFill/>
        </p:spPr>
        <p:txBody>
          <a:bodyPr wrap="square" lIns="0" rIns="0" tIns="0" bIns="0" anchor="t">
            <a:spAutoFit/>
          </a:bodyPr>
          <a:lstStyle/>
          <a:p>
            <a:pPr algn="r">
              <a:lnSpc>
                <a:spcPct val="130000"/>
              </a:lnSpc>
            </a:pPr>
            <a:r>
              <a:rPr sz="760" b="0">
                <a:solidFill>
                  <a:srgbClr val="8A99AE"/>
                </a:solidFill>
                <a:latin typeface="Inter"/>
              </a:rPr>
              <a:t>₹18k</a:t>
            </a:r>
          </a:p>
        </p:txBody>
      </p:sp>
      <p:cxnSp>
        <p:nvCxnSpPr>
          <p:cNvPr id="14" name="Connector 13"/>
          <p:cNvCxnSpPr/>
          <p:nvPr/>
        </p:nvCxnSpPr>
        <p:spPr>
          <a:xfrm>
            <a:off x="1783080" y="2395728"/>
            <a:ext cx="5715000" cy="0"/>
          </a:xfrm>
          <a:prstGeom prst="line">
            <a:avLst/>
          </a:prstGeom>
          <a:ln w="10160">
            <a:solidFill>
              <a:srgbClr val="E8EDF5"/>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 y="2304288"/>
            <a:ext cx="960120" cy="182880"/>
          </a:xfrm>
          <a:prstGeom prst="rect">
            <a:avLst/>
          </a:prstGeom>
          <a:noFill/>
        </p:spPr>
        <p:txBody>
          <a:bodyPr wrap="square" lIns="0" rIns="0" tIns="0" bIns="0" anchor="t">
            <a:spAutoFit/>
          </a:bodyPr>
          <a:lstStyle/>
          <a:p>
            <a:pPr algn="r">
              <a:lnSpc>
                <a:spcPct val="130000"/>
              </a:lnSpc>
            </a:pPr>
            <a:r>
              <a:rPr sz="760" b="0">
                <a:solidFill>
                  <a:srgbClr val="8A99AE"/>
                </a:solidFill>
                <a:latin typeface="Inter"/>
              </a:rPr>
              <a:t>₹24k</a:t>
            </a:r>
          </a:p>
        </p:txBody>
      </p:sp>
      <p:sp>
        <p:nvSpPr>
          <p:cNvPr id="16" name="Rectangle 15"/>
          <p:cNvSpPr/>
          <p:nvPr/>
        </p:nvSpPr>
        <p:spPr>
          <a:xfrm>
            <a:off x="2131695" y="4347972"/>
            <a:ext cx="731520" cy="608076"/>
          </a:xfrm>
          <a:prstGeom prst="rect">
            <a:avLst/>
          </a:prstGeom>
          <a:gradFill rotWithShape="1">
            <a:gsLst>
              <a:gs pos="0">
                <a:srgbClr val="1D4ED8"/>
              </a:gs>
              <a:gs pos="100000">
                <a:srgbClr val="4F93F5"/>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83080" y="4037076"/>
            <a:ext cx="1428750" cy="237744"/>
          </a:xfrm>
          <a:prstGeom prst="rect">
            <a:avLst/>
          </a:prstGeom>
          <a:noFill/>
        </p:spPr>
        <p:txBody>
          <a:bodyPr wrap="square" lIns="0" rIns="0" tIns="0" bIns="0" anchor="t">
            <a:spAutoFit/>
          </a:bodyPr>
          <a:lstStyle/>
          <a:p>
            <a:pPr algn="ctr">
              <a:lnSpc>
                <a:spcPct val="130000"/>
              </a:lnSpc>
            </a:pPr>
            <a:r>
              <a:rPr sz="1050" b="1">
                <a:solidFill>
                  <a:srgbClr val="0A1322"/>
                </a:solidFill>
                <a:latin typeface="Inter"/>
              </a:rPr>
              <a:t>₹5,700</a:t>
            </a:r>
          </a:p>
        </p:txBody>
      </p:sp>
      <p:sp>
        <p:nvSpPr>
          <p:cNvPr id="18" name="TextBox 17"/>
          <p:cNvSpPr txBox="1"/>
          <p:nvPr/>
        </p:nvSpPr>
        <p:spPr>
          <a:xfrm>
            <a:off x="1783080" y="5084064"/>
            <a:ext cx="1428750" cy="201168"/>
          </a:xfrm>
          <a:prstGeom prst="rect">
            <a:avLst/>
          </a:prstGeom>
          <a:noFill/>
        </p:spPr>
        <p:txBody>
          <a:bodyPr wrap="square" lIns="0" rIns="0" tIns="0" bIns="0" anchor="t">
            <a:spAutoFit/>
          </a:bodyPr>
          <a:lstStyle/>
          <a:p>
            <a:pPr algn="ctr">
              <a:lnSpc>
                <a:spcPct val="130000"/>
              </a:lnSpc>
            </a:pPr>
            <a:r>
              <a:rPr sz="740" b="1" spc="150">
                <a:solidFill>
                  <a:srgbClr val="4E5F78"/>
                </a:solidFill>
                <a:latin typeface="Inter"/>
              </a:rPr>
              <a:t>3 MONTHS</a:t>
            </a:r>
          </a:p>
        </p:txBody>
      </p:sp>
      <p:sp>
        <p:nvSpPr>
          <p:cNvPr id="19" name="Rectangle 18"/>
          <p:cNvSpPr/>
          <p:nvPr/>
        </p:nvSpPr>
        <p:spPr>
          <a:xfrm>
            <a:off x="3560445" y="3739896"/>
            <a:ext cx="731520" cy="1216152"/>
          </a:xfrm>
          <a:prstGeom prst="rect">
            <a:avLst/>
          </a:prstGeom>
          <a:gradFill rotWithShape="1">
            <a:gsLst>
              <a:gs pos="0">
                <a:srgbClr val="1D4ED8"/>
              </a:gs>
              <a:gs pos="100000">
                <a:srgbClr val="4F93F5"/>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11830" y="3429000"/>
            <a:ext cx="1428750" cy="237744"/>
          </a:xfrm>
          <a:prstGeom prst="rect">
            <a:avLst/>
          </a:prstGeom>
          <a:noFill/>
        </p:spPr>
        <p:txBody>
          <a:bodyPr wrap="square" lIns="0" rIns="0" tIns="0" bIns="0" anchor="t">
            <a:spAutoFit/>
          </a:bodyPr>
          <a:lstStyle/>
          <a:p>
            <a:pPr algn="ctr">
              <a:lnSpc>
                <a:spcPct val="130000"/>
              </a:lnSpc>
            </a:pPr>
            <a:r>
              <a:rPr sz="1050" b="1">
                <a:solidFill>
                  <a:srgbClr val="0A1322"/>
                </a:solidFill>
                <a:latin typeface="Inter"/>
              </a:rPr>
              <a:t>₹11,400</a:t>
            </a:r>
          </a:p>
        </p:txBody>
      </p:sp>
      <p:sp>
        <p:nvSpPr>
          <p:cNvPr id="21" name="TextBox 20"/>
          <p:cNvSpPr txBox="1"/>
          <p:nvPr/>
        </p:nvSpPr>
        <p:spPr>
          <a:xfrm>
            <a:off x="3211830" y="5084064"/>
            <a:ext cx="1428750" cy="201168"/>
          </a:xfrm>
          <a:prstGeom prst="rect">
            <a:avLst/>
          </a:prstGeom>
          <a:noFill/>
        </p:spPr>
        <p:txBody>
          <a:bodyPr wrap="square" lIns="0" rIns="0" tIns="0" bIns="0" anchor="t">
            <a:spAutoFit/>
          </a:bodyPr>
          <a:lstStyle/>
          <a:p>
            <a:pPr algn="ctr">
              <a:lnSpc>
                <a:spcPct val="130000"/>
              </a:lnSpc>
            </a:pPr>
            <a:r>
              <a:rPr sz="740" b="1" spc="150">
                <a:solidFill>
                  <a:srgbClr val="4E5F78"/>
                </a:solidFill>
                <a:latin typeface="Inter"/>
              </a:rPr>
              <a:t>6 MONTHS</a:t>
            </a:r>
          </a:p>
        </p:txBody>
      </p:sp>
      <p:sp>
        <p:nvSpPr>
          <p:cNvPr id="22" name="Rectangle 21"/>
          <p:cNvSpPr/>
          <p:nvPr/>
        </p:nvSpPr>
        <p:spPr>
          <a:xfrm>
            <a:off x="4989195" y="3131820"/>
            <a:ext cx="731520" cy="1824228"/>
          </a:xfrm>
          <a:prstGeom prst="rect">
            <a:avLst/>
          </a:prstGeom>
          <a:gradFill rotWithShape="1">
            <a:gsLst>
              <a:gs pos="0">
                <a:srgbClr val="1D4ED8"/>
              </a:gs>
              <a:gs pos="100000">
                <a:srgbClr val="4F93F5"/>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0580" y="2820924"/>
            <a:ext cx="1428750" cy="237744"/>
          </a:xfrm>
          <a:prstGeom prst="rect">
            <a:avLst/>
          </a:prstGeom>
          <a:noFill/>
        </p:spPr>
        <p:txBody>
          <a:bodyPr wrap="square" lIns="0" rIns="0" tIns="0" bIns="0" anchor="t">
            <a:spAutoFit/>
          </a:bodyPr>
          <a:lstStyle/>
          <a:p>
            <a:pPr algn="ctr">
              <a:lnSpc>
                <a:spcPct val="130000"/>
              </a:lnSpc>
            </a:pPr>
            <a:r>
              <a:rPr sz="1050" b="1">
                <a:solidFill>
                  <a:srgbClr val="0A1322"/>
                </a:solidFill>
                <a:latin typeface="Inter"/>
              </a:rPr>
              <a:t>₹17,100</a:t>
            </a:r>
          </a:p>
        </p:txBody>
      </p:sp>
      <p:sp>
        <p:nvSpPr>
          <p:cNvPr id="24" name="TextBox 23"/>
          <p:cNvSpPr txBox="1"/>
          <p:nvPr/>
        </p:nvSpPr>
        <p:spPr>
          <a:xfrm>
            <a:off x="4640580" y="5084064"/>
            <a:ext cx="1428750" cy="201168"/>
          </a:xfrm>
          <a:prstGeom prst="rect">
            <a:avLst/>
          </a:prstGeom>
          <a:noFill/>
        </p:spPr>
        <p:txBody>
          <a:bodyPr wrap="square" lIns="0" rIns="0" tIns="0" bIns="0" anchor="t">
            <a:spAutoFit/>
          </a:bodyPr>
          <a:lstStyle/>
          <a:p>
            <a:pPr algn="ctr">
              <a:lnSpc>
                <a:spcPct val="130000"/>
              </a:lnSpc>
            </a:pPr>
            <a:r>
              <a:rPr sz="740" b="1" spc="150">
                <a:solidFill>
                  <a:srgbClr val="4E5F78"/>
                </a:solidFill>
                <a:latin typeface="Inter"/>
              </a:rPr>
              <a:t>9 MONTHS</a:t>
            </a:r>
          </a:p>
        </p:txBody>
      </p:sp>
      <p:sp>
        <p:nvSpPr>
          <p:cNvPr id="25" name="Rectangle 24"/>
          <p:cNvSpPr/>
          <p:nvPr/>
        </p:nvSpPr>
        <p:spPr>
          <a:xfrm>
            <a:off x="6417945" y="2523744"/>
            <a:ext cx="731520" cy="2432304"/>
          </a:xfrm>
          <a:prstGeom prst="rect">
            <a:avLst/>
          </a:prstGeom>
          <a:gradFill rotWithShape="1">
            <a:gsLst>
              <a:gs pos="0">
                <a:srgbClr val="0F9CB8"/>
              </a:gs>
              <a:gs pos="100000">
                <a:srgbClr val="38D9EE"/>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69330" y="2212848"/>
            <a:ext cx="1428750" cy="237744"/>
          </a:xfrm>
          <a:prstGeom prst="rect">
            <a:avLst/>
          </a:prstGeom>
          <a:noFill/>
        </p:spPr>
        <p:txBody>
          <a:bodyPr wrap="square" lIns="0" rIns="0" tIns="0" bIns="0" anchor="t">
            <a:spAutoFit/>
          </a:bodyPr>
          <a:lstStyle/>
          <a:p>
            <a:pPr algn="ctr">
              <a:lnSpc>
                <a:spcPct val="130000"/>
              </a:lnSpc>
            </a:pPr>
            <a:r>
              <a:rPr sz="1050" b="1">
                <a:solidFill>
                  <a:srgbClr val="0B7F97"/>
                </a:solidFill>
                <a:latin typeface="Inter"/>
              </a:rPr>
              <a:t>₹22,800</a:t>
            </a:r>
          </a:p>
        </p:txBody>
      </p:sp>
      <p:sp>
        <p:nvSpPr>
          <p:cNvPr id="27" name="TextBox 26"/>
          <p:cNvSpPr txBox="1"/>
          <p:nvPr/>
        </p:nvSpPr>
        <p:spPr>
          <a:xfrm>
            <a:off x="6069330" y="5084064"/>
            <a:ext cx="1428750" cy="201168"/>
          </a:xfrm>
          <a:prstGeom prst="rect">
            <a:avLst/>
          </a:prstGeom>
          <a:noFill/>
        </p:spPr>
        <p:txBody>
          <a:bodyPr wrap="square" lIns="0" rIns="0" tIns="0" bIns="0" anchor="t">
            <a:spAutoFit/>
          </a:bodyPr>
          <a:lstStyle/>
          <a:p>
            <a:pPr algn="ctr">
              <a:lnSpc>
                <a:spcPct val="130000"/>
              </a:lnSpc>
            </a:pPr>
            <a:r>
              <a:rPr sz="740" b="1" spc="150">
                <a:solidFill>
                  <a:srgbClr val="4E5F78"/>
                </a:solidFill>
                <a:latin typeface="Inter"/>
              </a:rPr>
              <a:t>12 MONTHS</a:t>
            </a:r>
          </a:p>
        </p:txBody>
      </p:sp>
      <p:cxnSp>
        <p:nvCxnSpPr>
          <p:cNvPr id="28" name="Connector 27"/>
          <p:cNvCxnSpPr/>
          <p:nvPr/>
        </p:nvCxnSpPr>
        <p:spPr>
          <a:xfrm>
            <a:off x="1783080" y="4956048"/>
            <a:ext cx="5715000" cy="0"/>
          </a:xfrm>
          <a:prstGeom prst="line">
            <a:avLst/>
          </a:prstGeom>
          <a:ln w="13970">
            <a:solidFill>
              <a:srgbClr val="C9D4E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2103120"/>
            <a:ext cx="4572000" cy="182880"/>
          </a:xfrm>
          <a:prstGeom prst="rect">
            <a:avLst/>
          </a:prstGeom>
          <a:noFill/>
        </p:spPr>
        <p:txBody>
          <a:bodyPr wrap="square" lIns="0" rIns="0" tIns="0" bIns="0" anchor="t">
            <a:spAutoFit/>
          </a:bodyPr>
          <a:lstStyle/>
          <a:p>
            <a:pPr algn="l">
              <a:lnSpc>
                <a:spcPct val="130000"/>
              </a:lnSpc>
            </a:pPr>
            <a:r>
              <a:rPr sz="780" b="1" spc="200">
                <a:solidFill>
                  <a:srgbClr val="1D4ED8"/>
                </a:solidFill>
                <a:latin typeface="Inter"/>
              </a:rPr>
              <a:t>PROJECTED DEVELOPMENT FUND BALANCE</a:t>
            </a:r>
          </a:p>
        </p:txBody>
      </p:sp>
      <p:sp>
        <p:nvSpPr>
          <p:cNvPr id="30" name="Rounded Rectangle 29"/>
          <p:cNvSpPr/>
          <p:nvPr/>
        </p:nvSpPr>
        <p:spPr>
          <a:xfrm>
            <a:off x="7973568" y="2395728"/>
            <a:ext cx="3529584" cy="1024128"/>
          </a:xfrm>
          <a:prstGeom prst="roundRect">
            <a:avLst>
              <a:gd name="adj" fmla="val 8928"/>
            </a:avLst>
          </a:prstGeom>
          <a:solidFill>
            <a:srgbClr val="F7F9FC"/>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991856" y="2542032"/>
            <a:ext cx="41148" cy="731520"/>
          </a:xfrm>
          <a:prstGeom prst="roundRect">
            <a:avLst>
              <a:gd name="adj" fmla="val 48888"/>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2" y="2551176"/>
            <a:ext cx="3108960" cy="182880"/>
          </a:xfrm>
          <a:prstGeom prst="rect">
            <a:avLst/>
          </a:prstGeom>
          <a:noFill/>
        </p:spPr>
        <p:txBody>
          <a:bodyPr wrap="square" lIns="0" rIns="0" tIns="0" bIns="0" anchor="t">
            <a:spAutoFit/>
          </a:bodyPr>
          <a:lstStyle/>
          <a:p>
            <a:pPr algn="l">
              <a:lnSpc>
                <a:spcPct val="130000"/>
              </a:lnSpc>
            </a:pPr>
            <a:r>
              <a:rPr sz="740" b="1" spc="180">
                <a:solidFill>
                  <a:srgbClr val="8A99AE"/>
                </a:solidFill>
                <a:latin typeface="Inter"/>
              </a:rPr>
              <a:t>TOTAL CONTRIBUTED</a:t>
            </a:r>
          </a:p>
        </p:txBody>
      </p:sp>
      <p:sp>
        <p:nvSpPr>
          <p:cNvPr id="33" name="TextBox 32"/>
          <p:cNvSpPr txBox="1"/>
          <p:nvPr/>
        </p:nvSpPr>
        <p:spPr>
          <a:xfrm>
            <a:off x="8211312" y="2734056"/>
            <a:ext cx="3108960" cy="347472"/>
          </a:xfrm>
          <a:prstGeom prst="rect">
            <a:avLst/>
          </a:prstGeom>
          <a:noFill/>
        </p:spPr>
        <p:txBody>
          <a:bodyPr wrap="square" lIns="0" rIns="0" tIns="0" bIns="0" anchor="t">
            <a:spAutoFit/>
          </a:bodyPr>
          <a:lstStyle/>
          <a:p>
            <a:pPr algn="l">
              <a:lnSpc>
                <a:spcPct val="130000"/>
              </a:lnSpc>
            </a:pPr>
            <a:r>
              <a:rPr sz="2000" b="1" spc="-40">
                <a:solidFill>
                  <a:srgbClr val="0A1322"/>
                </a:solidFill>
                <a:latin typeface="Inter"/>
              </a:rPr>
              <a:t>₹24,000</a:t>
            </a:r>
          </a:p>
        </p:txBody>
      </p:sp>
      <p:sp>
        <p:nvSpPr>
          <p:cNvPr id="34" name="TextBox 33"/>
          <p:cNvSpPr txBox="1"/>
          <p:nvPr/>
        </p:nvSpPr>
        <p:spPr>
          <a:xfrm>
            <a:off x="8211312" y="3127248"/>
            <a:ext cx="3108960" cy="182880"/>
          </a:xfrm>
          <a:prstGeom prst="rect">
            <a:avLst/>
          </a:prstGeom>
          <a:noFill/>
        </p:spPr>
        <p:txBody>
          <a:bodyPr wrap="square" lIns="0" rIns="0" tIns="0" bIns="0" anchor="t">
            <a:spAutoFit/>
          </a:bodyPr>
          <a:lstStyle/>
          <a:p>
            <a:pPr algn="l">
              <a:lnSpc>
                <a:spcPct val="130000"/>
              </a:lnSpc>
            </a:pPr>
            <a:r>
              <a:rPr sz="800" b="0">
                <a:solidFill>
                  <a:srgbClr val="4E5F78"/>
                </a:solidFill>
                <a:latin typeface="Inter"/>
              </a:rPr>
              <a:t>12 × ₹2,000</a:t>
            </a:r>
          </a:p>
        </p:txBody>
      </p:sp>
      <p:sp>
        <p:nvSpPr>
          <p:cNvPr id="35" name="Rounded Rectangle 34"/>
          <p:cNvSpPr/>
          <p:nvPr/>
        </p:nvSpPr>
        <p:spPr>
          <a:xfrm>
            <a:off x="7973568" y="3547872"/>
            <a:ext cx="3529584" cy="1024128"/>
          </a:xfrm>
          <a:prstGeom prst="roundRect">
            <a:avLst>
              <a:gd name="adj" fmla="val 8928"/>
            </a:avLst>
          </a:prstGeom>
          <a:solidFill>
            <a:srgbClr val="F7F9FC"/>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991856" y="3694176"/>
            <a:ext cx="41148" cy="731520"/>
          </a:xfrm>
          <a:prstGeom prst="roundRect">
            <a:avLst>
              <a:gd name="adj" fmla="val 48888"/>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11312" y="3703320"/>
            <a:ext cx="3108960" cy="182880"/>
          </a:xfrm>
          <a:prstGeom prst="rect">
            <a:avLst/>
          </a:prstGeom>
          <a:noFill/>
        </p:spPr>
        <p:txBody>
          <a:bodyPr wrap="square" lIns="0" rIns="0" tIns="0" bIns="0" anchor="t">
            <a:spAutoFit/>
          </a:bodyPr>
          <a:lstStyle/>
          <a:p>
            <a:pPr algn="l">
              <a:lnSpc>
                <a:spcPct val="130000"/>
              </a:lnSpc>
            </a:pPr>
            <a:r>
              <a:rPr sz="740" b="1" spc="180">
                <a:solidFill>
                  <a:srgbClr val="8A99AE"/>
                </a:solidFill>
                <a:latin typeface="Inter"/>
              </a:rPr>
              <a:t>DEVELOPMENT FUND</a:t>
            </a:r>
          </a:p>
        </p:txBody>
      </p:sp>
      <p:sp>
        <p:nvSpPr>
          <p:cNvPr id="38" name="TextBox 37"/>
          <p:cNvSpPr txBox="1"/>
          <p:nvPr/>
        </p:nvSpPr>
        <p:spPr>
          <a:xfrm>
            <a:off x="8211312" y="3886200"/>
            <a:ext cx="3108960" cy="347472"/>
          </a:xfrm>
          <a:prstGeom prst="rect">
            <a:avLst/>
          </a:prstGeom>
          <a:noFill/>
        </p:spPr>
        <p:txBody>
          <a:bodyPr wrap="square" lIns="0" rIns="0" tIns="0" bIns="0" anchor="t">
            <a:spAutoFit/>
          </a:bodyPr>
          <a:lstStyle/>
          <a:p>
            <a:pPr algn="l">
              <a:lnSpc>
                <a:spcPct val="130000"/>
              </a:lnSpc>
            </a:pPr>
            <a:r>
              <a:rPr sz="2000" b="1" spc="-40">
                <a:solidFill>
                  <a:srgbClr val="0A1322"/>
                </a:solidFill>
                <a:latin typeface="Inter"/>
              </a:rPr>
              <a:t>₹22,800</a:t>
            </a:r>
          </a:p>
        </p:txBody>
      </p:sp>
      <p:sp>
        <p:nvSpPr>
          <p:cNvPr id="39" name="TextBox 38"/>
          <p:cNvSpPr txBox="1"/>
          <p:nvPr/>
        </p:nvSpPr>
        <p:spPr>
          <a:xfrm>
            <a:off x="8211312" y="4279392"/>
            <a:ext cx="3108960" cy="182880"/>
          </a:xfrm>
          <a:prstGeom prst="rect">
            <a:avLst/>
          </a:prstGeom>
          <a:noFill/>
        </p:spPr>
        <p:txBody>
          <a:bodyPr wrap="square" lIns="0" rIns="0" tIns="0" bIns="0" anchor="t">
            <a:spAutoFit/>
          </a:bodyPr>
          <a:lstStyle/>
          <a:p>
            <a:pPr algn="l">
              <a:lnSpc>
                <a:spcPct val="130000"/>
              </a:lnSpc>
            </a:pPr>
            <a:r>
              <a:rPr sz="800" b="0">
                <a:solidFill>
                  <a:srgbClr val="4E5F78"/>
                </a:solidFill>
                <a:latin typeface="Inter"/>
              </a:rPr>
              <a:t>Accumulated, unspent</a:t>
            </a:r>
          </a:p>
        </p:txBody>
      </p:sp>
      <p:sp>
        <p:nvSpPr>
          <p:cNvPr id="40" name="Rounded Rectangle 39"/>
          <p:cNvSpPr/>
          <p:nvPr/>
        </p:nvSpPr>
        <p:spPr>
          <a:xfrm>
            <a:off x="7973568" y="4700016"/>
            <a:ext cx="3529584" cy="1024128"/>
          </a:xfrm>
          <a:prstGeom prst="roundRect">
            <a:avLst>
              <a:gd name="adj" fmla="val 8928"/>
            </a:avLst>
          </a:prstGeom>
          <a:solidFill>
            <a:srgbClr val="F7F9FC"/>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4846320"/>
            <a:ext cx="41148" cy="731520"/>
          </a:xfrm>
          <a:prstGeom prst="roundRect">
            <a:avLst>
              <a:gd name="adj" fmla="val 48888"/>
            </a:avLst>
          </a:prstGeom>
          <a:solidFill>
            <a:srgbClr val="6B7E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11312" y="4855464"/>
            <a:ext cx="3108960" cy="182880"/>
          </a:xfrm>
          <a:prstGeom prst="rect">
            <a:avLst/>
          </a:prstGeom>
          <a:noFill/>
        </p:spPr>
        <p:txBody>
          <a:bodyPr wrap="square" lIns="0" rIns="0" tIns="0" bIns="0" anchor="t">
            <a:spAutoFit/>
          </a:bodyPr>
          <a:lstStyle/>
          <a:p>
            <a:pPr algn="l">
              <a:lnSpc>
                <a:spcPct val="130000"/>
              </a:lnSpc>
            </a:pPr>
            <a:r>
              <a:rPr sz="740" b="1" spc="180">
                <a:solidFill>
                  <a:srgbClr val="8A99AE"/>
                </a:solidFill>
                <a:latin typeface="Inter"/>
              </a:rPr>
              <a:t>PERSONAL ALLOCATION</a:t>
            </a:r>
          </a:p>
        </p:txBody>
      </p:sp>
      <p:sp>
        <p:nvSpPr>
          <p:cNvPr id="43" name="TextBox 42"/>
          <p:cNvSpPr txBox="1"/>
          <p:nvPr/>
        </p:nvSpPr>
        <p:spPr>
          <a:xfrm>
            <a:off x="8211312" y="5038344"/>
            <a:ext cx="3108960" cy="347472"/>
          </a:xfrm>
          <a:prstGeom prst="rect">
            <a:avLst/>
          </a:prstGeom>
          <a:noFill/>
        </p:spPr>
        <p:txBody>
          <a:bodyPr wrap="square" lIns="0" rIns="0" tIns="0" bIns="0" anchor="t">
            <a:spAutoFit/>
          </a:bodyPr>
          <a:lstStyle/>
          <a:p>
            <a:pPr algn="l">
              <a:lnSpc>
                <a:spcPct val="130000"/>
              </a:lnSpc>
            </a:pPr>
            <a:r>
              <a:rPr sz="2000" b="1" spc="-40">
                <a:solidFill>
                  <a:srgbClr val="0A1322"/>
                </a:solidFill>
                <a:latin typeface="Inter"/>
              </a:rPr>
              <a:t>₹1,200</a:t>
            </a:r>
          </a:p>
        </p:txBody>
      </p:sp>
      <p:sp>
        <p:nvSpPr>
          <p:cNvPr id="44" name="TextBox 43"/>
          <p:cNvSpPr txBox="1"/>
          <p:nvPr/>
        </p:nvSpPr>
        <p:spPr>
          <a:xfrm>
            <a:off x="8211312" y="5431536"/>
            <a:ext cx="3108960" cy="182880"/>
          </a:xfrm>
          <a:prstGeom prst="rect">
            <a:avLst/>
          </a:prstGeom>
          <a:noFill/>
        </p:spPr>
        <p:txBody>
          <a:bodyPr wrap="square" lIns="0" rIns="0" tIns="0" bIns="0" anchor="t">
            <a:spAutoFit/>
          </a:bodyPr>
          <a:lstStyle/>
          <a:p>
            <a:pPr algn="l">
              <a:lnSpc>
                <a:spcPct val="130000"/>
              </a:lnSpc>
            </a:pPr>
            <a:r>
              <a:rPr sz="800" b="0">
                <a:solidFill>
                  <a:srgbClr val="4E5F78"/>
                </a:solidFill>
                <a:latin typeface="Inter"/>
              </a:rPr>
              <a:t>12 × ₹100</a:t>
            </a:r>
          </a:p>
        </p:txBody>
      </p:sp>
      <p:sp>
        <p:nvSpPr>
          <p:cNvPr id="45" name="TextBox 44"/>
          <p:cNvSpPr txBox="1"/>
          <p:nvPr/>
        </p:nvSpPr>
        <p:spPr>
          <a:xfrm>
            <a:off x="685800" y="5870448"/>
            <a:ext cx="10789920" cy="274320"/>
          </a:xfrm>
          <a:prstGeom prst="rect">
            <a:avLst/>
          </a:prstGeom>
          <a:noFill/>
        </p:spPr>
        <p:txBody>
          <a:bodyPr wrap="square" lIns="0" rIns="0" tIns="0" bIns="0" anchor="t">
            <a:spAutoFit/>
          </a:bodyPr>
          <a:lstStyle/>
          <a:p>
            <a:pPr algn="l">
              <a:lnSpc>
                <a:spcPct val="130000"/>
              </a:lnSpc>
            </a:pPr>
            <a:r>
              <a:rPr sz="880" b="0">
                <a:solidFill>
                  <a:srgbClr val="8A99AE"/>
                </a:solidFill>
                <a:latin typeface="Inter"/>
              </a:rPr>
              <a:t>These figures are projected contributions, not investment returns. The fund does not earn interest in this plan.</a:t>
            </a:r>
          </a:p>
        </p:txBody>
      </p:sp>
      <p:cxnSp>
        <p:nvCxnSpPr>
          <p:cNvPr id="46" name="Connector 45"/>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48" name="TextBox 47"/>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49" name="TextBox 48"/>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50" name="TextBox 49"/>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05 · EQUIPMENT GOALS</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Two goals that need planning, not impulse.</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Neither is requested today. Each becomes realistic through accumulation and a joint decision.</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06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 y="2084832"/>
            <a:ext cx="5358384" cy="3218688"/>
          </a:xfrm>
          <a:prstGeom prst="roundRect">
            <a:avLst>
              <a:gd name="adj" fmla="val 3977"/>
            </a:avLst>
          </a:prstGeom>
          <a:solidFill>
            <a:srgbClr val="FFFFFF"/>
          </a:solidFill>
          <a:ln w="11430">
            <a:solidFill>
              <a:srgbClr val="E2E8F1"/>
            </a:solidFill>
          </a:ln>
          <a:effectLst>
            <a:outerShdw blurRad="237744" dist="64008" dir="5400000" algn="ctr" rotWithShape="0">
              <a:srgbClr val="0A1322">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96696" y="2340864"/>
            <a:ext cx="676656" cy="676656"/>
          </a:xfrm>
          <a:prstGeom prst="roundRect">
            <a:avLst>
              <a:gd name="adj" fmla="val 17567"/>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54374" y="2604303"/>
            <a:ext cx="161300" cy="103693"/>
          </a:xfrm>
          <a:prstGeom prst="roundRect">
            <a:avLst>
              <a:gd name="adj" fmla="val 14814"/>
            </a:avLst>
          </a:prstGeom>
          <a:noFill/>
          <a:ln w="2032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250533" y="2602382"/>
            <a:ext cx="168982" cy="0"/>
          </a:xfrm>
          <a:prstGeom prst="line">
            <a:avLst/>
          </a:prstGeom>
          <a:ln w="2032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35024" y="2602382"/>
            <a:ext cx="0" cy="26884"/>
          </a:xfrm>
          <a:prstGeom prst="line">
            <a:avLst/>
          </a:prstGeom>
          <a:ln w="18288">
            <a:solidFill>
              <a:srgbClr val="1D4ED8"/>
            </a:solidFill>
          </a:ln>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914400" y="2743200"/>
            <a:ext cx="0" cy="0"/>
          </a:xfrm>
          <a:custGeom>
            <a:avLst/>
            <a:gdLst/>
            <a:ahLst/>
            <a:cxnLst/>
            <a:rect l="l" t="t" r="r" b="b"/>
            <a:pathLst>
              <a:path w="0" h="0">
                <a:moveTo>
                  <a:pt x="0" y="0"/>
                </a:moveTo>
                <a:lnTo>
                  <a:pt x="0" y="0"/>
                </a:lnTo>
                <a:lnTo>
                  <a:pt x="0" y="0"/>
                </a:lnTo>
                <a:close/>
              </a:path>
            </a:pathLst>
          </a:custGeom>
          <a:noFill/>
          <a:ln w="18288">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239012" y="2721437"/>
            <a:ext cx="192024" cy="0"/>
          </a:xfrm>
          <a:prstGeom prst="line">
            <a:avLst/>
          </a:prstGeom>
          <a:ln w="20320">
            <a:solidFill>
              <a:srgbClr val="1D4ED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292779" y="2742560"/>
            <a:ext cx="84491" cy="26883"/>
          </a:xfrm>
          <a:prstGeom prst="roundRect">
            <a:avLst>
              <a:gd name="adj" fmla="val 14285"/>
            </a:avLst>
          </a:prstGeom>
          <a:noFill/>
          <a:ln w="1727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37944" y="2395728"/>
            <a:ext cx="3566160" cy="182880"/>
          </a:xfrm>
          <a:prstGeom prst="rect">
            <a:avLst/>
          </a:prstGeom>
          <a:noFill/>
        </p:spPr>
        <p:txBody>
          <a:bodyPr wrap="square" lIns="0" rIns="0" tIns="0" bIns="0" anchor="t">
            <a:spAutoFit/>
          </a:bodyPr>
          <a:lstStyle/>
          <a:p>
            <a:pPr algn="l">
              <a:lnSpc>
                <a:spcPct val="130000"/>
              </a:lnSpc>
            </a:pPr>
            <a:r>
              <a:rPr sz="720" b="1" spc="190">
                <a:solidFill>
                  <a:srgbClr val="1D4ED8"/>
                </a:solidFill>
                <a:latin typeface="Inter"/>
              </a:rPr>
              <a:t>PHASE 2 · ACCUMULATION</a:t>
            </a:r>
          </a:p>
        </p:txBody>
      </p:sp>
      <p:sp>
        <p:nvSpPr>
          <p:cNvPr id="16" name="TextBox 15"/>
          <p:cNvSpPr txBox="1"/>
          <p:nvPr/>
        </p:nvSpPr>
        <p:spPr>
          <a:xfrm>
            <a:off x="1837944" y="2596896"/>
            <a:ext cx="3566160" cy="365760"/>
          </a:xfrm>
          <a:prstGeom prst="rect">
            <a:avLst/>
          </a:prstGeom>
          <a:noFill/>
        </p:spPr>
        <p:txBody>
          <a:bodyPr wrap="square" lIns="0" rIns="0" tIns="0" bIns="0" anchor="t">
            <a:spAutoFit/>
          </a:bodyPr>
          <a:lstStyle/>
          <a:p>
            <a:pPr algn="l">
              <a:lnSpc>
                <a:spcPct val="130000"/>
              </a:lnSpc>
            </a:pPr>
            <a:r>
              <a:rPr sz="1900" b="1" spc="-40">
                <a:solidFill>
                  <a:srgbClr val="0A1322"/>
                </a:solidFill>
                <a:latin typeface="Inter"/>
              </a:rPr>
              <a:t>3D Printer</a:t>
            </a:r>
          </a:p>
        </p:txBody>
      </p:sp>
      <p:cxnSp>
        <p:nvCxnSpPr>
          <p:cNvPr id="17" name="Connector 16"/>
          <p:cNvCxnSpPr/>
          <p:nvPr/>
        </p:nvCxnSpPr>
        <p:spPr>
          <a:xfrm>
            <a:off x="996696" y="3200400"/>
            <a:ext cx="473659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914400" y="36576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9304" y="3364992"/>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Turns CAD designs into physical parts.</a:t>
            </a:r>
          </a:p>
        </p:txBody>
      </p:sp>
      <p:sp>
        <p:nvSpPr>
          <p:cNvPr id="20" name="Freeform 19"/>
          <p:cNvSpPr/>
          <p:nvPr/>
        </p:nvSpPr>
        <p:spPr>
          <a:xfrm>
            <a:off x="914400" y="36576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9304" y="3840480"/>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Custom brackets, mounts and enclosures stop being obstacles.</a:t>
            </a:r>
          </a:p>
        </p:txBody>
      </p:sp>
      <p:sp>
        <p:nvSpPr>
          <p:cNvPr id="22" name="Freeform 21"/>
          <p:cNvSpPr/>
          <p:nvPr/>
        </p:nvSpPr>
        <p:spPr>
          <a:xfrm>
            <a:off x="914400" y="45720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9304" y="4315968"/>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Makes prototyping a routine instead of an event.</a:t>
            </a:r>
          </a:p>
        </p:txBody>
      </p:sp>
      <p:sp>
        <p:nvSpPr>
          <p:cNvPr id="24" name="Rounded Rectangle 23"/>
          <p:cNvSpPr/>
          <p:nvPr/>
        </p:nvSpPr>
        <p:spPr>
          <a:xfrm>
            <a:off x="996696" y="4718304"/>
            <a:ext cx="4736592" cy="402336"/>
          </a:xfrm>
          <a:prstGeom prst="roundRect">
            <a:avLst>
              <a:gd name="adj" fmla="val 18181"/>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3000" y="4754880"/>
            <a:ext cx="4443984" cy="329184"/>
          </a:xfrm>
          <a:prstGeom prst="rect">
            <a:avLst/>
          </a:prstGeom>
          <a:noFill/>
        </p:spPr>
        <p:txBody>
          <a:bodyPr wrap="square" lIns="0" rIns="0" tIns="0" bIns="0" anchor="t">
            <a:spAutoFit/>
          </a:bodyPr>
          <a:lstStyle/>
          <a:p>
            <a:pPr algn="l">
              <a:lnSpc>
                <a:spcPct val="135000"/>
              </a:lnSpc>
            </a:pPr>
            <a:r>
              <a:rPr sz="819" b="0">
                <a:solidFill>
                  <a:srgbClr val="41536B"/>
                </a:solidFill>
                <a:latin typeface="Inter"/>
              </a:rPr>
              <a:t>Supports the design-and-build stage of the cycle.</a:t>
            </a:r>
          </a:p>
        </p:txBody>
      </p:sp>
      <p:sp>
        <p:nvSpPr>
          <p:cNvPr id="26" name="Rounded Rectangle 25"/>
          <p:cNvSpPr/>
          <p:nvPr/>
        </p:nvSpPr>
        <p:spPr>
          <a:xfrm>
            <a:off x="6190488" y="2084832"/>
            <a:ext cx="5358384" cy="3218688"/>
          </a:xfrm>
          <a:prstGeom prst="roundRect">
            <a:avLst>
              <a:gd name="adj" fmla="val 3977"/>
            </a:avLst>
          </a:prstGeom>
          <a:solidFill>
            <a:srgbClr val="FFFFFF"/>
          </a:solidFill>
          <a:ln w="11430">
            <a:solidFill>
              <a:srgbClr val="E2E8F1"/>
            </a:solidFill>
          </a:ln>
          <a:effectLst>
            <a:outerShdw blurRad="237744" dist="64008" dir="5400000" algn="ctr" rotWithShape="0">
              <a:srgbClr val="0A1322">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01384" y="2340864"/>
            <a:ext cx="676656" cy="676656"/>
          </a:xfrm>
          <a:prstGeom prst="roundRect">
            <a:avLst>
              <a:gd name="adj" fmla="val 17567"/>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768663" y="2606223"/>
            <a:ext cx="142098" cy="92172"/>
          </a:xfrm>
          <a:prstGeom prst="roundRect">
            <a:avLst>
              <a:gd name="adj" fmla="val 10416"/>
            </a:avLst>
          </a:prstGeom>
          <a:noFill/>
          <a:ln w="2032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400800" y="2743200"/>
            <a:ext cx="914400" cy="0"/>
          </a:xfrm>
          <a:custGeom>
            <a:avLst/>
            <a:gdLst/>
            <a:ahLst/>
            <a:cxnLst/>
            <a:rect l="l" t="t" r="r" b="b"/>
            <a:pathLst>
              <a:path w="1" h="0">
                <a:moveTo>
                  <a:pt x="0" y="0"/>
                </a:moveTo>
                <a:lnTo>
                  <a:pt x="1" y="0"/>
                </a:lnTo>
                <a:lnTo>
                  <a:pt x="1" y="0"/>
                </a:lnTo>
                <a:lnTo>
                  <a:pt x="0" y="0"/>
                </a:lnTo>
                <a:close/>
              </a:path>
            </a:pathLst>
          </a:custGeom>
          <a:noFill/>
          <a:ln w="2032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812829" y="2748321"/>
            <a:ext cx="76809" cy="0"/>
          </a:xfrm>
          <a:prstGeom prst="line">
            <a:avLst/>
          </a:prstGeom>
          <a:ln w="1727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01307" y="2629266"/>
            <a:ext cx="96012" cy="0"/>
          </a:xfrm>
          <a:prstGeom prst="line">
            <a:avLst/>
          </a:prstGeom>
          <a:ln w="14223">
            <a:solidFill>
              <a:srgbClr val="1D4ED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342632" y="2395728"/>
            <a:ext cx="3566160" cy="182880"/>
          </a:xfrm>
          <a:prstGeom prst="rect">
            <a:avLst/>
          </a:prstGeom>
          <a:noFill/>
        </p:spPr>
        <p:txBody>
          <a:bodyPr wrap="square" lIns="0" rIns="0" tIns="0" bIns="0" anchor="t">
            <a:spAutoFit/>
          </a:bodyPr>
          <a:lstStyle/>
          <a:p>
            <a:pPr algn="l">
              <a:lnSpc>
                <a:spcPct val="130000"/>
              </a:lnSpc>
            </a:pPr>
            <a:r>
              <a:rPr sz="720" b="1" spc="190">
                <a:solidFill>
                  <a:srgbClr val="1D4ED8"/>
                </a:solidFill>
                <a:latin typeface="Inter"/>
              </a:rPr>
              <a:t>PHASE 3 · ADVANCED WORK</a:t>
            </a:r>
          </a:p>
        </p:txBody>
      </p:sp>
      <p:sp>
        <p:nvSpPr>
          <p:cNvPr id="33" name="TextBox 32"/>
          <p:cNvSpPr txBox="1"/>
          <p:nvPr/>
        </p:nvSpPr>
        <p:spPr>
          <a:xfrm>
            <a:off x="7342632" y="2596896"/>
            <a:ext cx="3566160" cy="365760"/>
          </a:xfrm>
          <a:prstGeom prst="rect">
            <a:avLst/>
          </a:prstGeom>
          <a:noFill/>
        </p:spPr>
        <p:txBody>
          <a:bodyPr wrap="square" lIns="0" rIns="0" tIns="0" bIns="0" anchor="t">
            <a:spAutoFit/>
          </a:bodyPr>
          <a:lstStyle/>
          <a:p>
            <a:pPr algn="l">
              <a:lnSpc>
                <a:spcPct val="130000"/>
              </a:lnSpc>
            </a:pPr>
            <a:r>
              <a:rPr sz="1900" b="1" spc="-40">
                <a:solidFill>
                  <a:srgbClr val="0A1322"/>
                </a:solidFill>
                <a:latin typeface="Inter"/>
              </a:rPr>
              <a:t>Capable Laptop</a:t>
            </a:r>
          </a:p>
        </p:txBody>
      </p:sp>
      <p:cxnSp>
        <p:nvCxnSpPr>
          <p:cNvPr id="34" name="Connector 33"/>
          <p:cNvCxnSpPr/>
          <p:nvPr/>
        </p:nvCxnSpPr>
        <p:spPr>
          <a:xfrm>
            <a:off x="6501384" y="3200400"/>
            <a:ext cx="473659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400800" y="36576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93992" y="3364992"/>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Needed for AI, machine learning and CAD work.</a:t>
            </a:r>
          </a:p>
        </p:txBody>
      </p:sp>
      <p:sp>
        <p:nvSpPr>
          <p:cNvPr id="37" name="Freeform 36"/>
          <p:cNvSpPr/>
          <p:nvPr/>
        </p:nvSpPr>
        <p:spPr>
          <a:xfrm>
            <a:off x="6400800" y="36576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93992" y="3840480"/>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Supports larger projects and competition entries.</a:t>
            </a:r>
          </a:p>
        </p:txBody>
      </p:sp>
      <p:sp>
        <p:nvSpPr>
          <p:cNvPr id="39" name="Freeform 38"/>
          <p:cNvSpPr/>
          <p:nvPr/>
        </p:nvSpPr>
        <p:spPr>
          <a:xfrm>
            <a:off x="6400800" y="45720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93992" y="4315968"/>
            <a:ext cx="4425696" cy="438912"/>
          </a:xfrm>
          <a:prstGeom prst="rect">
            <a:avLst/>
          </a:prstGeom>
          <a:noFill/>
        </p:spPr>
        <p:txBody>
          <a:bodyPr wrap="square" lIns="0" rIns="0" tIns="0" bIns="0" anchor="t">
            <a:spAutoFit/>
          </a:bodyPr>
          <a:lstStyle/>
          <a:p>
            <a:pPr algn="l">
              <a:lnSpc>
                <a:spcPct val="142000"/>
              </a:lnSpc>
            </a:pPr>
            <a:r>
              <a:rPr sz="960" b="0">
                <a:solidFill>
                  <a:srgbClr val="4E5F78"/>
                </a:solidFill>
                <a:latin typeface="Inter"/>
              </a:rPr>
              <a:t>A dependable machine for years of coursework.</a:t>
            </a:r>
          </a:p>
        </p:txBody>
      </p:sp>
      <p:sp>
        <p:nvSpPr>
          <p:cNvPr id="41" name="Rounded Rectangle 40"/>
          <p:cNvSpPr/>
          <p:nvPr/>
        </p:nvSpPr>
        <p:spPr>
          <a:xfrm>
            <a:off x="6501384" y="4718304"/>
            <a:ext cx="4736592" cy="402336"/>
          </a:xfrm>
          <a:prstGeom prst="roundRect">
            <a:avLst>
              <a:gd name="adj" fmla="val 18181"/>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47688" y="4754880"/>
            <a:ext cx="4443984" cy="329184"/>
          </a:xfrm>
          <a:prstGeom prst="rect">
            <a:avLst/>
          </a:prstGeom>
          <a:noFill/>
        </p:spPr>
        <p:txBody>
          <a:bodyPr wrap="square" lIns="0" rIns="0" tIns="0" bIns="0" anchor="t">
            <a:spAutoFit/>
          </a:bodyPr>
          <a:lstStyle/>
          <a:p>
            <a:pPr algn="l">
              <a:lnSpc>
                <a:spcPct val="135000"/>
              </a:lnSpc>
            </a:pPr>
            <a:r>
              <a:rPr sz="819" b="0">
                <a:solidFill>
                  <a:srgbClr val="41536B"/>
                </a:solidFill>
                <a:latin typeface="Inter"/>
              </a:rPr>
              <a:t>Supports simulation, training models and writing software.</a:t>
            </a:r>
          </a:p>
        </p:txBody>
      </p:sp>
      <p:sp>
        <p:nvSpPr>
          <p:cNvPr id="43" name="Rounded Rectangle 42"/>
          <p:cNvSpPr/>
          <p:nvPr/>
        </p:nvSpPr>
        <p:spPr>
          <a:xfrm>
            <a:off x="685800" y="5522976"/>
            <a:ext cx="10817352" cy="566928"/>
          </a:xfrm>
          <a:prstGeom prst="roundRect">
            <a:avLst>
              <a:gd name="adj" fmla="val 16129"/>
            </a:avLst>
          </a:prstGeom>
          <a:solidFill>
            <a:srgbClr val="070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5660136"/>
            <a:ext cx="10241280" cy="310896"/>
          </a:xfrm>
          <a:prstGeom prst="rect">
            <a:avLst/>
          </a:prstGeom>
          <a:noFill/>
        </p:spPr>
        <p:txBody>
          <a:bodyPr wrap="square" lIns="0" rIns="0" tIns="0" bIns="0" anchor="t">
            <a:spAutoFit/>
          </a:bodyPr>
          <a:lstStyle/>
          <a:p>
            <a:pPr algn="l">
              <a:lnSpc>
                <a:spcPct val="135000"/>
              </a:lnSpc>
            </a:pPr>
            <a:r>
              <a:rPr sz="880" b="0">
                <a:solidFill>
                  <a:srgbClr val="C3CEDD"/>
                </a:solidFill>
                <a:latin typeface="Inter"/>
              </a:rPr>
              <a:t>No price is assumed on this slide.  The timing of either purchase depends on the balance available, what is genuinely needed, and your approval.</a:t>
            </a:r>
          </a:p>
        </p:txBody>
      </p:sp>
      <p:cxnSp>
        <p:nvCxnSpPr>
          <p:cNvPr id="45" name="Connector 44"/>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47" name="TextBox 46"/>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48" name="TextBox 47"/>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49" name="TextBox 48"/>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Oval 1"/>
          <p:cNvSpPr/>
          <p:nvPr/>
        </p:nvSpPr>
        <p:spPr>
          <a:xfrm>
            <a:off x="5852160" y="1097280"/>
            <a:ext cx="10972800" cy="10972800"/>
          </a:xfrm>
          <a:prstGeom prst="ellipse">
            <a:avLst/>
          </a:prstGeom>
          <a:gradFill rotWithShape="1">
            <a:gsLst>
              <a:gs pos="0">
                <a:srgbClr val="10305F">
                  <a:alpha val="34000"/>
                </a:srgbClr>
              </a:gs>
              <a:gs pos="50000">
                <a:srgbClr val="0A1B36">
                  <a:alpha val="14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22D3EE"/>
                </a:solidFill>
                <a:latin typeface="Inter"/>
              </a:rPr>
              <a:t>06 · THE ROADMAP</a:t>
            </a:r>
          </a:p>
        </p:txBody>
      </p:sp>
      <p:sp>
        <p:nvSpPr>
          <p:cNvPr id="4" name="TextBox 3"/>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FFFFFF"/>
                </a:solidFill>
                <a:latin typeface="Inter"/>
              </a:rPr>
              <a:t>Skills compound the same way savings do.</a:t>
            </a:r>
          </a:p>
        </p:txBody>
      </p:sp>
      <p:sp>
        <p:nvSpPr>
          <p:cNvPr id="5" name="TextBox 4"/>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A9B7CC"/>
                </a:solidFill>
                <a:latin typeface="Inter"/>
              </a:rPr>
              <a:t>Three phases. Progression is driven by readiness, not by dates.</a:t>
            </a:r>
          </a:p>
        </p:txBody>
      </p:sp>
      <p:sp>
        <p:nvSpPr>
          <p:cNvPr id="6" name="TextBox 5"/>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5D6F8C"/>
                </a:solidFill>
                <a:latin typeface="Inter"/>
              </a:rPr>
              <a:t>07 / 13</a:t>
            </a:r>
          </a:p>
        </p:txBody>
      </p:sp>
      <p:cxnSp>
        <p:nvCxnSpPr>
          <p:cNvPr id="7" name="Connector 6"/>
          <p:cNvCxnSpPr/>
          <p:nvPr/>
        </p:nvCxnSpPr>
        <p:spPr>
          <a:xfrm>
            <a:off x="685800" y="1920240"/>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05840" y="2432304"/>
            <a:ext cx="10222992" cy="0"/>
          </a:xfrm>
          <a:prstGeom prst="line">
            <a:avLst/>
          </a:prstGeom>
          <a:ln w="12700">
            <a:solidFill>
              <a:srgbClr val="1B2A46"/>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10972800" y="2743200"/>
            <a:ext cx="0" cy="0"/>
          </a:xfrm>
          <a:custGeom>
            <a:avLst/>
            <a:gdLst/>
            <a:ahLst/>
            <a:cxnLst/>
            <a:rect l="l" t="t" r="r" b="b"/>
            <a:pathLst>
              <a:path w="0" h="0">
                <a:moveTo>
                  <a:pt x="0" y="0"/>
                </a:moveTo>
                <a:lnTo>
                  <a:pt x="0" y="0"/>
                </a:lnTo>
                <a:lnTo>
                  <a:pt x="0" y="0"/>
                </a:lnTo>
              </a:path>
            </a:pathLst>
          </a:custGeom>
          <a:noFill/>
          <a:ln w="12700">
            <a:solidFill>
              <a:srgbClr val="22D3EE">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8660" y="2235708"/>
            <a:ext cx="393192" cy="393192"/>
          </a:xfrm>
          <a:prstGeom prst="ellipse">
            <a:avLst/>
          </a:prstGeom>
          <a:solidFill>
            <a:srgbClr val="050A14"/>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54580"/>
            <a:ext cx="347472" cy="182880"/>
          </a:xfrm>
          <a:prstGeom prst="rect">
            <a:avLst/>
          </a:prstGeom>
          <a:noFill/>
        </p:spPr>
        <p:txBody>
          <a:bodyPr wrap="square" lIns="0" rIns="0" tIns="0" bIns="0" anchor="t">
            <a:spAutoFit/>
          </a:bodyPr>
          <a:lstStyle/>
          <a:p>
            <a:pPr algn="ctr">
              <a:lnSpc>
                <a:spcPct val="130000"/>
              </a:lnSpc>
            </a:pPr>
            <a:r>
              <a:rPr sz="800" b="1">
                <a:solidFill>
                  <a:srgbClr val="22D3EE"/>
                </a:solidFill>
                <a:latin typeface="Inter"/>
              </a:rPr>
              <a:t>01</a:t>
            </a:r>
          </a:p>
        </p:txBody>
      </p:sp>
      <p:sp>
        <p:nvSpPr>
          <p:cNvPr id="12" name="TextBox 11"/>
          <p:cNvSpPr txBox="1"/>
          <p:nvPr/>
        </p:nvSpPr>
        <p:spPr>
          <a:xfrm>
            <a:off x="685800" y="2734056"/>
            <a:ext cx="3218688" cy="329184"/>
          </a:xfrm>
          <a:prstGeom prst="rect">
            <a:avLst/>
          </a:prstGeom>
          <a:noFill/>
        </p:spPr>
        <p:txBody>
          <a:bodyPr wrap="square" lIns="0" rIns="0" tIns="0" bIns="0" anchor="t">
            <a:spAutoFit/>
          </a:bodyPr>
          <a:lstStyle/>
          <a:p>
            <a:pPr algn="l">
              <a:lnSpc>
                <a:spcPct val="130000"/>
              </a:lnSpc>
            </a:pPr>
            <a:r>
              <a:rPr sz="1750" b="1" spc="-50">
                <a:solidFill>
                  <a:srgbClr val="FFFFFF"/>
                </a:solidFill>
                <a:latin typeface="Inter"/>
              </a:rPr>
              <a:t>Foundation</a:t>
            </a:r>
          </a:p>
        </p:txBody>
      </p:sp>
      <p:sp>
        <p:nvSpPr>
          <p:cNvPr id="13" name="TextBox 12"/>
          <p:cNvSpPr txBox="1"/>
          <p:nvPr/>
        </p:nvSpPr>
        <p:spPr>
          <a:xfrm>
            <a:off x="685800" y="3127248"/>
            <a:ext cx="3264408" cy="274320"/>
          </a:xfrm>
          <a:prstGeom prst="rect">
            <a:avLst/>
          </a:prstGeom>
          <a:noFill/>
        </p:spPr>
        <p:txBody>
          <a:bodyPr wrap="square" lIns="0" rIns="0" tIns="0" bIns="0" anchor="t">
            <a:spAutoFit/>
          </a:bodyPr>
          <a:lstStyle/>
          <a:p>
            <a:pPr algn="l">
              <a:lnSpc>
                <a:spcPct val="130000"/>
              </a:lnSpc>
            </a:pPr>
            <a:r>
              <a:rPr sz="940" b="0">
                <a:solidFill>
                  <a:srgbClr val="8FA2BC"/>
                </a:solidFill>
                <a:latin typeface="Inter"/>
              </a:rPr>
              <a:t>Build the habit and the basics.</a:t>
            </a:r>
          </a:p>
        </p:txBody>
      </p:sp>
      <p:cxnSp>
        <p:nvCxnSpPr>
          <p:cNvPr id="14" name="Connector 13"/>
          <p:cNvCxnSpPr/>
          <p:nvPr/>
        </p:nvCxnSpPr>
        <p:spPr>
          <a:xfrm>
            <a:off x="685800" y="3438144"/>
            <a:ext cx="3236976"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97687" y="3632911"/>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84448"/>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A consistent weekly learning routine</a:t>
            </a:r>
          </a:p>
        </p:txBody>
      </p:sp>
      <p:sp>
        <p:nvSpPr>
          <p:cNvPr id="17" name="Oval 16"/>
          <p:cNvSpPr/>
          <p:nvPr/>
        </p:nvSpPr>
        <p:spPr>
          <a:xfrm>
            <a:off x="697687" y="4035247"/>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986784"/>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Robotics and programming fundamentals</a:t>
            </a:r>
          </a:p>
        </p:txBody>
      </p:sp>
      <p:sp>
        <p:nvSpPr>
          <p:cNvPr id="19" name="Oval 18"/>
          <p:cNvSpPr/>
          <p:nvPr/>
        </p:nvSpPr>
        <p:spPr>
          <a:xfrm>
            <a:off x="697687" y="4437583"/>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89120"/>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Essential educational resources</a:t>
            </a:r>
          </a:p>
        </p:txBody>
      </p:sp>
      <p:sp>
        <p:nvSpPr>
          <p:cNvPr id="21" name="Oval 20"/>
          <p:cNvSpPr/>
          <p:nvPr/>
        </p:nvSpPr>
        <p:spPr>
          <a:xfrm>
            <a:off x="697687" y="4839919"/>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91456"/>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Small, frequent experiments</a:t>
            </a:r>
          </a:p>
        </p:txBody>
      </p:sp>
      <p:sp>
        <p:nvSpPr>
          <p:cNvPr id="23" name="TextBox 22"/>
          <p:cNvSpPr txBox="1"/>
          <p:nvPr/>
        </p:nvSpPr>
        <p:spPr>
          <a:xfrm>
            <a:off x="685800" y="5321808"/>
            <a:ext cx="3218688" cy="182880"/>
          </a:xfrm>
          <a:prstGeom prst="rect">
            <a:avLst/>
          </a:prstGeom>
          <a:noFill/>
        </p:spPr>
        <p:txBody>
          <a:bodyPr wrap="square" lIns="0" rIns="0" tIns="0" bIns="0" anchor="t">
            <a:spAutoFit/>
          </a:bodyPr>
          <a:lstStyle/>
          <a:p>
            <a:pPr algn="l">
              <a:lnSpc>
                <a:spcPct val="130000"/>
              </a:lnSpc>
            </a:pPr>
            <a:r>
              <a:rPr sz="680" b="1" spc="180">
                <a:solidFill>
                  <a:srgbClr val="617A9C"/>
                </a:solidFill>
                <a:latin typeface="Inter"/>
              </a:rPr>
              <a:t>FUND USE</a:t>
            </a:r>
          </a:p>
        </p:txBody>
      </p:sp>
      <p:sp>
        <p:nvSpPr>
          <p:cNvPr id="24" name="TextBox 23"/>
          <p:cNvSpPr txBox="1"/>
          <p:nvPr/>
        </p:nvSpPr>
        <p:spPr>
          <a:xfrm>
            <a:off x="685800" y="5504688"/>
            <a:ext cx="3172968" cy="365760"/>
          </a:xfrm>
          <a:prstGeom prst="rect">
            <a:avLst/>
          </a:prstGeom>
          <a:noFill/>
        </p:spPr>
        <p:txBody>
          <a:bodyPr wrap="square" lIns="0" rIns="0" tIns="0" bIns="0" anchor="t">
            <a:spAutoFit/>
          </a:bodyPr>
          <a:lstStyle/>
          <a:p>
            <a:pPr algn="l">
              <a:lnSpc>
                <a:spcPct val="140000"/>
              </a:lnSpc>
            </a:pPr>
            <a:r>
              <a:rPr sz="860" b="0">
                <a:solidFill>
                  <a:srgbClr val="93A4BC"/>
                </a:solidFill>
                <a:latin typeface="Inter"/>
              </a:rPr>
              <a:t>Components, sensors, learning material</a:t>
            </a:r>
          </a:p>
        </p:txBody>
      </p:sp>
      <p:sp>
        <p:nvSpPr>
          <p:cNvPr id="25" name="Oval 24"/>
          <p:cNvSpPr/>
          <p:nvPr/>
        </p:nvSpPr>
        <p:spPr>
          <a:xfrm>
            <a:off x="4421124" y="2235708"/>
            <a:ext cx="393192" cy="393192"/>
          </a:xfrm>
          <a:prstGeom prst="ellipse">
            <a:avLst/>
          </a:prstGeom>
          <a:solidFill>
            <a:srgbClr val="050A14"/>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43984" y="2354580"/>
            <a:ext cx="347472" cy="182880"/>
          </a:xfrm>
          <a:prstGeom prst="rect">
            <a:avLst/>
          </a:prstGeom>
          <a:noFill/>
        </p:spPr>
        <p:txBody>
          <a:bodyPr wrap="square" lIns="0" rIns="0" tIns="0" bIns="0" anchor="t">
            <a:spAutoFit/>
          </a:bodyPr>
          <a:lstStyle/>
          <a:p>
            <a:pPr algn="ctr">
              <a:lnSpc>
                <a:spcPct val="130000"/>
              </a:lnSpc>
            </a:pPr>
            <a:r>
              <a:rPr sz="800" b="1">
                <a:solidFill>
                  <a:srgbClr val="22D3EE"/>
                </a:solidFill>
                <a:latin typeface="Inter"/>
              </a:rPr>
              <a:t>02</a:t>
            </a:r>
          </a:p>
        </p:txBody>
      </p:sp>
      <p:sp>
        <p:nvSpPr>
          <p:cNvPr id="27" name="TextBox 26"/>
          <p:cNvSpPr txBox="1"/>
          <p:nvPr/>
        </p:nvSpPr>
        <p:spPr>
          <a:xfrm>
            <a:off x="4398264" y="2734056"/>
            <a:ext cx="3218688" cy="329184"/>
          </a:xfrm>
          <a:prstGeom prst="rect">
            <a:avLst/>
          </a:prstGeom>
          <a:noFill/>
        </p:spPr>
        <p:txBody>
          <a:bodyPr wrap="square" lIns="0" rIns="0" tIns="0" bIns="0" anchor="t">
            <a:spAutoFit/>
          </a:bodyPr>
          <a:lstStyle/>
          <a:p>
            <a:pPr algn="l">
              <a:lnSpc>
                <a:spcPct val="130000"/>
              </a:lnSpc>
            </a:pPr>
            <a:r>
              <a:rPr sz="1750" b="1" spc="-50">
                <a:solidFill>
                  <a:srgbClr val="FFFFFF"/>
                </a:solidFill>
                <a:latin typeface="Inter"/>
              </a:rPr>
              <a:t>Expansion</a:t>
            </a:r>
          </a:p>
        </p:txBody>
      </p:sp>
      <p:sp>
        <p:nvSpPr>
          <p:cNvPr id="28" name="TextBox 27"/>
          <p:cNvSpPr txBox="1"/>
          <p:nvPr/>
        </p:nvSpPr>
        <p:spPr>
          <a:xfrm>
            <a:off x="4398264" y="3127248"/>
            <a:ext cx="3264408" cy="274320"/>
          </a:xfrm>
          <a:prstGeom prst="rect">
            <a:avLst/>
          </a:prstGeom>
          <a:noFill/>
        </p:spPr>
        <p:txBody>
          <a:bodyPr wrap="square" lIns="0" rIns="0" tIns="0" bIns="0" anchor="t">
            <a:spAutoFit/>
          </a:bodyPr>
          <a:lstStyle/>
          <a:p>
            <a:pPr algn="l">
              <a:lnSpc>
                <a:spcPct val="130000"/>
              </a:lnSpc>
            </a:pPr>
            <a:r>
              <a:rPr sz="940" b="0">
                <a:solidFill>
                  <a:srgbClr val="8FA2BC"/>
                </a:solidFill>
                <a:latin typeface="Inter"/>
              </a:rPr>
              <a:t>Turn practice into design work.</a:t>
            </a:r>
          </a:p>
        </p:txBody>
      </p:sp>
      <p:cxnSp>
        <p:nvCxnSpPr>
          <p:cNvPr id="29" name="Connector 28"/>
          <p:cNvCxnSpPr/>
          <p:nvPr/>
        </p:nvCxnSpPr>
        <p:spPr>
          <a:xfrm>
            <a:off x="4398264" y="3438144"/>
            <a:ext cx="3236976"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410151" y="3632911"/>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81144" y="3584448"/>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Save towards a defined equipment target</a:t>
            </a:r>
          </a:p>
        </p:txBody>
      </p:sp>
      <p:sp>
        <p:nvSpPr>
          <p:cNvPr id="32" name="Oval 31"/>
          <p:cNvSpPr/>
          <p:nvPr/>
        </p:nvSpPr>
        <p:spPr>
          <a:xfrm>
            <a:off x="4410151" y="4035247"/>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81144" y="3986784"/>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Research 3D printing options properly</a:t>
            </a:r>
          </a:p>
        </p:txBody>
      </p:sp>
      <p:sp>
        <p:nvSpPr>
          <p:cNvPr id="34" name="Oval 33"/>
          <p:cNvSpPr/>
          <p:nvPr/>
        </p:nvSpPr>
        <p:spPr>
          <a:xfrm>
            <a:off x="4410151" y="4437583"/>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81144" y="4389120"/>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CAD and engineering design practice</a:t>
            </a:r>
          </a:p>
        </p:txBody>
      </p:sp>
      <p:sp>
        <p:nvSpPr>
          <p:cNvPr id="36" name="Oval 35"/>
          <p:cNvSpPr/>
          <p:nvPr/>
        </p:nvSpPr>
        <p:spPr>
          <a:xfrm>
            <a:off x="4410151" y="4839919"/>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81144" y="4791456"/>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More advanced, multi-part prototypes</a:t>
            </a:r>
          </a:p>
        </p:txBody>
      </p:sp>
      <p:sp>
        <p:nvSpPr>
          <p:cNvPr id="38" name="TextBox 37"/>
          <p:cNvSpPr txBox="1"/>
          <p:nvPr/>
        </p:nvSpPr>
        <p:spPr>
          <a:xfrm>
            <a:off x="4398264" y="5321808"/>
            <a:ext cx="3218688" cy="182880"/>
          </a:xfrm>
          <a:prstGeom prst="rect">
            <a:avLst/>
          </a:prstGeom>
          <a:noFill/>
        </p:spPr>
        <p:txBody>
          <a:bodyPr wrap="square" lIns="0" rIns="0" tIns="0" bIns="0" anchor="t">
            <a:spAutoFit/>
          </a:bodyPr>
          <a:lstStyle/>
          <a:p>
            <a:pPr algn="l">
              <a:lnSpc>
                <a:spcPct val="130000"/>
              </a:lnSpc>
            </a:pPr>
            <a:r>
              <a:rPr sz="680" b="1" spc="180">
                <a:solidFill>
                  <a:srgbClr val="617A9C"/>
                </a:solidFill>
                <a:latin typeface="Inter"/>
              </a:rPr>
              <a:t>FUND USE</a:t>
            </a:r>
          </a:p>
        </p:txBody>
      </p:sp>
      <p:sp>
        <p:nvSpPr>
          <p:cNvPr id="39" name="TextBox 38"/>
          <p:cNvSpPr txBox="1"/>
          <p:nvPr/>
        </p:nvSpPr>
        <p:spPr>
          <a:xfrm>
            <a:off x="4398264" y="5504688"/>
            <a:ext cx="3172968" cy="365760"/>
          </a:xfrm>
          <a:prstGeom prst="rect">
            <a:avLst/>
          </a:prstGeom>
          <a:noFill/>
        </p:spPr>
        <p:txBody>
          <a:bodyPr wrap="square" lIns="0" rIns="0" tIns="0" bIns="0" anchor="t">
            <a:spAutoFit/>
          </a:bodyPr>
          <a:lstStyle/>
          <a:p>
            <a:pPr algn="l">
              <a:lnSpc>
                <a:spcPct val="140000"/>
              </a:lnSpc>
            </a:pPr>
            <a:r>
              <a:rPr sz="860" b="0">
                <a:solidFill>
                  <a:srgbClr val="93A4BC"/>
                </a:solidFill>
                <a:latin typeface="Inter"/>
              </a:rPr>
              <a:t>3D printing research, filament, CAD tools</a:t>
            </a:r>
          </a:p>
        </p:txBody>
      </p:sp>
      <p:sp>
        <p:nvSpPr>
          <p:cNvPr id="40" name="Oval 39"/>
          <p:cNvSpPr/>
          <p:nvPr/>
        </p:nvSpPr>
        <p:spPr>
          <a:xfrm>
            <a:off x="8133588" y="2235708"/>
            <a:ext cx="393192" cy="393192"/>
          </a:xfrm>
          <a:prstGeom prst="ellipse">
            <a:avLst/>
          </a:prstGeom>
          <a:solidFill>
            <a:srgbClr val="050A14"/>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56448" y="2354580"/>
            <a:ext cx="347472" cy="182880"/>
          </a:xfrm>
          <a:prstGeom prst="rect">
            <a:avLst/>
          </a:prstGeom>
          <a:noFill/>
        </p:spPr>
        <p:txBody>
          <a:bodyPr wrap="square" lIns="0" rIns="0" tIns="0" bIns="0" anchor="t">
            <a:spAutoFit/>
          </a:bodyPr>
          <a:lstStyle/>
          <a:p>
            <a:pPr algn="ctr">
              <a:lnSpc>
                <a:spcPct val="130000"/>
              </a:lnSpc>
            </a:pPr>
            <a:r>
              <a:rPr sz="800" b="1">
                <a:solidFill>
                  <a:srgbClr val="22D3EE"/>
                </a:solidFill>
                <a:latin typeface="Inter"/>
              </a:rPr>
              <a:t>03</a:t>
            </a:r>
          </a:p>
        </p:txBody>
      </p:sp>
      <p:sp>
        <p:nvSpPr>
          <p:cNvPr id="42" name="TextBox 41"/>
          <p:cNvSpPr txBox="1"/>
          <p:nvPr/>
        </p:nvSpPr>
        <p:spPr>
          <a:xfrm>
            <a:off x="8110728" y="2734056"/>
            <a:ext cx="3218688" cy="329184"/>
          </a:xfrm>
          <a:prstGeom prst="rect">
            <a:avLst/>
          </a:prstGeom>
          <a:noFill/>
        </p:spPr>
        <p:txBody>
          <a:bodyPr wrap="square" lIns="0" rIns="0" tIns="0" bIns="0" anchor="t">
            <a:spAutoFit/>
          </a:bodyPr>
          <a:lstStyle/>
          <a:p>
            <a:pPr algn="l">
              <a:lnSpc>
                <a:spcPct val="130000"/>
              </a:lnSpc>
            </a:pPr>
            <a:r>
              <a:rPr sz="1750" b="1" spc="-50">
                <a:solidFill>
                  <a:srgbClr val="FFFFFF"/>
                </a:solidFill>
                <a:latin typeface="Inter"/>
              </a:rPr>
              <a:t>Advanced Development</a:t>
            </a:r>
          </a:p>
        </p:txBody>
      </p:sp>
      <p:sp>
        <p:nvSpPr>
          <p:cNvPr id="43" name="TextBox 42"/>
          <p:cNvSpPr txBox="1"/>
          <p:nvPr/>
        </p:nvSpPr>
        <p:spPr>
          <a:xfrm>
            <a:off x="8110728" y="3127248"/>
            <a:ext cx="3264408" cy="274320"/>
          </a:xfrm>
          <a:prstGeom prst="rect">
            <a:avLst/>
          </a:prstGeom>
          <a:noFill/>
        </p:spPr>
        <p:txBody>
          <a:bodyPr wrap="square" lIns="0" rIns="0" tIns="0" bIns="0" anchor="t">
            <a:spAutoFit/>
          </a:bodyPr>
          <a:lstStyle/>
          <a:p>
            <a:pPr algn="l">
              <a:lnSpc>
                <a:spcPct val="130000"/>
              </a:lnSpc>
            </a:pPr>
            <a:r>
              <a:rPr sz="940" b="0">
                <a:solidFill>
                  <a:srgbClr val="8FA2BC"/>
                </a:solidFill>
                <a:latin typeface="Inter"/>
              </a:rPr>
              <a:t>Work at the edge of my current level.</a:t>
            </a:r>
          </a:p>
        </p:txBody>
      </p:sp>
      <p:cxnSp>
        <p:nvCxnSpPr>
          <p:cNvPr id="44" name="Connector 43"/>
          <p:cNvCxnSpPr/>
          <p:nvPr/>
        </p:nvCxnSpPr>
        <p:spPr>
          <a:xfrm>
            <a:off x="8110728" y="3438144"/>
            <a:ext cx="3236976"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122615" y="3632911"/>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3608" y="3584448"/>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Work towards a capable laptop</a:t>
            </a:r>
          </a:p>
        </p:txBody>
      </p:sp>
      <p:sp>
        <p:nvSpPr>
          <p:cNvPr id="47" name="Oval 46"/>
          <p:cNvSpPr/>
          <p:nvPr/>
        </p:nvSpPr>
        <p:spPr>
          <a:xfrm>
            <a:off x="8122615" y="4035247"/>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93608" y="3986784"/>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Advanced AI and robotics projects</a:t>
            </a:r>
          </a:p>
        </p:txBody>
      </p:sp>
      <p:sp>
        <p:nvSpPr>
          <p:cNvPr id="49" name="Oval 48"/>
          <p:cNvSpPr/>
          <p:nvPr/>
        </p:nvSpPr>
        <p:spPr>
          <a:xfrm>
            <a:off x="8122615" y="4437583"/>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93608" y="4389120"/>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Larger, longer-running builds</a:t>
            </a:r>
          </a:p>
        </p:txBody>
      </p:sp>
      <p:sp>
        <p:nvSpPr>
          <p:cNvPr id="51" name="Oval 50"/>
          <p:cNvSpPr/>
          <p:nvPr/>
        </p:nvSpPr>
        <p:spPr>
          <a:xfrm>
            <a:off x="8122615" y="4839919"/>
            <a:ext cx="58522" cy="58522"/>
          </a:xfrm>
          <a:prstGeom prst="ellipse">
            <a:avLst/>
          </a:prstGeom>
          <a:solidFill>
            <a:srgbClr val="22D3EE">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93608" y="4791456"/>
            <a:ext cx="3054096" cy="365760"/>
          </a:xfrm>
          <a:prstGeom prst="rect">
            <a:avLst/>
          </a:prstGeom>
          <a:noFill/>
        </p:spPr>
        <p:txBody>
          <a:bodyPr wrap="square" lIns="0" rIns="0" tIns="0" bIns="0" anchor="t">
            <a:spAutoFit/>
          </a:bodyPr>
          <a:lstStyle/>
          <a:p>
            <a:pPr algn="l">
              <a:lnSpc>
                <a:spcPct val="140000"/>
              </a:lnSpc>
            </a:pPr>
            <a:r>
              <a:rPr sz="930" b="0">
                <a:solidFill>
                  <a:srgbClr val="C9D5E4"/>
                </a:solidFill>
                <a:latin typeface="Inter"/>
              </a:rPr>
              <a:t>Competitions and exhibitions</a:t>
            </a:r>
          </a:p>
        </p:txBody>
      </p:sp>
      <p:sp>
        <p:nvSpPr>
          <p:cNvPr id="53" name="TextBox 52"/>
          <p:cNvSpPr txBox="1"/>
          <p:nvPr/>
        </p:nvSpPr>
        <p:spPr>
          <a:xfrm>
            <a:off x="8110728" y="5321808"/>
            <a:ext cx="3218688" cy="182880"/>
          </a:xfrm>
          <a:prstGeom prst="rect">
            <a:avLst/>
          </a:prstGeom>
          <a:noFill/>
        </p:spPr>
        <p:txBody>
          <a:bodyPr wrap="square" lIns="0" rIns="0" tIns="0" bIns="0" anchor="t">
            <a:spAutoFit/>
          </a:bodyPr>
          <a:lstStyle/>
          <a:p>
            <a:pPr algn="l">
              <a:lnSpc>
                <a:spcPct val="130000"/>
              </a:lnSpc>
            </a:pPr>
            <a:r>
              <a:rPr sz="680" b="1" spc="180">
                <a:solidFill>
                  <a:srgbClr val="617A9C"/>
                </a:solidFill>
                <a:latin typeface="Inter"/>
              </a:rPr>
              <a:t>FUND USE</a:t>
            </a:r>
          </a:p>
        </p:txBody>
      </p:sp>
      <p:sp>
        <p:nvSpPr>
          <p:cNvPr id="54" name="TextBox 53"/>
          <p:cNvSpPr txBox="1"/>
          <p:nvPr/>
        </p:nvSpPr>
        <p:spPr>
          <a:xfrm>
            <a:off x="8110728" y="5504688"/>
            <a:ext cx="3172968" cy="365760"/>
          </a:xfrm>
          <a:prstGeom prst="rect">
            <a:avLst/>
          </a:prstGeom>
          <a:noFill/>
        </p:spPr>
        <p:txBody>
          <a:bodyPr wrap="square" lIns="0" rIns="0" tIns="0" bIns="0" anchor="t">
            <a:spAutoFit/>
          </a:bodyPr>
          <a:lstStyle/>
          <a:p>
            <a:pPr algn="l">
              <a:lnSpc>
                <a:spcPct val="140000"/>
              </a:lnSpc>
            </a:pPr>
            <a:r>
              <a:rPr sz="860" b="0">
                <a:solidFill>
                  <a:srgbClr val="93A4BC"/>
                </a:solidFill>
                <a:latin typeface="Inter"/>
              </a:rPr>
              <a:t>Laptop, advanced components, entry costs</a:t>
            </a:r>
          </a:p>
        </p:txBody>
      </p:sp>
      <p:cxnSp>
        <p:nvCxnSpPr>
          <p:cNvPr id="55" name="Connector 54"/>
          <p:cNvCxnSpPr/>
          <p:nvPr/>
        </p:nvCxnSpPr>
        <p:spPr>
          <a:xfrm>
            <a:off x="685800" y="6016752"/>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5800" y="6108192"/>
            <a:ext cx="10789920" cy="201168"/>
          </a:xfrm>
          <a:prstGeom prst="rect">
            <a:avLst/>
          </a:prstGeom>
          <a:noFill/>
        </p:spPr>
        <p:txBody>
          <a:bodyPr wrap="square" lIns="0" rIns="0" tIns="0" bIns="0" anchor="t">
            <a:spAutoFit/>
          </a:bodyPr>
          <a:lstStyle/>
          <a:p>
            <a:pPr algn="l">
              <a:lnSpc>
                <a:spcPct val="130000"/>
              </a:lnSpc>
            </a:pPr>
            <a:r>
              <a:rPr sz="819" b="0">
                <a:solidFill>
                  <a:srgbClr val="6C7F9B"/>
                </a:solidFill>
                <a:latin typeface="Inter"/>
              </a:rPr>
              <a:t>Nothing on this roadmap is date-promised. Each phase begins when the previous one is genuinely in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07 · ACCOUNTABILITY</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What I'm committing to, in writing.</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Four areas, reviewed with you each month and assessed formally at the end of the pilot.</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08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 y="2066544"/>
            <a:ext cx="2601468" cy="3054096"/>
          </a:xfrm>
          <a:prstGeom prst="roundRect">
            <a:avLst>
              <a:gd name="adj" fmla="val 4217"/>
            </a:avLst>
          </a:prstGeom>
          <a:solidFill>
            <a:srgbClr val="FFFFFF"/>
          </a:solidFill>
          <a:ln w="11430">
            <a:solidFill>
              <a:srgbClr val="E2E8F1"/>
            </a:solidFill>
          </a:ln>
          <a:effectLst>
            <a:outerShdw blurRad="201168" dist="54864"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23544" y="2286000"/>
            <a:ext cx="420624" cy="420624"/>
          </a:xfrm>
          <a:prstGeom prst="roundRect">
            <a:avLst>
              <a:gd name="adj" fmla="val 21739"/>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72043" y="2553371"/>
            <a:ext cx="126004"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72043" y="2434499"/>
            <a:ext cx="0" cy="118872"/>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83930" y="2497501"/>
            <a:ext cx="19020" cy="35662"/>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14836" y="2465405"/>
            <a:ext cx="19020" cy="57059"/>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45743" y="2426178"/>
            <a:ext cx="19020" cy="83210"/>
          </a:xfrm>
          <a:prstGeom prst="roundRect">
            <a:avLst>
              <a:gd name="adj" fmla="val 12500"/>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2322576"/>
            <a:ext cx="475488" cy="182880"/>
          </a:xfrm>
          <a:prstGeom prst="rect">
            <a:avLst/>
          </a:prstGeom>
          <a:noFill/>
        </p:spPr>
        <p:txBody>
          <a:bodyPr wrap="square" lIns="0" rIns="0" tIns="0" bIns="0" anchor="t">
            <a:spAutoFit/>
          </a:bodyPr>
          <a:lstStyle/>
          <a:p>
            <a:pPr algn="r">
              <a:lnSpc>
                <a:spcPct val="130000"/>
              </a:lnSpc>
            </a:pPr>
            <a:r>
              <a:rPr sz="800" b="1" spc="120">
                <a:solidFill>
                  <a:srgbClr val="C3CEE0"/>
                </a:solidFill>
                <a:latin typeface="Inter"/>
              </a:rPr>
              <a:t>01</a:t>
            </a:r>
          </a:p>
        </p:txBody>
      </p:sp>
      <p:sp>
        <p:nvSpPr>
          <p:cNvPr id="15" name="TextBox 14"/>
          <p:cNvSpPr txBox="1"/>
          <p:nvPr/>
        </p:nvSpPr>
        <p:spPr>
          <a:xfrm>
            <a:off x="923544" y="2852928"/>
            <a:ext cx="2144268" cy="548640"/>
          </a:xfrm>
          <a:prstGeom prst="rect">
            <a:avLst/>
          </a:prstGeom>
          <a:noFill/>
        </p:spPr>
        <p:txBody>
          <a:bodyPr wrap="square" lIns="0" rIns="0" tIns="0" bIns="0" anchor="t">
            <a:spAutoFit/>
          </a:bodyPr>
          <a:lstStyle/>
          <a:p>
            <a:pPr algn="l">
              <a:lnSpc>
                <a:spcPct val="128000"/>
              </a:lnSpc>
            </a:pPr>
            <a:r>
              <a:rPr sz="1160" b="1">
                <a:solidFill>
                  <a:srgbClr val="0A1322"/>
                </a:solidFill>
                <a:latin typeface="Inter"/>
              </a:rPr>
              <a:t>Academic
performance</a:t>
            </a:r>
          </a:p>
        </p:txBody>
      </p:sp>
      <p:cxnSp>
        <p:nvCxnSpPr>
          <p:cNvPr id="16" name="Connector 15"/>
          <p:cNvCxnSpPr/>
          <p:nvPr/>
        </p:nvCxnSpPr>
        <p:spPr>
          <a:xfrm>
            <a:off x="923544" y="3511296"/>
            <a:ext cx="2125980"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32688" y="3707892"/>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3639312"/>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Consistent results across subjects</a:t>
            </a:r>
          </a:p>
        </p:txBody>
      </p:sp>
      <p:sp>
        <p:nvSpPr>
          <p:cNvPr id="19" name="Rectangle 18"/>
          <p:cNvSpPr/>
          <p:nvPr/>
        </p:nvSpPr>
        <p:spPr>
          <a:xfrm>
            <a:off x="932688" y="4091940"/>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4023360"/>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Assignments completed on time</a:t>
            </a:r>
          </a:p>
        </p:txBody>
      </p:sp>
      <p:sp>
        <p:nvSpPr>
          <p:cNvPr id="21" name="Rectangle 20"/>
          <p:cNvSpPr/>
          <p:nvPr/>
        </p:nvSpPr>
        <p:spPr>
          <a:xfrm>
            <a:off x="932688" y="4475988"/>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407408"/>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Visible improvement over the term</a:t>
            </a:r>
          </a:p>
        </p:txBody>
      </p:sp>
      <p:sp>
        <p:nvSpPr>
          <p:cNvPr id="23" name="Rectangle 22"/>
          <p:cNvSpPr/>
          <p:nvPr/>
        </p:nvSpPr>
        <p:spPr>
          <a:xfrm>
            <a:off x="932688" y="4860036"/>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424" y="4791456"/>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A steady revision routine</a:t>
            </a:r>
          </a:p>
        </p:txBody>
      </p:sp>
      <p:sp>
        <p:nvSpPr>
          <p:cNvPr id="25" name="Rounded Rectangle 24"/>
          <p:cNvSpPr/>
          <p:nvPr/>
        </p:nvSpPr>
        <p:spPr>
          <a:xfrm>
            <a:off x="3424428" y="2066544"/>
            <a:ext cx="2601468" cy="3054096"/>
          </a:xfrm>
          <a:prstGeom prst="roundRect">
            <a:avLst>
              <a:gd name="adj" fmla="val 4217"/>
            </a:avLst>
          </a:prstGeom>
          <a:solidFill>
            <a:srgbClr val="FFFFFF"/>
          </a:solidFill>
          <a:ln w="11430">
            <a:solidFill>
              <a:srgbClr val="E2E8F1"/>
            </a:solidFill>
          </a:ln>
          <a:effectLst>
            <a:outerShdw blurRad="201168" dist="54864"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662172" y="2286000"/>
            <a:ext cx="420624" cy="420624"/>
          </a:xfrm>
          <a:prstGeom prst="roundRect">
            <a:avLst>
              <a:gd name="adj" fmla="val 21739"/>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827313" y="2451141"/>
            <a:ext cx="42794" cy="42794"/>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3657600" y="2743200"/>
            <a:ext cx="0" cy="0"/>
          </a:xfrm>
          <a:custGeom>
            <a:avLst/>
            <a:gdLst/>
            <a:ahLst/>
            <a:cxnLst/>
            <a:rect l="l" t="t" r="r" b="b"/>
            <a:pathLst>
              <a:path w="0" h="0">
                <a:moveTo>
                  <a:pt x="0" y="0"/>
                </a:moveTo>
                <a:lnTo>
                  <a:pt x="0" y="0"/>
                </a:lnTo>
                <a:lnTo>
                  <a:pt x="0" y="0"/>
                </a:lnTo>
                <a:lnTo>
                  <a:pt x="0" y="0"/>
                </a:lnTo>
                <a:lnTo>
                  <a:pt x="0" y="0"/>
                </a:lnTo>
              </a:path>
            </a:pathLst>
          </a:cu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893881" y="2448763"/>
            <a:ext cx="33284" cy="33284"/>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3657600" y="2743200"/>
            <a:ext cx="0" cy="0"/>
          </a:xfrm>
          <a:custGeom>
            <a:avLst/>
            <a:gdLst/>
            <a:ahLst/>
            <a:cxnLst/>
            <a:rect l="l" t="t" r="r" b="b"/>
            <a:pathLst>
              <a:path w="0" h="0">
                <a:moveTo>
                  <a:pt x="0" y="0"/>
                </a:moveTo>
                <a:lnTo>
                  <a:pt x="0" y="0"/>
                </a:lnTo>
                <a:lnTo>
                  <a:pt x="0" y="0"/>
                </a:lnTo>
                <a:lnTo>
                  <a:pt x="0" y="0"/>
                </a:lnTo>
              </a:path>
            </a:pathLst>
          </a:cu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4668" y="2322576"/>
            <a:ext cx="475488" cy="182880"/>
          </a:xfrm>
          <a:prstGeom prst="rect">
            <a:avLst/>
          </a:prstGeom>
          <a:noFill/>
        </p:spPr>
        <p:txBody>
          <a:bodyPr wrap="square" lIns="0" rIns="0" tIns="0" bIns="0" anchor="t">
            <a:spAutoFit/>
          </a:bodyPr>
          <a:lstStyle/>
          <a:p>
            <a:pPr algn="r">
              <a:lnSpc>
                <a:spcPct val="130000"/>
              </a:lnSpc>
            </a:pPr>
            <a:r>
              <a:rPr sz="800" b="1" spc="120">
                <a:solidFill>
                  <a:srgbClr val="C3CEE0"/>
                </a:solidFill>
                <a:latin typeface="Inter"/>
              </a:rPr>
              <a:t>02</a:t>
            </a:r>
          </a:p>
        </p:txBody>
      </p:sp>
      <p:sp>
        <p:nvSpPr>
          <p:cNvPr id="32" name="TextBox 31"/>
          <p:cNvSpPr txBox="1"/>
          <p:nvPr/>
        </p:nvSpPr>
        <p:spPr>
          <a:xfrm>
            <a:off x="3662172" y="2852928"/>
            <a:ext cx="2144268" cy="548640"/>
          </a:xfrm>
          <a:prstGeom prst="rect">
            <a:avLst/>
          </a:prstGeom>
          <a:noFill/>
        </p:spPr>
        <p:txBody>
          <a:bodyPr wrap="square" lIns="0" rIns="0" tIns="0" bIns="0" anchor="t">
            <a:spAutoFit/>
          </a:bodyPr>
          <a:lstStyle/>
          <a:p>
            <a:pPr algn="l">
              <a:lnSpc>
                <a:spcPct val="128000"/>
              </a:lnSpc>
            </a:pPr>
            <a:r>
              <a:rPr sz="1160" b="1">
                <a:solidFill>
                  <a:srgbClr val="0A1322"/>
                </a:solidFill>
                <a:latin typeface="Inter"/>
              </a:rPr>
              <a:t>School
responsibilities</a:t>
            </a:r>
          </a:p>
        </p:txBody>
      </p:sp>
      <p:cxnSp>
        <p:nvCxnSpPr>
          <p:cNvPr id="33" name="Connector 32"/>
          <p:cNvCxnSpPr/>
          <p:nvPr/>
        </p:nvCxnSpPr>
        <p:spPr>
          <a:xfrm>
            <a:off x="3662172" y="3511296"/>
            <a:ext cx="2125980"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671316" y="3707892"/>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5052" y="3639312"/>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Fulfil Emerald Vice Captain duties</a:t>
            </a:r>
          </a:p>
        </p:txBody>
      </p:sp>
      <p:sp>
        <p:nvSpPr>
          <p:cNvPr id="36" name="Rectangle 35"/>
          <p:cNvSpPr/>
          <p:nvPr/>
        </p:nvSpPr>
        <p:spPr>
          <a:xfrm>
            <a:off x="3671316" y="4091940"/>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5052" y="4023360"/>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Take an active part in school events</a:t>
            </a:r>
          </a:p>
        </p:txBody>
      </p:sp>
      <p:sp>
        <p:nvSpPr>
          <p:cNvPr id="38" name="Rectangle 37"/>
          <p:cNvSpPr/>
          <p:nvPr/>
        </p:nvSpPr>
        <p:spPr>
          <a:xfrm>
            <a:off x="3671316" y="4475988"/>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5052" y="4407408"/>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Reliable, visible leadership</a:t>
            </a:r>
          </a:p>
        </p:txBody>
      </p:sp>
      <p:sp>
        <p:nvSpPr>
          <p:cNvPr id="40" name="Rectangle 39"/>
          <p:cNvSpPr/>
          <p:nvPr/>
        </p:nvSpPr>
        <p:spPr>
          <a:xfrm>
            <a:off x="3671316" y="4860036"/>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45052" y="4791456"/>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Represent the house properly</a:t>
            </a:r>
          </a:p>
        </p:txBody>
      </p:sp>
      <p:sp>
        <p:nvSpPr>
          <p:cNvPr id="42" name="Rounded Rectangle 41"/>
          <p:cNvSpPr/>
          <p:nvPr/>
        </p:nvSpPr>
        <p:spPr>
          <a:xfrm>
            <a:off x="6163056" y="2066544"/>
            <a:ext cx="2601468" cy="3054096"/>
          </a:xfrm>
          <a:prstGeom prst="roundRect">
            <a:avLst>
              <a:gd name="adj" fmla="val 4217"/>
            </a:avLst>
          </a:prstGeom>
          <a:solidFill>
            <a:srgbClr val="FFFFFF"/>
          </a:solidFill>
          <a:ln w="11430">
            <a:solidFill>
              <a:srgbClr val="E2E8F1"/>
            </a:solidFill>
          </a:ln>
          <a:effectLst>
            <a:outerShdw blurRad="201168" dist="54864"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0800" y="2286000"/>
            <a:ext cx="420624" cy="420624"/>
          </a:xfrm>
          <a:prstGeom prst="roundRect">
            <a:avLst>
              <a:gd name="adj" fmla="val 21739"/>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559997" y="2465405"/>
            <a:ext cx="102230" cy="71323"/>
          </a:xfrm>
          <a:prstGeom prst="roundRect">
            <a:avLst>
              <a:gd name="adj" fmla="val 16666"/>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6559997" y="2484425"/>
            <a:ext cx="102230" cy="0"/>
          </a:xfrm>
          <a:prstGeom prst="line">
            <a:avLst/>
          </a:prstGeom>
          <a:ln w="16002">
            <a:solidFill>
              <a:srgbClr val="1D4ED8"/>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628943" y="2497501"/>
            <a:ext cx="21397" cy="21397"/>
          </a:xfrm>
          <a:prstGeom prst="ellipse">
            <a:avLst/>
          </a:prstGeom>
          <a:noFill/>
          <a:ln w="16002">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6575450" y="2460650"/>
            <a:ext cx="47549" cy="0"/>
          </a:xfrm>
          <a:prstGeom prst="line">
            <a:avLst/>
          </a:prstGeom>
          <a:ln w="15113">
            <a:solidFill>
              <a:srgbClr val="1D4ED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083296" y="2322576"/>
            <a:ext cx="475488" cy="182880"/>
          </a:xfrm>
          <a:prstGeom prst="rect">
            <a:avLst/>
          </a:prstGeom>
          <a:noFill/>
        </p:spPr>
        <p:txBody>
          <a:bodyPr wrap="square" lIns="0" rIns="0" tIns="0" bIns="0" anchor="t">
            <a:spAutoFit/>
          </a:bodyPr>
          <a:lstStyle/>
          <a:p>
            <a:pPr algn="r">
              <a:lnSpc>
                <a:spcPct val="130000"/>
              </a:lnSpc>
            </a:pPr>
            <a:r>
              <a:rPr sz="800" b="1" spc="120">
                <a:solidFill>
                  <a:srgbClr val="C3CEE0"/>
                </a:solidFill>
                <a:latin typeface="Inter"/>
              </a:rPr>
              <a:t>03</a:t>
            </a:r>
          </a:p>
        </p:txBody>
      </p:sp>
      <p:sp>
        <p:nvSpPr>
          <p:cNvPr id="49" name="TextBox 48"/>
          <p:cNvSpPr txBox="1"/>
          <p:nvPr/>
        </p:nvSpPr>
        <p:spPr>
          <a:xfrm>
            <a:off x="6400800" y="2852928"/>
            <a:ext cx="2144268" cy="548640"/>
          </a:xfrm>
          <a:prstGeom prst="rect">
            <a:avLst/>
          </a:prstGeom>
          <a:noFill/>
        </p:spPr>
        <p:txBody>
          <a:bodyPr wrap="square" lIns="0" rIns="0" tIns="0" bIns="0" anchor="t">
            <a:spAutoFit/>
          </a:bodyPr>
          <a:lstStyle/>
          <a:p>
            <a:pPr algn="l">
              <a:lnSpc>
                <a:spcPct val="128000"/>
              </a:lnSpc>
            </a:pPr>
            <a:r>
              <a:rPr sz="1160" b="1">
                <a:solidFill>
                  <a:srgbClr val="0A1322"/>
                </a:solidFill>
                <a:latin typeface="Inter"/>
              </a:rPr>
              <a:t>Household
responsibilities</a:t>
            </a:r>
          </a:p>
        </p:txBody>
      </p:sp>
      <p:cxnSp>
        <p:nvCxnSpPr>
          <p:cNvPr id="50" name="Connector 49"/>
          <p:cNvCxnSpPr/>
          <p:nvPr/>
        </p:nvCxnSpPr>
        <p:spPr>
          <a:xfrm>
            <a:off x="6400800" y="3511296"/>
            <a:ext cx="2125980"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409944" y="3707892"/>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3639312"/>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Agreed weekly responsibilities</a:t>
            </a:r>
          </a:p>
        </p:txBody>
      </p:sp>
      <p:sp>
        <p:nvSpPr>
          <p:cNvPr id="53" name="Rectangle 52"/>
          <p:cNvSpPr/>
          <p:nvPr/>
        </p:nvSpPr>
        <p:spPr>
          <a:xfrm>
            <a:off x="6409944" y="4091940"/>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3680" y="4023360"/>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Follow-through without reminders</a:t>
            </a:r>
          </a:p>
        </p:txBody>
      </p:sp>
      <p:sp>
        <p:nvSpPr>
          <p:cNvPr id="55" name="Rectangle 54"/>
          <p:cNvSpPr/>
          <p:nvPr/>
        </p:nvSpPr>
        <p:spPr>
          <a:xfrm>
            <a:off x="6409944" y="4475988"/>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4407408"/>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Cooperation with family plans</a:t>
            </a:r>
          </a:p>
        </p:txBody>
      </p:sp>
      <p:sp>
        <p:nvSpPr>
          <p:cNvPr id="57" name="Rectangle 56"/>
          <p:cNvSpPr/>
          <p:nvPr/>
        </p:nvSpPr>
        <p:spPr>
          <a:xfrm>
            <a:off x="6409944" y="4860036"/>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0" y="4791456"/>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Help when it is needed</a:t>
            </a:r>
          </a:p>
        </p:txBody>
      </p:sp>
      <p:sp>
        <p:nvSpPr>
          <p:cNvPr id="59" name="Rounded Rectangle 58"/>
          <p:cNvSpPr/>
          <p:nvPr/>
        </p:nvSpPr>
        <p:spPr>
          <a:xfrm>
            <a:off x="8901684" y="2066544"/>
            <a:ext cx="2601468" cy="3054096"/>
          </a:xfrm>
          <a:prstGeom prst="roundRect">
            <a:avLst>
              <a:gd name="adj" fmla="val 4217"/>
            </a:avLst>
          </a:prstGeom>
          <a:solidFill>
            <a:srgbClr val="FFFFFF"/>
          </a:solidFill>
          <a:ln w="11430">
            <a:solidFill>
              <a:srgbClr val="E2E8F1"/>
            </a:solidFill>
          </a:ln>
          <a:effectLst>
            <a:outerShdw blurRad="201168" dist="54864"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139428" y="2286000"/>
            <a:ext cx="420624" cy="420624"/>
          </a:xfrm>
          <a:prstGeom prst="roundRect">
            <a:avLst>
              <a:gd name="adj" fmla="val 21739"/>
            </a:avLst>
          </a:prstGeom>
          <a:solidFill>
            <a:srgbClr val="ED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90304" y="2436876"/>
            <a:ext cx="118872" cy="118872"/>
          </a:xfrm>
          <a:prstGeom prst="ellipse">
            <a:avLst/>
          </a:prstGeom>
          <a:no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flipV="1">
            <a:off x="9349740" y="2463028"/>
            <a:ext cx="0" cy="38039"/>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349740" y="2501067"/>
            <a:ext cx="30907" cy="14265"/>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0821924" y="2322576"/>
            <a:ext cx="475488" cy="182880"/>
          </a:xfrm>
          <a:prstGeom prst="rect">
            <a:avLst/>
          </a:prstGeom>
          <a:noFill/>
        </p:spPr>
        <p:txBody>
          <a:bodyPr wrap="square" lIns="0" rIns="0" tIns="0" bIns="0" anchor="t">
            <a:spAutoFit/>
          </a:bodyPr>
          <a:lstStyle/>
          <a:p>
            <a:pPr algn="r">
              <a:lnSpc>
                <a:spcPct val="130000"/>
              </a:lnSpc>
            </a:pPr>
            <a:r>
              <a:rPr sz="800" b="1" spc="120">
                <a:solidFill>
                  <a:srgbClr val="C3CEE0"/>
                </a:solidFill>
                <a:latin typeface="Inter"/>
              </a:rPr>
              <a:t>04</a:t>
            </a:r>
          </a:p>
        </p:txBody>
      </p:sp>
      <p:sp>
        <p:nvSpPr>
          <p:cNvPr id="65" name="TextBox 64"/>
          <p:cNvSpPr txBox="1"/>
          <p:nvPr/>
        </p:nvSpPr>
        <p:spPr>
          <a:xfrm>
            <a:off x="9139428" y="2852928"/>
            <a:ext cx="2144268" cy="548640"/>
          </a:xfrm>
          <a:prstGeom prst="rect">
            <a:avLst/>
          </a:prstGeom>
          <a:noFill/>
        </p:spPr>
        <p:txBody>
          <a:bodyPr wrap="square" lIns="0" rIns="0" tIns="0" bIns="0" anchor="t">
            <a:spAutoFit/>
          </a:bodyPr>
          <a:lstStyle/>
          <a:p>
            <a:pPr algn="l">
              <a:lnSpc>
                <a:spcPct val="128000"/>
              </a:lnSpc>
            </a:pPr>
            <a:r>
              <a:rPr sz="1160" b="1">
                <a:solidFill>
                  <a:srgbClr val="0A1322"/>
                </a:solidFill>
                <a:latin typeface="Inter"/>
              </a:rPr>
              <a:t>Personal
discipline</a:t>
            </a:r>
          </a:p>
        </p:txBody>
      </p:sp>
      <p:cxnSp>
        <p:nvCxnSpPr>
          <p:cNvPr id="66" name="Connector 65"/>
          <p:cNvCxnSpPr/>
          <p:nvPr/>
        </p:nvCxnSpPr>
        <p:spPr>
          <a:xfrm>
            <a:off x="9139428" y="3511296"/>
            <a:ext cx="2125980"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148572" y="3707892"/>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322308" y="3639312"/>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Time managed around deadlines</a:t>
            </a:r>
          </a:p>
        </p:txBody>
      </p:sp>
      <p:sp>
        <p:nvSpPr>
          <p:cNvPr id="69" name="Rectangle 68"/>
          <p:cNvSpPr/>
          <p:nvPr/>
        </p:nvSpPr>
        <p:spPr>
          <a:xfrm>
            <a:off x="9148572" y="4091940"/>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322308" y="4023360"/>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Academics and projects balanced</a:t>
            </a:r>
          </a:p>
        </p:txBody>
      </p:sp>
      <p:sp>
        <p:nvSpPr>
          <p:cNvPr id="71" name="Rectangle 70"/>
          <p:cNvSpPr/>
          <p:nvPr/>
        </p:nvSpPr>
        <p:spPr>
          <a:xfrm>
            <a:off x="9148572" y="4475988"/>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22308" y="4407408"/>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Technology used purposefully</a:t>
            </a:r>
          </a:p>
        </p:txBody>
      </p:sp>
      <p:sp>
        <p:nvSpPr>
          <p:cNvPr id="73" name="Rectangle 72"/>
          <p:cNvSpPr/>
          <p:nvPr/>
        </p:nvSpPr>
        <p:spPr>
          <a:xfrm>
            <a:off x="9148572" y="4860036"/>
            <a:ext cx="82296" cy="27432"/>
          </a:xfrm>
          <a:prstGeom prst="rect">
            <a:avLst/>
          </a:prstGeom>
          <a:solidFill>
            <a:srgbClr val="12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22308" y="4791456"/>
            <a:ext cx="1943100" cy="365760"/>
          </a:xfrm>
          <a:prstGeom prst="rect">
            <a:avLst/>
          </a:prstGeom>
          <a:noFill/>
        </p:spPr>
        <p:txBody>
          <a:bodyPr wrap="square" lIns="0" rIns="0" tIns="0" bIns="0" anchor="t">
            <a:spAutoFit/>
          </a:bodyPr>
          <a:lstStyle/>
          <a:p>
            <a:pPr algn="l">
              <a:lnSpc>
                <a:spcPct val="140000"/>
              </a:lnSpc>
            </a:pPr>
            <a:r>
              <a:rPr sz="869" b="0">
                <a:solidFill>
                  <a:srgbClr val="4E5F78"/>
                </a:solidFill>
                <a:latin typeface="Inter"/>
              </a:rPr>
              <a:t>Consistency in personal goals</a:t>
            </a:r>
          </a:p>
        </p:txBody>
      </p:sp>
      <p:sp>
        <p:nvSpPr>
          <p:cNvPr id="75" name="Rounded Rectangle 74"/>
          <p:cNvSpPr/>
          <p:nvPr/>
        </p:nvSpPr>
        <p:spPr>
          <a:xfrm>
            <a:off x="685800" y="5413248"/>
            <a:ext cx="10817352" cy="713232"/>
          </a:xfrm>
          <a:prstGeom prst="roundRect">
            <a:avLst>
              <a:gd name="adj" fmla="val 12820"/>
            </a:avLst>
          </a:prstGeom>
          <a:solidFill>
            <a:srgbClr val="070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14400" y="5486400"/>
            <a:ext cx="0" cy="0"/>
          </a:xfrm>
          <a:custGeom>
            <a:avLst/>
            <a:gdLst/>
            <a:ahLst/>
            <a:cxnLst/>
            <a:rect l="l" t="t" r="r" b="b"/>
            <a:pathLst>
              <a:path w="0" h="0">
                <a:moveTo>
                  <a:pt x="0" y="0"/>
                </a:moveTo>
                <a:lnTo>
                  <a:pt x="0" y="0"/>
                </a:lnTo>
                <a:lnTo>
                  <a:pt x="0" y="0"/>
                </a:lnTo>
                <a:lnTo>
                  <a:pt x="0" y="0"/>
                </a:lnTo>
                <a:lnTo>
                  <a:pt x="0" y="0"/>
                </a:lnTo>
                <a:lnTo>
                  <a:pt x="0" y="0"/>
                </a:lnTo>
                <a:close/>
              </a:path>
            </a:pathLst>
          </a:custGeom>
          <a:noFill/>
          <a:ln w="1778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914400" y="5486400"/>
            <a:ext cx="0" cy="0"/>
          </a:xfrm>
          <a:custGeom>
            <a:avLst/>
            <a:gdLst/>
            <a:ahLst/>
            <a:cxnLst/>
            <a:rect l="l" t="t" r="r" b="b"/>
            <a:pathLst>
              <a:path w="0" h="0">
                <a:moveTo>
                  <a:pt x="0" y="0"/>
                </a:moveTo>
                <a:lnTo>
                  <a:pt x="0" y="0"/>
                </a:lnTo>
                <a:lnTo>
                  <a:pt x="0" y="0"/>
                </a:lnTo>
              </a:path>
            </a:pathLst>
          </a:custGeom>
          <a:noFill/>
          <a:ln w="19558">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371600" y="5577840"/>
            <a:ext cx="9966960" cy="182880"/>
          </a:xfrm>
          <a:prstGeom prst="rect">
            <a:avLst/>
          </a:prstGeom>
          <a:noFill/>
        </p:spPr>
        <p:txBody>
          <a:bodyPr wrap="square" lIns="0" rIns="0" tIns="0" bIns="0" anchor="t">
            <a:spAutoFit/>
          </a:bodyPr>
          <a:lstStyle/>
          <a:p>
            <a:pPr algn="l">
              <a:lnSpc>
                <a:spcPct val="130000"/>
              </a:lnSpc>
            </a:pPr>
            <a:r>
              <a:rPr sz="690" b="1" spc="210">
                <a:solidFill>
                  <a:srgbClr val="22D3EE"/>
                </a:solidFill>
                <a:latin typeface="Inter"/>
              </a:rPr>
              <a:t>HOW ACADEMIC PROGRESS WILL BE JUDGED</a:t>
            </a:r>
          </a:p>
        </p:txBody>
      </p:sp>
      <p:sp>
        <p:nvSpPr>
          <p:cNvPr id="79" name="TextBox 78"/>
          <p:cNvSpPr txBox="1"/>
          <p:nvPr/>
        </p:nvSpPr>
        <p:spPr>
          <a:xfrm>
            <a:off x="1371600" y="5779008"/>
            <a:ext cx="9966960" cy="219456"/>
          </a:xfrm>
          <a:prstGeom prst="rect">
            <a:avLst/>
          </a:prstGeom>
          <a:noFill/>
        </p:spPr>
        <p:txBody>
          <a:bodyPr wrap="square" lIns="0" rIns="0" tIns="0" bIns="0" anchor="t">
            <a:spAutoFit/>
          </a:bodyPr>
          <a:lstStyle/>
          <a:p>
            <a:pPr algn="l">
              <a:lnSpc>
                <a:spcPct val="130000"/>
              </a:lnSpc>
            </a:pPr>
            <a:r>
              <a:rPr sz="960" b="0">
                <a:solidFill>
                  <a:srgbClr val="D5DEEA"/>
                </a:solidFill>
                <a:latin typeface="Inter"/>
              </a:rPr>
              <a:t>On consistency, effort and progress over the term — not on a single examination mark.</a:t>
            </a:r>
          </a:p>
        </p:txBody>
      </p:sp>
      <p:cxnSp>
        <p:nvCxnSpPr>
          <p:cNvPr id="80" name="Connector 79"/>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82" name="TextBox 81"/>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83" name="TextBox 82"/>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84" name="TextBox 83"/>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Oval 1"/>
          <p:cNvSpPr/>
          <p:nvPr/>
        </p:nvSpPr>
        <p:spPr>
          <a:xfrm>
            <a:off x="-4937760" y="-5669280"/>
            <a:ext cx="11704320" cy="11704320"/>
          </a:xfrm>
          <a:prstGeom prst="ellipse">
            <a:avLst/>
          </a:prstGeom>
          <a:gradFill rotWithShape="1">
            <a:gsLst>
              <a:gs pos="0">
                <a:srgbClr val="0E3A52">
                  <a:alpha val="26000"/>
                </a:srgbClr>
              </a:gs>
              <a:gs pos="50000">
                <a:srgbClr val="08243A">
                  <a:alpha val="10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22D3EE"/>
                </a:solidFill>
                <a:latin typeface="Inter"/>
              </a:rPr>
              <a:t>08 · TRANSPARENCY</a:t>
            </a:r>
          </a:p>
        </p:txBody>
      </p:sp>
      <p:sp>
        <p:nvSpPr>
          <p:cNvPr id="4" name="TextBox 3"/>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FFFFFF"/>
                </a:solidFill>
                <a:latin typeface="Inter"/>
              </a:rPr>
              <a:t>You see every rupee, every month.</a:t>
            </a:r>
          </a:p>
        </p:txBody>
      </p:sp>
      <p:sp>
        <p:nvSpPr>
          <p:cNvPr id="5" name="TextBox 4"/>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A9B7CC"/>
                </a:solidFill>
                <a:latin typeface="Inter"/>
              </a:rPr>
              <a:t>One ledger, kept current, open to both of you at any time.</a:t>
            </a:r>
          </a:p>
        </p:txBody>
      </p:sp>
      <p:sp>
        <p:nvSpPr>
          <p:cNvPr id="6" name="TextBox 5"/>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5D6F8C"/>
                </a:solidFill>
                <a:latin typeface="Inter"/>
              </a:rPr>
              <a:t>09 / 13</a:t>
            </a:r>
          </a:p>
        </p:txBody>
      </p:sp>
      <p:cxnSp>
        <p:nvCxnSpPr>
          <p:cNvPr id="7" name="Connector 6"/>
          <p:cNvCxnSpPr/>
          <p:nvPr/>
        </p:nvCxnSpPr>
        <p:spPr>
          <a:xfrm>
            <a:off x="685800" y="1920240"/>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03120"/>
            <a:ext cx="2066544" cy="877824"/>
          </a:xfrm>
          <a:prstGeom prst="roundRect">
            <a:avLst>
              <a:gd name="adj" fmla="val 9375"/>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31136"/>
            <a:ext cx="1737360" cy="164592"/>
          </a:xfrm>
          <a:prstGeom prst="rect">
            <a:avLst/>
          </a:prstGeom>
          <a:noFill/>
        </p:spPr>
        <p:txBody>
          <a:bodyPr wrap="square" lIns="0" rIns="0" tIns="0" bIns="0" anchor="t">
            <a:spAutoFit/>
          </a:bodyPr>
          <a:lstStyle/>
          <a:p>
            <a:pPr algn="l">
              <a:lnSpc>
                <a:spcPct val="130000"/>
              </a:lnSpc>
            </a:pPr>
            <a:r>
              <a:rPr sz="640" b="1" spc="150">
                <a:solidFill>
                  <a:srgbClr val="6F86A8"/>
                </a:solidFill>
                <a:latin typeface="Inter"/>
              </a:rPr>
              <a:t>CONTRIBUTIONS TO DATE</a:t>
            </a:r>
          </a:p>
        </p:txBody>
      </p:sp>
      <p:sp>
        <p:nvSpPr>
          <p:cNvPr id="10" name="TextBox 9"/>
          <p:cNvSpPr txBox="1"/>
          <p:nvPr/>
        </p:nvSpPr>
        <p:spPr>
          <a:xfrm>
            <a:off x="868680" y="2395728"/>
            <a:ext cx="1737360" cy="310896"/>
          </a:xfrm>
          <a:prstGeom prst="rect">
            <a:avLst/>
          </a:prstGeom>
          <a:noFill/>
        </p:spPr>
        <p:txBody>
          <a:bodyPr wrap="square" lIns="0" rIns="0" tIns="0" bIns="0" anchor="t">
            <a:spAutoFit/>
          </a:bodyPr>
          <a:lstStyle/>
          <a:p>
            <a:pPr algn="l">
              <a:lnSpc>
                <a:spcPct val="130000"/>
              </a:lnSpc>
            </a:pPr>
            <a:r>
              <a:rPr sz="1650" b="1" spc="-40">
                <a:solidFill>
                  <a:srgbClr val="FFFFFF"/>
                </a:solidFill>
                <a:latin typeface="Inter"/>
              </a:rPr>
              <a:t>₹6,000</a:t>
            </a:r>
          </a:p>
        </p:txBody>
      </p:sp>
      <p:sp>
        <p:nvSpPr>
          <p:cNvPr id="11" name="TextBox 10"/>
          <p:cNvSpPr txBox="1"/>
          <p:nvPr/>
        </p:nvSpPr>
        <p:spPr>
          <a:xfrm>
            <a:off x="868680" y="2734056"/>
            <a:ext cx="1737360" cy="164592"/>
          </a:xfrm>
          <a:prstGeom prst="rect">
            <a:avLst/>
          </a:prstGeom>
          <a:noFill/>
        </p:spPr>
        <p:txBody>
          <a:bodyPr wrap="square" lIns="0" rIns="0" tIns="0" bIns="0" anchor="t">
            <a:spAutoFit/>
          </a:bodyPr>
          <a:lstStyle/>
          <a:p>
            <a:pPr algn="l">
              <a:lnSpc>
                <a:spcPct val="130000"/>
              </a:lnSpc>
            </a:pPr>
            <a:r>
              <a:rPr sz="700" b="0">
                <a:solidFill>
                  <a:srgbClr val="6C8099"/>
                </a:solidFill>
                <a:latin typeface="Inter"/>
              </a:rPr>
              <a:t>3 × ₹2,000</a:t>
            </a:r>
          </a:p>
        </p:txBody>
      </p:sp>
      <p:sp>
        <p:nvSpPr>
          <p:cNvPr id="12" name="Rounded Rectangle 11"/>
          <p:cNvSpPr/>
          <p:nvPr/>
        </p:nvSpPr>
        <p:spPr>
          <a:xfrm>
            <a:off x="2880360" y="2103120"/>
            <a:ext cx="2066544" cy="877824"/>
          </a:xfrm>
          <a:prstGeom prst="roundRect">
            <a:avLst>
              <a:gd name="adj" fmla="val 9375"/>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2231136"/>
            <a:ext cx="1737360" cy="164592"/>
          </a:xfrm>
          <a:prstGeom prst="rect">
            <a:avLst/>
          </a:prstGeom>
          <a:noFill/>
        </p:spPr>
        <p:txBody>
          <a:bodyPr wrap="square" lIns="0" rIns="0" tIns="0" bIns="0" anchor="t">
            <a:spAutoFit/>
          </a:bodyPr>
          <a:lstStyle/>
          <a:p>
            <a:pPr algn="l">
              <a:lnSpc>
                <a:spcPct val="130000"/>
              </a:lnSpc>
            </a:pPr>
            <a:r>
              <a:rPr sz="640" b="1" spc="150">
                <a:solidFill>
                  <a:srgbClr val="6F86A8"/>
                </a:solidFill>
                <a:latin typeface="Inter"/>
              </a:rPr>
              <a:t>DEVELOPMENT BALANCE</a:t>
            </a:r>
          </a:p>
        </p:txBody>
      </p:sp>
      <p:sp>
        <p:nvSpPr>
          <p:cNvPr id="14" name="TextBox 13"/>
          <p:cNvSpPr txBox="1"/>
          <p:nvPr/>
        </p:nvSpPr>
        <p:spPr>
          <a:xfrm>
            <a:off x="3063240" y="2395728"/>
            <a:ext cx="1737360" cy="310896"/>
          </a:xfrm>
          <a:prstGeom prst="rect">
            <a:avLst/>
          </a:prstGeom>
          <a:noFill/>
        </p:spPr>
        <p:txBody>
          <a:bodyPr wrap="square" lIns="0" rIns="0" tIns="0" bIns="0" anchor="t">
            <a:spAutoFit/>
          </a:bodyPr>
          <a:lstStyle/>
          <a:p>
            <a:pPr algn="l">
              <a:lnSpc>
                <a:spcPct val="130000"/>
              </a:lnSpc>
            </a:pPr>
            <a:r>
              <a:rPr sz="1650" b="1" spc="-40">
                <a:solidFill>
                  <a:srgbClr val="FFFFFF"/>
                </a:solidFill>
                <a:latin typeface="Inter"/>
              </a:rPr>
              <a:t>₹4,450</a:t>
            </a:r>
          </a:p>
        </p:txBody>
      </p:sp>
      <p:sp>
        <p:nvSpPr>
          <p:cNvPr id="15" name="TextBox 14"/>
          <p:cNvSpPr txBox="1"/>
          <p:nvPr/>
        </p:nvSpPr>
        <p:spPr>
          <a:xfrm>
            <a:off x="3063240" y="2734056"/>
            <a:ext cx="1737360" cy="164592"/>
          </a:xfrm>
          <a:prstGeom prst="rect">
            <a:avLst/>
          </a:prstGeom>
          <a:noFill/>
        </p:spPr>
        <p:txBody>
          <a:bodyPr wrap="square" lIns="0" rIns="0" tIns="0" bIns="0" anchor="t">
            <a:spAutoFit/>
          </a:bodyPr>
          <a:lstStyle/>
          <a:p>
            <a:pPr algn="l">
              <a:lnSpc>
                <a:spcPct val="130000"/>
              </a:lnSpc>
            </a:pPr>
            <a:r>
              <a:rPr sz="700" b="0">
                <a:solidFill>
                  <a:srgbClr val="6C8099"/>
                </a:solidFill>
                <a:latin typeface="Inter"/>
              </a:rPr>
              <a:t>unspent</a:t>
            </a:r>
          </a:p>
        </p:txBody>
      </p:sp>
      <p:sp>
        <p:nvSpPr>
          <p:cNvPr id="16" name="Rounded Rectangle 15"/>
          <p:cNvSpPr/>
          <p:nvPr/>
        </p:nvSpPr>
        <p:spPr>
          <a:xfrm>
            <a:off x="5074920" y="2103120"/>
            <a:ext cx="2066544" cy="877824"/>
          </a:xfrm>
          <a:prstGeom prst="roundRect">
            <a:avLst>
              <a:gd name="adj" fmla="val 9375"/>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2231136"/>
            <a:ext cx="1737360" cy="164592"/>
          </a:xfrm>
          <a:prstGeom prst="rect">
            <a:avLst/>
          </a:prstGeom>
          <a:noFill/>
        </p:spPr>
        <p:txBody>
          <a:bodyPr wrap="square" lIns="0" rIns="0" tIns="0" bIns="0" anchor="t">
            <a:spAutoFit/>
          </a:bodyPr>
          <a:lstStyle/>
          <a:p>
            <a:pPr algn="l">
              <a:lnSpc>
                <a:spcPct val="130000"/>
              </a:lnSpc>
            </a:pPr>
            <a:r>
              <a:rPr sz="640" b="1" spc="150">
                <a:solidFill>
                  <a:srgbClr val="6F86A8"/>
                </a:solidFill>
                <a:latin typeface="Inter"/>
              </a:rPr>
              <a:t>PERSONAL BALANCE</a:t>
            </a:r>
          </a:p>
        </p:txBody>
      </p:sp>
      <p:sp>
        <p:nvSpPr>
          <p:cNvPr id="18" name="TextBox 17"/>
          <p:cNvSpPr txBox="1"/>
          <p:nvPr/>
        </p:nvSpPr>
        <p:spPr>
          <a:xfrm>
            <a:off x="5257800" y="2395728"/>
            <a:ext cx="1737360" cy="310896"/>
          </a:xfrm>
          <a:prstGeom prst="rect">
            <a:avLst/>
          </a:prstGeom>
          <a:noFill/>
        </p:spPr>
        <p:txBody>
          <a:bodyPr wrap="square" lIns="0" rIns="0" tIns="0" bIns="0" anchor="t">
            <a:spAutoFit/>
          </a:bodyPr>
          <a:lstStyle/>
          <a:p>
            <a:pPr algn="l">
              <a:lnSpc>
                <a:spcPct val="130000"/>
              </a:lnSpc>
            </a:pPr>
            <a:r>
              <a:rPr sz="1650" b="1" spc="-40">
                <a:solidFill>
                  <a:srgbClr val="FFFFFF"/>
                </a:solidFill>
                <a:latin typeface="Inter"/>
              </a:rPr>
              <a:t>₹300</a:t>
            </a:r>
          </a:p>
        </p:txBody>
      </p:sp>
      <p:sp>
        <p:nvSpPr>
          <p:cNvPr id="19" name="TextBox 18"/>
          <p:cNvSpPr txBox="1"/>
          <p:nvPr/>
        </p:nvSpPr>
        <p:spPr>
          <a:xfrm>
            <a:off x="5257800" y="2734056"/>
            <a:ext cx="1737360" cy="164592"/>
          </a:xfrm>
          <a:prstGeom prst="rect">
            <a:avLst/>
          </a:prstGeom>
          <a:noFill/>
        </p:spPr>
        <p:txBody>
          <a:bodyPr wrap="square" lIns="0" rIns="0" tIns="0" bIns="0" anchor="t">
            <a:spAutoFit/>
          </a:bodyPr>
          <a:lstStyle/>
          <a:p>
            <a:pPr algn="l">
              <a:lnSpc>
                <a:spcPct val="130000"/>
              </a:lnSpc>
            </a:pPr>
            <a:r>
              <a:rPr sz="700" b="0">
                <a:solidFill>
                  <a:srgbClr val="6C8099"/>
                </a:solidFill>
                <a:latin typeface="Inter"/>
              </a:rPr>
              <a:t>of ₹300</a:t>
            </a:r>
          </a:p>
        </p:txBody>
      </p:sp>
      <p:sp>
        <p:nvSpPr>
          <p:cNvPr id="20" name="Rounded Rectangle 19"/>
          <p:cNvSpPr/>
          <p:nvPr/>
        </p:nvSpPr>
        <p:spPr>
          <a:xfrm>
            <a:off x="7269480" y="2103120"/>
            <a:ext cx="2066544" cy="877824"/>
          </a:xfrm>
          <a:prstGeom prst="roundRect">
            <a:avLst>
              <a:gd name="adj" fmla="val 9375"/>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2231136"/>
            <a:ext cx="1737360" cy="164592"/>
          </a:xfrm>
          <a:prstGeom prst="rect">
            <a:avLst/>
          </a:prstGeom>
          <a:noFill/>
        </p:spPr>
        <p:txBody>
          <a:bodyPr wrap="square" lIns="0" rIns="0" tIns="0" bIns="0" anchor="t">
            <a:spAutoFit/>
          </a:bodyPr>
          <a:lstStyle/>
          <a:p>
            <a:pPr algn="l">
              <a:lnSpc>
                <a:spcPct val="130000"/>
              </a:lnSpc>
            </a:pPr>
            <a:r>
              <a:rPr sz="640" b="1" spc="150">
                <a:solidFill>
                  <a:srgbClr val="6F86A8"/>
                </a:solidFill>
                <a:latin typeface="Inter"/>
              </a:rPr>
              <a:t>AVAILABLE TOTAL</a:t>
            </a:r>
          </a:p>
        </p:txBody>
      </p:sp>
      <p:sp>
        <p:nvSpPr>
          <p:cNvPr id="22" name="TextBox 21"/>
          <p:cNvSpPr txBox="1"/>
          <p:nvPr/>
        </p:nvSpPr>
        <p:spPr>
          <a:xfrm>
            <a:off x="7452360" y="2395728"/>
            <a:ext cx="1737360" cy="310896"/>
          </a:xfrm>
          <a:prstGeom prst="rect">
            <a:avLst/>
          </a:prstGeom>
          <a:noFill/>
        </p:spPr>
        <p:txBody>
          <a:bodyPr wrap="square" lIns="0" rIns="0" tIns="0" bIns="0" anchor="t">
            <a:spAutoFit/>
          </a:bodyPr>
          <a:lstStyle/>
          <a:p>
            <a:pPr algn="l">
              <a:lnSpc>
                <a:spcPct val="130000"/>
              </a:lnSpc>
            </a:pPr>
            <a:r>
              <a:rPr sz="1650" b="1" spc="-40">
                <a:solidFill>
                  <a:srgbClr val="FFFFFF"/>
                </a:solidFill>
                <a:latin typeface="Inter"/>
              </a:rPr>
              <a:t>₹4,750</a:t>
            </a:r>
          </a:p>
        </p:txBody>
      </p:sp>
      <p:sp>
        <p:nvSpPr>
          <p:cNvPr id="23" name="TextBox 22"/>
          <p:cNvSpPr txBox="1"/>
          <p:nvPr/>
        </p:nvSpPr>
        <p:spPr>
          <a:xfrm>
            <a:off x="7452360" y="2734056"/>
            <a:ext cx="1737360" cy="164592"/>
          </a:xfrm>
          <a:prstGeom prst="rect">
            <a:avLst/>
          </a:prstGeom>
          <a:noFill/>
        </p:spPr>
        <p:txBody>
          <a:bodyPr wrap="square" lIns="0" rIns="0" tIns="0" bIns="0" anchor="t">
            <a:spAutoFit/>
          </a:bodyPr>
          <a:lstStyle/>
          <a:p>
            <a:pPr algn="l">
              <a:lnSpc>
                <a:spcPct val="130000"/>
              </a:lnSpc>
            </a:pPr>
            <a:r>
              <a:rPr sz="700" b="0">
                <a:solidFill>
                  <a:srgbClr val="6C8099"/>
                </a:solidFill>
                <a:latin typeface="Inter"/>
              </a:rPr>
              <a:t>both parts</a:t>
            </a:r>
          </a:p>
        </p:txBody>
      </p:sp>
      <p:sp>
        <p:nvSpPr>
          <p:cNvPr id="24" name="Rounded Rectangle 23"/>
          <p:cNvSpPr/>
          <p:nvPr/>
        </p:nvSpPr>
        <p:spPr>
          <a:xfrm>
            <a:off x="9464040" y="2103120"/>
            <a:ext cx="2066544" cy="877824"/>
          </a:xfrm>
          <a:prstGeom prst="roundRect">
            <a:avLst>
              <a:gd name="adj" fmla="val 9375"/>
            </a:avLst>
          </a:prstGeom>
          <a:solidFill>
            <a:srgbClr val="0A1424"/>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6920" y="2231136"/>
            <a:ext cx="1737360" cy="164592"/>
          </a:xfrm>
          <a:prstGeom prst="rect">
            <a:avLst/>
          </a:prstGeom>
          <a:noFill/>
        </p:spPr>
        <p:txBody>
          <a:bodyPr wrap="square" lIns="0" rIns="0" tIns="0" bIns="0" anchor="t">
            <a:spAutoFit/>
          </a:bodyPr>
          <a:lstStyle/>
          <a:p>
            <a:pPr algn="l">
              <a:lnSpc>
                <a:spcPct val="130000"/>
              </a:lnSpc>
            </a:pPr>
            <a:r>
              <a:rPr sz="640" b="1" spc="150">
                <a:solidFill>
                  <a:srgbClr val="6F86A8"/>
                </a:solidFill>
                <a:latin typeface="Inter"/>
              </a:rPr>
              <a:t>SPENT TO DATE</a:t>
            </a:r>
          </a:p>
        </p:txBody>
      </p:sp>
      <p:sp>
        <p:nvSpPr>
          <p:cNvPr id="26" name="TextBox 25"/>
          <p:cNvSpPr txBox="1"/>
          <p:nvPr/>
        </p:nvSpPr>
        <p:spPr>
          <a:xfrm>
            <a:off x="9646920" y="2395728"/>
            <a:ext cx="1737360" cy="310896"/>
          </a:xfrm>
          <a:prstGeom prst="rect">
            <a:avLst/>
          </a:prstGeom>
          <a:noFill/>
        </p:spPr>
        <p:txBody>
          <a:bodyPr wrap="square" lIns="0" rIns="0" tIns="0" bIns="0" anchor="t">
            <a:spAutoFit/>
          </a:bodyPr>
          <a:lstStyle/>
          <a:p>
            <a:pPr algn="l">
              <a:lnSpc>
                <a:spcPct val="130000"/>
              </a:lnSpc>
            </a:pPr>
            <a:r>
              <a:rPr sz="1650" b="1" spc="-40">
                <a:solidFill>
                  <a:srgbClr val="FFFFFF"/>
                </a:solidFill>
                <a:latin typeface="Inter"/>
              </a:rPr>
              <a:t>₹1,250</a:t>
            </a:r>
          </a:p>
        </p:txBody>
      </p:sp>
      <p:sp>
        <p:nvSpPr>
          <p:cNvPr id="27" name="TextBox 26"/>
          <p:cNvSpPr txBox="1"/>
          <p:nvPr/>
        </p:nvSpPr>
        <p:spPr>
          <a:xfrm>
            <a:off x="9646920" y="2734056"/>
            <a:ext cx="1737360" cy="164592"/>
          </a:xfrm>
          <a:prstGeom prst="rect">
            <a:avLst/>
          </a:prstGeom>
          <a:noFill/>
        </p:spPr>
        <p:txBody>
          <a:bodyPr wrap="square" lIns="0" rIns="0" tIns="0" bIns="0" anchor="t">
            <a:spAutoFit/>
          </a:bodyPr>
          <a:lstStyle/>
          <a:p>
            <a:pPr algn="l">
              <a:lnSpc>
                <a:spcPct val="130000"/>
              </a:lnSpc>
            </a:pPr>
            <a:r>
              <a:rPr sz="700" b="0">
                <a:solidFill>
                  <a:srgbClr val="6C8099"/>
                </a:solidFill>
                <a:latin typeface="Inter"/>
              </a:rPr>
              <a:t>2 purchases</a:t>
            </a:r>
          </a:p>
        </p:txBody>
      </p:sp>
      <p:sp>
        <p:nvSpPr>
          <p:cNvPr id="28" name="TextBox 27"/>
          <p:cNvSpPr txBox="1"/>
          <p:nvPr/>
        </p:nvSpPr>
        <p:spPr>
          <a:xfrm>
            <a:off x="685800" y="3200400"/>
            <a:ext cx="4572000" cy="182880"/>
          </a:xfrm>
          <a:prstGeom prst="rect">
            <a:avLst/>
          </a:prstGeom>
          <a:noFill/>
        </p:spPr>
        <p:txBody>
          <a:bodyPr wrap="square" lIns="0" rIns="0" tIns="0" bIns="0" anchor="t">
            <a:spAutoFit/>
          </a:bodyPr>
          <a:lstStyle/>
          <a:p>
            <a:pPr algn="l">
              <a:lnSpc>
                <a:spcPct val="130000"/>
              </a:lnSpc>
            </a:pPr>
            <a:r>
              <a:rPr sz="690" b="1" spc="200">
                <a:solidFill>
                  <a:srgbClr val="22D3EE"/>
                </a:solidFill>
                <a:latin typeface="Inter"/>
              </a:rPr>
              <a:t>SAMPLE LEDGER  ·  ILLUSTRATIVE ONLY</a:t>
            </a:r>
          </a:p>
        </p:txBody>
      </p:sp>
      <p:sp>
        <p:nvSpPr>
          <p:cNvPr id="29" name="TextBox 28"/>
          <p:cNvSpPr txBox="1"/>
          <p:nvPr/>
        </p:nvSpPr>
        <p:spPr>
          <a:xfrm>
            <a:off x="685800" y="3511296"/>
            <a:ext cx="914400" cy="164592"/>
          </a:xfrm>
          <a:prstGeom prst="rect">
            <a:avLst/>
          </a:prstGeom>
          <a:noFill/>
        </p:spPr>
        <p:txBody>
          <a:bodyPr wrap="square" lIns="0" rIns="0" tIns="0" bIns="0" anchor="t">
            <a:spAutoFit/>
          </a:bodyPr>
          <a:lstStyle/>
          <a:p>
            <a:pPr algn="l">
              <a:lnSpc>
                <a:spcPct val="130000"/>
              </a:lnSpc>
            </a:pPr>
            <a:r>
              <a:rPr sz="660" b="1" spc="160">
                <a:solidFill>
                  <a:srgbClr val="5E7392"/>
                </a:solidFill>
                <a:latin typeface="Inter"/>
              </a:rPr>
              <a:t>DATE</a:t>
            </a:r>
          </a:p>
        </p:txBody>
      </p:sp>
      <p:sp>
        <p:nvSpPr>
          <p:cNvPr id="30" name="TextBox 29"/>
          <p:cNvSpPr txBox="1"/>
          <p:nvPr/>
        </p:nvSpPr>
        <p:spPr>
          <a:xfrm>
            <a:off x="1627632" y="3511296"/>
            <a:ext cx="2103120" cy="164592"/>
          </a:xfrm>
          <a:prstGeom prst="rect">
            <a:avLst/>
          </a:prstGeom>
          <a:noFill/>
        </p:spPr>
        <p:txBody>
          <a:bodyPr wrap="square" lIns="0" rIns="0" tIns="0" bIns="0" anchor="t">
            <a:spAutoFit/>
          </a:bodyPr>
          <a:lstStyle/>
          <a:p>
            <a:pPr algn="l">
              <a:lnSpc>
                <a:spcPct val="130000"/>
              </a:lnSpc>
            </a:pPr>
            <a:r>
              <a:rPr sz="660" b="1" spc="160">
                <a:solidFill>
                  <a:srgbClr val="5E7392"/>
                </a:solidFill>
                <a:latin typeface="Inter"/>
              </a:rPr>
              <a:t>ITEM</a:t>
            </a:r>
          </a:p>
        </p:txBody>
      </p:sp>
      <p:sp>
        <p:nvSpPr>
          <p:cNvPr id="31" name="TextBox 30"/>
          <p:cNvSpPr txBox="1"/>
          <p:nvPr/>
        </p:nvSpPr>
        <p:spPr>
          <a:xfrm>
            <a:off x="3803904" y="3511296"/>
            <a:ext cx="2377440" cy="164592"/>
          </a:xfrm>
          <a:prstGeom prst="rect">
            <a:avLst/>
          </a:prstGeom>
          <a:noFill/>
        </p:spPr>
        <p:txBody>
          <a:bodyPr wrap="square" lIns="0" rIns="0" tIns="0" bIns="0" anchor="t">
            <a:spAutoFit/>
          </a:bodyPr>
          <a:lstStyle/>
          <a:p>
            <a:pPr algn="l">
              <a:lnSpc>
                <a:spcPct val="130000"/>
              </a:lnSpc>
            </a:pPr>
            <a:r>
              <a:rPr sz="660" b="1" spc="160">
                <a:solidFill>
                  <a:srgbClr val="5E7392"/>
                </a:solidFill>
                <a:latin typeface="Inter"/>
              </a:rPr>
              <a:t>PURPOSE</a:t>
            </a:r>
          </a:p>
        </p:txBody>
      </p:sp>
      <p:sp>
        <p:nvSpPr>
          <p:cNvPr id="32" name="TextBox 31"/>
          <p:cNvSpPr txBox="1"/>
          <p:nvPr/>
        </p:nvSpPr>
        <p:spPr>
          <a:xfrm>
            <a:off x="6272784" y="3511296"/>
            <a:ext cx="868680" cy="164592"/>
          </a:xfrm>
          <a:prstGeom prst="rect">
            <a:avLst/>
          </a:prstGeom>
          <a:noFill/>
        </p:spPr>
        <p:txBody>
          <a:bodyPr wrap="square" lIns="0" rIns="0" tIns="0" bIns="0" anchor="t">
            <a:spAutoFit/>
          </a:bodyPr>
          <a:lstStyle/>
          <a:p>
            <a:pPr algn="r">
              <a:lnSpc>
                <a:spcPct val="130000"/>
              </a:lnSpc>
            </a:pPr>
            <a:r>
              <a:rPr sz="660" b="1" spc="160">
                <a:solidFill>
                  <a:srgbClr val="5E7392"/>
                </a:solidFill>
                <a:latin typeface="Inter"/>
              </a:rPr>
              <a:t>AMOUNT</a:t>
            </a:r>
          </a:p>
        </p:txBody>
      </p:sp>
      <p:sp>
        <p:nvSpPr>
          <p:cNvPr id="33" name="TextBox 32"/>
          <p:cNvSpPr txBox="1"/>
          <p:nvPr/>
        </p:nvSpPr>
        <p:spPr>
          <a:xfrm>
            <a:off x="7242048" y="3511296"/>
            <a:ext cx="914400" cy="164592"/>
          </a:xfrm>
          <a:prstGeom prst="rect">
            <a:avLst/>
          </a:prstGeom>
          <a:noFill/>
        </p:spPr>
        <p:txBody>
          <a:bodyPr wrap="square" lIns="0" rIns="0" tIns="0" bIns="0" anchor="t">
            <a:spAutoFit/>
          </a:bodyPr>
          <a:lstStyle/>
          <a:p>
            <a:pPr algn="r">
              <a:lnSpc>
                <a:spcPct val="130000"/>
              </a:lnSpc>
            </a:pPr>
            <a:r>
              <a:rPr sz="660" b="1" spc="160">
                <a:solidFill>
                  <a:srgbClr val="5E7392"/>
                </a:solidFill>
                <a:latin typeface="Inter"/>
              </a:rPr>
              <a:t>BALANCE</a:t>
            </a:r>
          </a:p>
        </p:txBody>
      </p:sp>
      <p:cxnSp>
        <p:nvCxnSpPr>
          <p:cNvPr id="34" name="Connector 33"/>
          <p:cNvCxnSpPr/>
          <p:nvPr/>
        </p:nvCxnSpPr>
        <p:spPr>
          <a:xfrm>
            <a:off x="685800" y="3749040"/>
            <a:ext cx="7452360"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 y="3840480"/>
            <a:ext cx="914400" cy="182880"/>
          </a:xfrm>
          <a:prstGeom prst="rect">
            <a:avLst/>
          </a:prstGeom>
          <a:noFill/>
        </p:spPr>
        <p:txBody>
          <a:bodyPr wrap="square" lIns="0" rIns="0" tIns="0" bIns="0" anchor="t">
            <a:spAutoFit/>
          </a:bodyPr>
          <a:lstStyle/>
          <a:p>
            <a:pPr algn="l">
              <a:lnSpc>
                <a:spcPct val="130000"/>
              </a:lnSpc>
            </a:pPr>
            <a:r>
              <a:rPr sz="740" b="0" spc="80">
                <a:solidFill>
                  <a:srgbClr val="8194AE"/>
                </a:solidFill>
                <a:latin typeface="Inter"/>
              </a:rPr>
              <a:t>MAR 01</a:t>
            </a:r>
          </a:p>
        </p:txBody>
      </p:sp>
      <p:sp>
        <p:nvSpPr>
          <p:cNvPr id="36" name="TextBox 35"/>
          <p:cNvSpPr txBox="1"/>
          <p:nvPr/>
        </p:nvSpPr>
        <p:spPr>
          <a:xfrm>
            <a:off x="1627632" y="3840480"/>
            <a:ext cx="2103120" cy="182880"/>
          </a:xfrm>
          <a:prstGeom prst="rect">
            <a:avLst/>
          </a:prstGeom>
          <a:noFill/>
        </p:spPr>
        <p:txBody>
          <a:bodyPr wrap="square" lIns="0" rIns="0" tIns="0" bIns="0" anchor="t">
            <a:spAutoFit/>
          </a:bodyPr>
          <a:lstStyle/>
          <a:p>
            <a:pPr algn="l">
              <a:lnSpc>
                <a:spcPct val="130000"/>
              </a:lnSpc>
            </a:pPr>
            <a:r>
              <a:rPr sz="860" b="0">
                <a:solidFill>
                  <a:srgbClr val="DDE6F1"/>
                </a:solidFill>
                <a:latin typeface="Inter"/>
              </a:rPr>
              <a:t>Contribution received</a:t>
            </a:r>
          </a:p>
        </p:txBody>
      </p:sp>
      <p:sp>
        <p:nvSpPr>
          <p:cNvPr id="37" name="TextBox 36"/>
          <p:cNvSpPr txBox="1"/>
          <p:nvPr/>
        </p:nvSpPr>
        <p:spPr>
          <a:xfrm>
            <a:off x="3803904" y="3840480"/>
            <a:ext cx="2377440" cy="182880"/>
          </a:xfrm>
          <a:prstGeom prst="rect">
            <a:avLst/>
          </a:prstGeom>
          <a:noFill/>
        </p:spPr>
        <p:txBody>
          <a:bodyPr wrap="square" lIns="0" rIns="0" tIns="0" bIns="0" anchor="t">
            <a:spAutoFit/>
          </a:bodyPr>
          <a:lstStyle/>
          <a:p>
            <a:pPr algn="l">
              <a:lnSpc>
                <a:spcPct val="130000"/>
              </a:lnSpc>
            </a:pPr>
            <a:r>
              <a:rPr sz="840" b="0">
                <a:solidFill>
                  <a:srgbClr val="8799B3"/>
                </a:solidFill>
                <a:latin typeface="Inter"/>
              </a:rPr>
              <a:t>Monthly deposit</a:t>
            </a:r>
          </a:p>
        </p:txBody>
      </p:sp>
      <p:sp>
        <p:nvSpPr>
          <p:cNvPr id="38" name="TextBox 37"/>
          <p:cNvSpPr txBox="1"/>
          <p:nvPr/>
        </p:nvSpPr>
        <p:spPr>
          <a:xfrm>
            <a:off x="6272784" y="3840480"/>
            <a:ext cx="868680" cy="182880"/>
          </a:xfrm>
          <a:prstGeom prst="rect">
            <a:avLst/>
          </a:prstGeom>
          <a:noFill/>
        </p:spPr>
        <p:txBody>
          <a:bodyPr wrap="square" lIns="0" rIns="0" tIns="0" bIns="0" anchor="t">
            <a:spAutoFit/>
          </a:bodyPr>
          <a:lstStyle/>
          <a:p>
            <a:pPr algn="r">
              <a:lnSpc>
                <a:spcPct val="130000"/>
              </a:lnSpc>
            </a:pPr>
            <a:r>
              <a:rPr sz="860" b="1">
                <a:solidFill>
                  <a:srgbClr val="22D3EE"/>
                </a:solidFill>
                <a:latin typeface="Inter"/>
              </a:rPr>
              <a:t>+₹2,000</a:t>
            </a:r>
          </a:p>
        </p:txBody>
      </p:sp>
      <p:sp>
        <p:nvSpPr>
          <p:cNvPr id="39" name="TextBox 38"/>
          <p:cNvSpPr txBox="1"/>
          <p:nvPr/>
        </p:nvSpPr>
        <p:spPr>
          <a:xfrm>
            <a:off x="7242048" y="3840480"/>
            <a:ext cx="914400" cy="182880"/>
          </a:xfrm>
          <a:prstGeom prst="rect">
            <a:avLst/>
          </a:prstGeom>
          <a:noFill/>
        </p:spPr>
        <p:txBody>
          <a:bodyPr wrap="square" lIns="0" rIns="0" tIns="0" bIns="0" anchor="t">
            <a:spAutoFit/>
          </a:bodyPr>
          <a:lstStyle/>
          <a:p>
            <a:pPr algn="r">
              <a:lnSpc>
                <a:spcPct val="130000"/>
              </a:lnSpc>
            </a:pPr>
            <a:r>
              <a:rPr sz="860" b="1">
                <a:solidFill>
                  <a:srgbClr val="FFFFFF"/>
                </a:solidFill>
                <a:latin typeface="Inter"/>
              </a:rPr>
              <a:t>₹2,000</a:t>
            </a:r>
          </a:p>
        </p:txBody>
      </p:sp>
      <p:cxnSp>
        <p:nvCxnSpPr>
          <p:cNvPr id="40" name="Connector 39"/>
          <p:cNvCxnSpPr/>
          <p:nvPr/>
        </p:nvCxnSpPr>
        <p:spPr>
          <a:xfrm>
            <a:off x="685800" y="4133088"/>
            <a:ext cx="7452360" cy="0"/>
          </a:xfrm>
          <a:prstGeom prst="line">
            <a:avLst/>
          </a:prstGeom>
          <a:ln w="7620">
            <a:solidFill>
              <a:srgbClr val="1B2A4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5800" y="4261104"/>
            <a:ext cx="914400" cy="182880"/>
          </a:xfrm>
          <a:prstGeom prst="rect">
            <a:avLst/>
          </a:prstGeom>
          <a:noFill/>
        </p:spPr>
        <p:txBody>
          <a:bodyPr wrap="square" lIns="0" rIns="0" tIns="0" bIns="0" anchor="t">
            <a:spAutoFit/>
          </a:bodyPr>
          <a:lstStyle/>
          <a:p>
            <a:pPr algn="l">
              <a:lnSpc>
                <a:spcPct val="130000"/>
              </a:lnSpc>
            </a:pPr>
            <a:r>
              <a:rPr sz="740" b="0" spc="80">
                <a:solidFill>
                  <a:srgbClr val="8194AE"/>
                </a:solidFill>
                <a:latin typeface="Inter"/>
              </a:rPr>
              <a:t>MAR 12</a:t>
            </a:r>
          </a:p>
        </p:txBody>
      </p:sp>
      <p:sp>
        <p:nvSpPr>
          <p:cNvPr id="42" name="TextBox 41"/>
          <p:cNvSpPr txBox="1"/>
          <p:nvPr/>
        </p:nvSpPr>
        <p:spPr>
          <a:xfrm>
            <a:off x="1627632" y="4261104"/>
            <a:ext cx="2103120" cy="182880"/>
          </a:xfrm>
          <a:prstGeom prst="rect">
            <a:avLst/>
          </a:prstGeom>
          <a:noFill/>
        </p:spPr>
        <p:txBody>
          <a:bodyPr wrap="square" lIns="0" rIns="0" tIns="0" bIns="0" anchor="t">
            <a:spAutoFit/>
          </a:bodyPr>
          <a:lstStyle/>
          <a:p>
            <a:pPr algn="l">
              <a:lnSpc>
                <a:spcPct val="130000"/>
              </a:lnSpc>
            </a:pPr>
            <a:r>
              <a:rPr sz="860" b="0">
                <a:solidFill>
                  <a:srgbClr val="DDE6F1"/>
                </a:solidFill>
                <a:latin typeface="Inter"/>
              </a:rPr>
              <a:t>Electronics components</a:t>
            </a:r>
          </a:p>
        </p:txBody>
      </p:sp>
      <p:sp>
        <p:nvSpPr>
          <p:cNvPr id="43" name="TextBox 42"/>
          <p:cNvSpPr txBox="1"/>
          <p:nvPr/>
        </p:nvSpPr>
        <p:spPr>
          <a:xfrm>
            <a:off x="3803904" y="4261104"/>
            <a:ext cx="2377440" cy="182880"/>
          </a:xfrm>
          <a:prstGeom prst="rect">
            <a:avLst/>
          </a:prstGeom>
          <a:noFill/>
        </p:spPr>
        <p:txBody>
          <a:bodyPr wrap="square" lIns="0" rIns="0" tIns="0" bIns="0" anchor="t">
            <a:spAutoFit/>
          </a:bodyPr>
          <a:lstStyle/>
          <a:p>
            <a:pPr algn="l">
              <a:lnSpc>
                <a:spcPct val="130000"/>
              </a:lnSpc>
            </a:pPr>
            <a:r>
              <a:rPr sz="840" b="0">
                <a:solidFill>
                  <a:srgbClr val="8799B3"/>
                </a:solidFill>
                <a:latin typeface="Inter"/>
              </a:rPr>
              <a:t>Line-follower robot rebuild</a:t>
            </a:r>
          </a:p>
        </p:txBody>
      </p:sp>
      <p:sp>
        <p:nvSpPr>
          <p:cNvPr id="44" name="TextBox 43"/>
          <p:cNvSpPr txBox="1"/>
          <p:nvPr/>
        </p:nvSpPr>
        <p:spPr>
          <a:xfrm>
            <a:off x="6272784" y="4261104"/>
            <a:ext cx="868680" cy="182880"/>
          </a:xfrm>
          <a:prstGeom prst="rect">
            <a:avLst/>
          </a:prstGeom>
          <a:noFill/>
        </p:spPr>
        <p:txBody>
          <a:bodyPr wrap="square" lIns="0" rIns="0" tIns="0" bIns="0" anchor="t">
            <a:spAutoFit/>
          </a:bodyPr>
          <a:lstStyle/>
          <a:p>
            <a:pPr algn="r">
              <a:lnSpc>
                <a:spcPct val="130000"/>
              </a:lnSpc>
            </a:pPr>
            <a:r>
              <a:rPr sz="860" b="1">
                <a:solidFill>
                  <a:srgbClr val="C3CEE0"/>
                </a:solidFill>
                <a:latin typeface="Inter"/>
              </a:rPr>
              <a:t>−₹650</a:t>
            </a:r>
          </a:p>
        </p:txBody>
      </p:sp>
      <p:sp>
        <p:nvSpPr>
          <p:cNvPr id="45" name="TextBox 44"/>
          <p:cNvSpPr txBox="1"/>
          <p:nvPr/>
        </p:nvSpPr>
        <p:spPr>
          <a:xfrm>
            <a:off x="7242048" y="4261104"/>
            <a:ext cx="914400" cy="182880"/>
          </a:xfrm>
          <a:prstGeom prst="rect">
            <a:avLst/>
          </a:prstGeom>
          <a:noFill/>
        </p:spPr>
        <p:txBody>
          <a:bodyPr wrap="square" lIns="0" rIns="0" tIns="0" bIns="0" anchor="t">
            <a:spAutoFit/>
          </a:bodyPr>
          <a:lstStyle/>
          <a:p>
            <a:pPr algn="r">
              <a:lnSpc>
                <a:spcPct val="130000"/>
              </a:lnSpc>
            </a:pPr>
            <a:r>
              <a:rPr sz="860" b="1">
                <a:solidFill>
                  <a:srgbClr val="FFFFFF"/>
                </a:solidFill>
                <a:latin typeface="Inter"/>
              </a:rPr>
              <a:t>₹1,350</a:t>
            </a:r>
          </a:p>
        </p:txBody>
      </p:sp>
      <p:cxnSp>
        <p:nvCxnSpPr>
          <p:cNvPr id="46" name="Connector 45"/>
          <p:cNvCxnSpPr/>
          <p:nvPr/>
        </p:nvCxnSpPr>
        <p:spPr>
          <a:xfrm>
            <a:off x="685800" y="4553712"/>
            <a:ext cx="7452360" cy="0"/>
          </a:xfrm>
          <a:prstGeom prst="line">
            <a:avLst/>
          </a:prstGeom>
          <a:ln w="7620">
            <a:solidFill>
              <a:srgbClr val="1B2A46"/>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4681728"/>
            <a:ext cx="914400" cy="182880"/>
          </a:xfrm>
          <a:prstGeom prst="rect">
            <a:avLst/>
          </a:prstGeom>
          <a:noFill/>
        </p:spPr>
        <p:txBody>
          <a:bodyPr wrap="square" lIns="0" rIns="0" tIns="0" bIns="0" anchor="t">
            <a:spAutoFit/>
          </a:bodyPr>
          <a:lstStyle/>
          <a:p>
            <a:pPr algn="l">
              <a:lnSpc>
                <a:spcPct val="130000"/>
              </a:lnSpc>
            </a:pPr>
            <a:r>
              <a:rPr sz="740" b="0" spc="80">
                <a:solidFill>
                  <a:srgbClr val="8194AE"/>
                </a:solidFill>
                <a:latin typeface="Inter"/>
              </a:rPr>
              <a:t>APR 01</a:t>
            </a:r>
          </a:p>
        </p:txBody>
      </p:sp>
      <p:sp>
        <p:nvSpPr>
          <p:cNvPr id="48" name="TextBox 47"/>
          <p:cNvSpPr txBox="1"/>
          <p:nvPr/>
        </p:nvSpPr>
        <p:spPr>
          <a:xfrm>
            <a:off x="1627632" y="4681728"/>
            <a:ext cx="2103120" cy="182880"/>
          </a:xfrm>
          <a:prstGeom prst="rect">
            <a:avLst/>
          </a:prstGeom>
          <a:noFill/>
        </p:spPr>
        <p:txBody>
          <a:bodyPr wrap="square" lIns="0" rIns="0" tIns="0" bIns="0" anchor="t">
            <a:spAutoFit/>
          </a:bodyPr>
          <a:lstStyle/>
          <a:p>
            <a:pPr algn="l">
              <a:lnSpc>
                <a:spcPct val="130000"/>
              </a:lnSpc>
            </a:pPr>
            <a:r>
              <a:rPr sz="860" b="0">
                <a:solidFill>
                  <a:srgbClr val="DDE6F1"/>
                </a:solidFill>
                <a:latin typeface="Inter"/>
              </a:rPr>
              <a:t>Contribution received</a:t>
            </a:r>
          </a:p>
        </p:txBody>
      </p:sp>
      <p:sp>
        <p:nvSpPr>
          <p:cNvPr id="49" name="TextBox 48"/>
          <p:cNvSpPr txBox="1"/>
          <p:nvPr/>
        </p:nvSpPr>
        <p:spPr>
          <a:xfrm>
            <a:off x="3803904" y="4681728"/>
            <a:ext cx="2377440" cy="182880"/>
          </a:xfrm>
          <a:prstGeom prst="rect">
            <a:avLst/>
          </a:prstGeom>
          <a:noFill/>
        </p:spPr>
        <p:txBody>
          <a:bodyPr wrap="square" lIns="0" rIns="0" tIns="0" bIns="0" anchor="t">
            <a:spAutoFit/>
          </a:bodyPr>
          <a:lstStyle/>
          <a:p>
            <a:pPr algn="l">
              <a:lnSpc>
                <a:spcPct val="130000"/>
              </a:lnSpc>
            </a:pPr>
            <a:r>
              <a:rPr sz="840" b="0">
                <a:solidFill>
                  <a:srgbClr val="8799B3"/>
                </a:solidFill>
                <a:latin typeface="Inter"/>
              </a:rPr>
              <a:t>Monthly deposit</a:t>
            </a:r>
          </a:p>
        </p:txBody>
      </p:sp>
      <p:sp>
        <p:nvSpPr>
          <p:cNvPr id="50" name="TextBox 49"/>
          <p:cNvSpPr txBox="1"/>
          <p:nvPr/>
        </p:nvSpPr>
        <p:spPr>
          <a:xfrm>
            <a:off x="6272784" y="4681728"/>
            <a:ext cx="868680" cy="182880"/>
          </a:xfrm>
          <a:prstGeom prst="rect">
            <a:avLst/>
          </a:prstGeom>
          <a:noFill/>
        </p:spPr>
        <p:txBody>
          <a:bodyPr wrap="square" lIns="0" rIns="0" tIns="0" bIns="0" anchor="t">
            <a:spAutoFit/>
          </a:bodyPr>
          <a:lstStyle/>
          <a:p>
            <a:pPr algn="r">
              <a:lnSpc>
                <a:spcPct val="130000"/>
              </a:lnSpc>
            </a:pPr>
            <a:r>
              <a:rPr sz="860" b="1">
                <a:solidFill>
                  <a:srgbClr val="22D3EE"/>
                </a:solidFill>
                <a:latin typeface="Inter"/>
              </a:rPr>
              <a:t>+₹2,000</a:t>
            </a:r>
          </a:p>
        </p:txBody>
      </p:sp>
      <p:sp>
        <p:nvSpPr>
          <p:cNvPr id="51" name="TextBox 50"/>
          <p:cNvSpPr txBox="1"/>
          <p:nvPr/>
        </p:nvSpPr>
        <p:spPr>
          <a:xfrm>
            <a:off x="7242048" y="4681728"/>
            <a:ext cx="914400" cy="182880"/>
          </a:xfrm>
          <a:prstGeom prst="rect">
            <a:avLst/>
          </a:prstGeom>
          <a:noFill/>
        </p:spPr>
        <p:txBody>
          <a:bodyPr wrap="square" lIns="0" rIns="0" tIns="0" bIns="0" anchor="t">
            <a:spAutoFit/>
          </a:bodyPr>
          <a:lstStyle/>
          <a:p>
            <a:pPr algn="r">
              <a:lnSpc>
                <a:spcPct val="130000"/>
              </a:lnSpc>
            </a:pPr>
            <a:r>
              <a:rPr sz="860" b="1">
                <a:solidFill>
                  <a:srgbClr val="FFFFFF"/>
                </a:solidFill>
                <a:latin typeface="Inter"/>
              </a:rPr>
              <a:t>₹3,350</a:t>
            </a:r>
          </a:p>
        </p:txBody>
      </p:sp>
      <p:cxnSp>
        <p:nvCxnSpPr>
          <p:cNvPr id="52" name="Connector 51"/>
          <p:cNvCxnSpPr/>
          <p:nvPr/>
        </p:nvCxnSpPr>
        <p:spPr>
          <a:xfrm>
            <a:off x="685800" y="4974336"/>
            <a:ext cx="7452360" cy="0"/>
          </a:xfrm>
          <a:prstGeom prst="line">
            <a:avLst/>
          </a:prstGeom>
          <a:ln w="7620">
            <a:solidFill>
              <a:srgbClr val="1B2A46"/>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5102352"/>
            <a:ext cx="914400" cy="182880"/>
          </a:xfrm>
          <a:prstGeom prst="rect">
            <a:avLst/>
          </a:prstGeom>
          <a:noFill/>
        </p:spPr>
        <p:txBody>
          <a:bodyPr wrap="square" lIns="0" rIns="0" tIns="0" bIns="0" anchor="t">
            <a:spAutoFit/>
          </a:bodyPr>
          <a:lstStyle/>
          <a:p>
            <a:pPr algn="l">
              <a:lnSpc>
                <a:spcPct val="130000"/>
              </a:lnSpc>
            </a:pPr>
            <a:r>
              <a:rPr sz="740" b="0" spc="80">
                <a:solidFill>
                  <a:srgbClr val="8194AE"/>
                </a:solidFill>
                <a:latin typeface="Inter"/>
              </a:rPr>
              <a:t>APR 18</a:t>
            </a:r>
          </a:p>
        </p:txBody>
      </p:sp>
      <p:sp>
        <p:nvSpPr>
          <p:cNvPr id="54" name="TextBox 53"/>
          <p:cNvSpPr txBox="1"/>
          <p:nvPr/>
        </p:nvSpPr>
        <p:spPr>
          <a:xfrm>
            <a:off x="1627632" y="5102352"/>
            <a:ext cx="2103120" cy="182880"/>
          </a:xfrm>
          <a:prstGeom prst="rect">
            <a:avLst/>
          </a:prstGeom>
          <a:noFill/>
        </p:spPr>
        <p:txBody>
          <a:bodyPr wrap="square" lIns="0" rIns="0" tIns="0" bIns="0" anchor="t">
            <a:spAutoFit/>
          </a:bodyPr>
          <a:lstStyle/>
          <a:p>
            <a:pPr algn="l">
              <a:lnSpc>
                <a:spcPct val="130000"/>
              </a:lnSpc>
            </a:pPr>
            <a:r>
              <a:rPr sz="860" b="0">
                <a:solidFill>
                  <a:srgbClr val="DDE6F1"/>
                </a:solidFill>
                <a:latin typeface="Inter"/>
              </a:rPr>
              <a:t>Learning resources</a:t>
            </a:r>
          </a:p>
        </p:txBody>
      </p:sp>
      <p:sp>
        <p:nvSpPr>
          <p:cNvPr id="55" name="TextBox 54"/>
          <p:cNvSpPr txBox="1"/>
          <p:nvPr/>
        </p:nvSpPr>
        <p:spPr>
          <a:xfrm>
            <a:off x="3803904" y="5102352"/>
            <a:ext cx="2377440" cy="182880"/>
          </a:xfrm>
          <a:prstGeom prst="rect">
            <a:avLst/>
          </a:prstGeom>
          <a:noFill/>
        </p:spPr>
        <p:txBody>
          <a:bodyPr wrap="square" lIns="0" rIns="0" tIns="0" bIns="0" anchor="t">
            <a:spAutoFit/>
          </a:bodyPr>
          <a:lstStyle/>
          <a:p>
            <a:pPr algn="l">
              <a:lnSpc>
                <a:spcPct val="130000"/>
              </a:lnSpc>
            </a:pPr>
            <a:r>
              <a:rPr sz="840" b="0">
                <a:solidFill>
                  <a:srgbClr val="8799B3"/>
                </a:solidFill>
                <a:latin typeface="Inter"/>
              </a:rPr>
              <a:t>Course and reference book</a:t>
            </a:r>
          </a:p>
        </p:txBody>
      </p:sp>
      <p:sp>
        <p:nvSpPr>
          <p:cNvPr id="56" name="TextBox 55"/>
          <p:cNvSpPr txBox="1"/>
          <p:nvPr/>
        </p:nvSpPr>
        <p:spPr>
          <a:xfrm>
            <a:off x="6272784" y="5102352"/>
            <a:ext cx="868680" cy="182880"/>
          </a:xfrm>
          <a:prstGeom prst="rect">
            <a:avLst/>
          </a:prstGeom>
          <a:noFill/>
        </p:spPr>
        <p:txBody>
          <a:bodyPr wrap="square" lIns="0" rIns="0" tIns="0" bIns="0" anchor="t">
            <a:spAutoFit/>
          </a:bodyPr>
          <a:lstStyle/>
          <a:p>
            <a:pPr algn="r">
              <a:lnSpc>
                <a:spcPct val="130000"/>
              </a:lnSpc>
            </a:pPr>
            <a:r>
              <a:rPr sz="860" b="1">
                <a:solidFill>
                  <a:srgbClr val="C3CEE0"/>
                </a:solidFill>
                <a:latin typeface="Inter"/>
              </a:rPr>
              <a:t>−₹600</a:t>
            </a:r>
          </a:p>
        </p:txBody>
      </p:sp>
      <p:sp>
        <p:nvSpPr>
          <p:cNvPr id="57" name="TextBox 56"/>
          <p:cNvSpPr txBox="1"/>
          <p:nvPr/>
        </p:nvSpPr>
        <p:spPr>
          <a:xfrm>
            <a:off x="7242048" y="5102352"/>
            <a:ext cx="914400" cy="182880"/>
          </a:xfrm>
          <a:prstGeom prst="rect">
            <a:avLst/>
          </a:prstGeom>
          <a:noFill/>
        </p:spPr>
        <p:txBody>
          <a:bodyPr wrap="square" lIns="0" rIns="0" tIns="0" bIns="0" anchor="t">
            <a:spAutoFit/>
          </a:bodyPr>
          <a:lstStyle/>
          <a:p>
            <a:pPr algn="r">
              <a:lnSpc>
                <a:spcPct val="130000"/>
              </a:lnSpc>
            </a:pPr>
            <a:r>
              <a:rPr sz="860" b="1">
                <a:solidFill>
                  <a:srgbClr val="FFFFFF"/>
                </a:solidFill>
                <a:latin typeface="Inter"/>
              </a:rPr>
              <a:t>₹2,750</a:t>
            </a:r>
          </a:p>
        </p:txBody>
      </p:sp>
      <p:cxnSp>
        <p:nvCxnSpPr>
          <p:cNvPr id="58" name="Connector 57"/>
          <p:cNvCxnSpPr/>
          <p:nvPr/>
        </p:nvCxnSpPr>
        <p:spPr>
          <a:xfrm>
            <a:off x="685800" y="5394960"/>
            <a:ext cx="7452360" cy="0"/>
          </a:xfrm>
          <a:prstGeom prst="line">
            <a:avLst/>
          </a:prstGeom>
          <a:ln w="7620">
            <a:solidFill>
              <a:srgbClr val="1B2A4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85800" y="5522976"/>
            <a:ext cx="914400" cy="182880"/>
          </a:xfrm>
          <a:prstGeom prst="rect">
            <a:avLst/>
          </a:prstGeom>
          <a:noFill/>
        </p:spPr>
        <p:txBody>
          <a:bodyPr wrap="square" lIns="0" rIns="0" tIns="0" bIns="0" anchor="t">
            <a:spAutoFit/>
          </a:bodyPr>
          <a:lstStyle/>
          <a:p>
            <a:pPr algn="l">
              <a:lnSpc>
                <a:spcPct val="130000"/>
              </a:lnSpc>
            </a:pPr>
            <a:r>
              <a:rPr sz="740" b="0" spc="80">
                <a:solidFill>
                  <a:srgbClr val="8194AE"/>
                </a:solidFill>
                <a:latin typeface="Inter"/>
              </a:rPr>
              <a:t>MAY 01</a:t>
            </a:r>
          </a:p>
        </p:txBody>
      </p:sp>
      <p:sp>
        <p:nvSpPr>
          <p:cNvPr id="60" name="TextBox 59"/>
          <p:cNvSpPr txBox="1"/>
          <p:nvPr/>
        </p:nvSpPr>
        <p:spPr>
          <a:xfrm>
            <a:off x="1627632" y="5522976"/>
            <a:ext cx="2103120" cy="182880"/>
          </a:xfrm>
          <a:prstGeom prst="rect">
            <a:avLst/>
          </a:prstGeom>
          <a:noFill/>
        </p:spPr>
        <p:txBody>
          <a:bodyPr wrap="square" lIns="0" rIns="0" tIns="0" bIns="0" anchor="t">
            <a:spAutoFit/>
          </a:bodyPr>
          <a:lstStyle/>
          <a:p>
            <a:pPr algn="l">
              <a:lnSpc>
                <a:spcPct val="130000"/>
              </a:lnSpc>
            </a:pPr>
            <a:r>
              <a:rPr sz="860" b="0">
                <a:solidFill>
                  <a:srgbClr val="DDE6F1"/>
                </a:solidFill>
                <a:latin typeface="Inter"/>
              </a:rPr>
              <a:t>Contribution received</a:t>
            </a:r>
          </a:p>
        </p:txBody>
      </p:sp>
      <p:sp>
        <p:nvSpPr>
          <p:cNvPr id="61" name="TextBox 60"/>
          <p:cNvSpPr txBox="1"/>
          <p:nvPr/>
        </p:nvSpPr>
        <p:spPr>
          <a:xfrm>
            <a:off x="3803904" y="5522976"/>
            <a:ext cx="2377440" cy="182880"/>
          </a:xfrm>
          <a:prstGeom prst="rect">
            <a:avLst/>
          </a:prstGeom>
          <a:noFill/>
        </p:spPr>
        <p:txBody>
          <a:bodyPr wrap="square" lIns="0" rIns="0" tIns="0" bIns="0" anchor="t">
            <a:spAutoFit/>
          </a:bodyPr>
          <a:lstStyle/>
          <a:p>
            <a:pPr algn="l">
              <a:lnSpc>
                <a:spcPct val="130000"/>
              </a:lnSpc>
            </a:pPr>
            <a:r>
              <a:rPr sz="840" b="0">
                <a:solidFill>
                  <a:srgbClr val="8799B3"/>
                </a:solidFill>
                <a:latin typeface="Inter"/>
              </a:rPr>
              <a:t>Monthly deposit</a:t>
            </a:r>
          </a:p>
        </p:txBody>
      </p:sp>
      <p:sp>
        <p:nvSpPr>
          <p:cNvPr id="62" name="TextBox 61"/>
          <p:cNvSpPr txBox="1"/>
          <p:nvPr/>
        </p:nvSpPr>
        <p:spPr>
          <a:xfrm>
            <a:off x="6272784" y="5522976"/>
            <a:ext cx="868680" cy="182880"/>
          </a:xfrm>
          <a:prstGeom prst="rect">
            <a:avLst/>
          </a:prstGeom>
          <a:noFill/>
        </p:spPr>
        <p:txBody>
          <a:bodyPr wrap="square" lIns="0" rIns="0" tIns="0" bIns="0" anchor="t">
            <a:spAutoFit/>
          </a:bodyPr>
          <a:lstStyle/>
          <a:p>
            <a:pPr algn="r">
              <a:lnSpc>
                <a:spcPct val="130000"/>
              </a:lnSpc>
            </a:pPr>
            <a:r>
              <a:rPr sz="860" b="1">
                <a:solidFill>
                  <a:srgbClr val="22D3EE"/>
                </a:solidFill>
                <a:latin typeface="Inter"/>
              </a:rPr>
              <a:t>+₹2,000</a:t>
            </a:r>
          </a:p>
        </p:txBody>
      </p:sp>
      <p:sp>
        <p:nvSpPr>
          <p:cNvPr id="63" name="TextBox 62"/>
          <p:cNvSpPr txBox="1"/>
          <p:nvPr/>
        </p:nvSpPr>
        <p:spPr>
          <a:xfrm>
            <a:off x="7242048" y="5522976"/>
            <a:ext cx="914400" cy="182880"/>
          </a:xfrm>
          <a:prstGeom prst="rect">
            <a:avLst/>
          </a:prstGeom>
          <a:noFill/>
        </p:spPr>
        <p:txBody>
          <a:bodyPr wrap="square" lIns="0" rIns="0" tIns="0" bIns="0" anchor="t">
            <a:spAutoFit/>
          </a:bodyPr>
          <a:lstStyle/>
          <a:p>
            <a:pPr algn="r">
              <a:lnSpc>
                <a:spcPct val="130000"/>
              </a:lnSpc>
            </a:pPr>
            <a:r>
              <a:rPr sz="860" b="1">
                <a:solidFill>
                  <a:srgbClr val="FFFFFF"/>
                </a:solidFill>
                <a:latin typeface="Inter"/>
              </a:rPr>
              <a:t>₹4,750</a:t>
            </a:r>
          </a:p>
        </p:txBody>
      </p:sp>
      <p:cxnSp>
        <p:nvCxnSpPr>
          <p:cNvPr id="64" name="Connector 63"/>
          <p:cNvCxnSpPr/>
          <p:nvPr/>
        </p:nvCxnSpPr>
        <p:spPr>
          <a:xfrm>
            <a:off x="685800" y="5815584"/>
            <a:ext cx="7452360" cy="0"/>
          </a:xfrm>
          <a:prstGeom prst="line">
            <a:avLst/>
          </a:prstGeom>
          <a:ln w="7620">
            <a:solidFill>
              <a:srgbClr val="1B2A46"/>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8430768" y="3145536"/>
            <a:ext cx="3072384" cy="2798064"/>
          </a:xfrm>
          <a:prstGeom prst="roundRect">
            <a:avLst>
              <a:gd name="adj" fmla="val 3267"/>
            </a:avLst>
          </a:prstGeom>
          <a:solidFill>
            <a:srgbClr val="0C1729"/>
          </a:solidFill>
          <a:ln w="11430">
            <a:solidFill>
              <a:srgbClr val="1B2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68512" y="3310128"/>
            <a:ext cx="2615184" cy="182880"/>
          </a:xfrm>
          <a:prstGeom prst="rect">
            <a:avLst/>
          </a:prstGeom>
          <a:noFill/>
        </p:spPr>
        <p:txBody>
          <a:bodyPr wrap="square" lIns="0" rIns="0" tIns="0" bIns="0" anchor="t">
            <a:spAutoFit/>
          </a:bodyPr>
          <a:lstStyle/>
          <a:p>
            <a:pPr algn="l">
              <a:lnSpc>
                <a:spcPct val="130000"/>
              </a:lnSpc>
            </a:pPr>
            <a:r>
              <a:rPr sz="690" b="1" spc="200">
                <a:solidFill>
                  <a:srgbClr val="22D3EE"/>
                </a:solidFill>
                <a:latin typeface="Inter"/>
              </a:rPr>
              <a:t>THE FOUR RULES</a:t>
            </a:r>
          </a:p>
        </p:txBody>
      </p:sp>
      <p:sp>
        <p:nvSpPr>
          <p:cNvPr id="67" name="Freeform 66"/>
          <p:cNvSpPr/>
          <p:nvPr/>
        </p:nvSpPr>
        <p:spPr>
          <a:xfrm>
            <a:off x="9144000" y="36576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42832" y="3566160"/>
            <a:ext cx="2286000" cy="402336"/>
          </a:xfrm>
          <a:prstGeom prst="rect">
            <a:avLst/>
          </a:prstGeom>
          <a:noFill/>
        </p:spPr>
        <p:txBody>
          <a:bodyPr wrap="square" lIns="0" rIns="0" tIns="0" bIns="0" anchor="t">
            <a:spAutoFit/>
          </a:bodyPr>
          <a:lstStyle/>
          <a:p>
            <a:pPr algn="l">
              <a:lnSpc>
                <a:spcPct val="145000"/>
              </a:lnSpc>
            </a:pPr>
            <a:r>
              <a:rPr sz="819" b="0">
                <a:solidFill>
                  <a:srgbClr val="B8C6D8"/>
                </a:solidFill>
                <a:latin typeface="Inter"/>
              </a:rPr>
              <a:t>Record every transaction the day it happens.</a:t>
            </a:r>
          </a:p>
        </p:txBody>
      </p:sp>
      <p:sp>
        <p:nvSpPr>
          <p:cNvPr id="69" name="Freeform 68"/>
          <p:cNvSpPr/>
          <p:nvPr/>
        </p:nvSpPr>
        <p:spPr>
          <a:xfrm>
            <a:off x="9144000" y="3657600"/>
            <a:ext cx="0" cy="914400"/>
          </a:xfrm>
          <a:custGeom>
            <a:avLst/>
            <a:gdLst/>
            <a:ahLst/>
            <a:cxnLst/>
            <a:rect l="l" t="t" r="r" b="b"/>
            <a:pathLst>
              <a:path w="0" h="1">
                <a:moveTo>
                  <a:pt x="0" y="0"/>
                </a:moveTo>
                <a:lnTo>
                  <a:pt x="0" y="1"/>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42832" y="4023360"/>
            <a:ext cx="2286000" cy="402336"/>
          </a:xfrm>
          <a:prstGeom prst="rect">
            <a:avLst/>
          </a:prstGeom>
          <a:noFill/>
        </p:spPr>
        <p:txBody>
          <a:bodyPr wrap="square" lIns="0" rIns="0" tIns="0" bIns="0" anchor="t">
            <a:spAutoFit/>
          </a:bodyPr>
          <a:lstStyle/>
          <a:p>
            <a:pPr algn="l">
              <a:lnSpc>
                <a:spcPct val="145000"/>
              </a:lnSpc>
            </a:pPr>
            <a:r>
              <a:rPr sz="819" b="0">
                <a:solidFill>
                  <a:srgbClr val="B8C6D8"/>
                </a:solidFill>
                <a:latin typeface="Inter"/>
              </a:rPr>
              <a:t>Write the purpose, not just the amount.</a:t>
            </a:r>
          </a:p>
        </p:txBody>
      </p:sp>
      <p:sp>
        <p:nvSpPr>
          <p:cNvPr id="71" name="Freeform 70"/>
          <p:cNvSpPr/>
          <p:nvPr/>
        </p:nvSpPr>
        <p:spPr>
          <a:xfrm>
            <a:off x="9144000" y="4572000"/>
            <a:ext cx="0" cy="0"/>
          </a:xfrm>
          <a:custGeom>
            <a:avLst/>
            <a:gdLst/>
            <a:ahLst/>
            <a:cxnLst/>
            <a:rect l="l" t="t" r="r" b="b"/>
            <a:pathLst>
              <a:path w="0" h="0">
                <a:moveTo>
                  <a:pt x="0" y="0"/>
                </a:moveTo>
                <a:lnTo>
                  <a:pt x="0" y="0"/>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942832" y="4480560"/>
            <a:ext cx="2286000" cy="402336"/>
          </a:xfrm>
          <a:prstGeom prst="rect">
            <a:avLst/>
          </a:prstGeom>
          <a:noFill/>
        </p:spPr>
        <p:txBody>
          <a:bodyPr wrap="square" lIns="0" rIns="0" tIns="0" bIns="0" anchor="t">
            <a:spAutoFit/>
          </a:bodyPr>
          <a:lstStyle/>
          <a:p>
            <a:pPr algn="l">
              <a:lnSpc>
                <a:spcPct val="145000"/>
              </a:lnSpc>
            </a:pPr>
            <a:r>
              <a:rPr sz="819" b="0">
                <a:solidFill>
                  <a:srgbClr val="B8C6D8"/>
                </a:solidFill>
                <a:latin typeface="Inter"/>
              </a:rPr>
              <a:t>Share the whole record, unedited.</a:t>
            </a:r>
          </a:p>
        </p:txBody>
      </p:sp>
      <p:sp>
        <p:nvSpPr>
          <p:cNvPr id="73" name="Freeform 72"/>
          <p:cNvSpPr/>
          <p:nvPr/>
        </p:nvSpPr>
        <p:spPr>
          <a:xfrm>
            <a:off x="9144000" y="4572000"/>
            <a:ext cx="0" cy="914400"/>
          </a:xfrm>
          <a:custGeom>
            <a:avLst/>
            <a:gdLst/>
            <a:ahLst/>
            <a:cxnLst/>
            <a:rect l="l" t="t" r="r" b="b"/>
            <a:pathLst>
              <a:path w="0" h="1">
                <a:moveTo>
                  <a:pt x="0" y="0"/>
                </a:moveTo>
                <a:lnTo>
                  <a:pt x="0" y="1"/>
                </a:lnTo>
                <a:lnTo>
                  <a:pt x="0" y="0"/>
                </a:lnTo>
              </a:path>
            </a:pathLst>
          </a:custGeom>
          <a:noFill/>
          <a:ln w="24765">
            <a:solidFill>
              <a:srgbClr val="12B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942832" y="4937760"/>
            <a:ext cx="2286000" cy="402336"/>
          </a:xfrm>
          <a:prstGeom prst="rect">
            <a:avLst/>
          </a:prstGeom>
          <a:noFill/>
        </p:spPr>
        <p:txBody>
          <a:bodyPr wrap="square" lIns="0" rIns="0" tIns="0" bIns="0" anchor="t">
            <a:spAutoFit/>
          </a:bodyPr>
          <a:lstStyle/>
          <a:p>
            <a:pPr algn="l">
              <a:lnSpc>
                <a:spcPct val="145000"/>
              </a:lnSpc>
            </a:pPr>
            <a:r>
              <a:rPr sz="819" b="0">
                <a:solidFill>
                  <a:srgbClr val="B8C6D8"/>
                </a:solidFill>
                <a:latin typeface="Inter"/>
              </a:rPr>
              <a:t>Discuss anything significant beforehand.</a:t>
            </a:r>
          </a:p>
        </p:txBody>
      </p:sp>
      <p:cxnSp>
        <p:nvCxnSpPr>
          <p:cNvPr id="75" name="Connector 74"/>
          <p:cNvCxnSpPr/>
          <p:nvPr/>
        </p:nvCxnSpPr>
        <p:spPr>
          <a:xfrm>
            <a:off x="8668512" y="5413248"/>
            <a:ext cx="2596896"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8668512" y="5504688"/>
            <a:ext cx="2615184" cy="182880"/>
          </a:xfrm>
          <a:prstGeom prst="rect">
            <a:avLst/>
          </a:prstGeom>
          <a:noFill/>
        </p:spPr>
        <p:txBody>
          <a:bodyPr wrap="square" lIns="0" rIns="0" tIns="0" bIns="0" anchor="t">
            <a:spAutoFit/>
          </a:bodyPr>
          <a:lstStyle/>
          <a:p>
            <a:pPr algn="l">
              <a:lnSpc>
                <a:spcPct val="130000"/>
              </a:lnSpc>
            </a:pPr>
            <a:r>
              <a:rPr sz="720" b="1" spc="180">
                <a:solidFill>
                  <a:srgbClr val="FFFFFF"/>
                </a:solidFill>
                <a:latin typeface="Inter"/>
              </a:rPr>
              <a:t>NO HIDDEN LINES.</a:t>
            </a:r>
          </a:p>
        </p:txBody>
      </p:sp>
      <p:sp>
        <p:nvSpPr>
          <p:cNvPr id="77" name="TextBox 76"/>
          <p:cNvSpPr txBox="1"/>
          <p:nvPr/>
        </p:nvSpPr>
        <p:spPr>
          <a:xfrm>
            <a:off x="8668512" y="5687568"/>
            <a:ext cx="2615184" cy="182880"/>
          </a:xfrm>
          <a:prstGeom prst="rect">
            <a:avLst/>
          </a:prstGeom>
          <a:noFill/>
        </p:spPr>
        <p:txBody>
          <a:bodyPr wrap="square" lIns="0" rIns="0" tIns="0" bIns="0" anchor="t">
            <a:spAutoFit/>
          </a:bodyPr>
          <a:lstStyle/>
          <a:p>
            <a:pPr algn="l">
              <a:lnSpc>
                <a:spcPct val="130000"/>
              </a:lnSpc>
            </a:pPr>
            <a:r>
              <a:rPr sz="740" b="0">
                <a:solidFill>
                  <a:srgbClr val="6C8099"/>
                </a:solidFill>
                <a:latin typeface="Inter"/>
              </a:rPr>
              <a:t>Access to the full record, any time you ask.</a:t>
            </a:r>
          </a:p>
        </p:txBody>
      </p:sp>
      <p:sp>
        <p:nvSpPr>
          <p:cNvPr id="78" name="TextBox 77"/>
          <p:cNvSpPr txBox="1"/>
          <p:nvPr/>
        </p:nvSpPr>
        <p:spPr>
          <a:xfrm>
            <a:off x="685800" y="6053328"/>
            <a:ext cx="7498080" cy="182880"/>
          </a:xfrm>
          <a:prstGeom prst="rect">
            <a:avLst/>
          </a:prstGeom>
          <a:noFill/>
        </p:spPr>
        <p:txBody>
          <a:bodyPr wrap="square" lIns="0" rIns="0" tIns="0" bIns="0" anchor="t">
            <a:spAutoFit/>
          </a:bodyPr>
          <a:lstStyle/>
          <a:p>
            <a:pPr algn="l">
              <a:lnSpc>
                <a:spcPct val="130000"/>
              </a:lnSpc>
            </a:pPr>
            <a:r>
              <a:rPr sz="760" b="0">
                <a:solidFill>
                  <a:srgbClr val="61738F"/>
                </a:solidFill>
                <a:latin typeface="Inter"/>
              </a:rPr>
              <a:t>Illustrative figures for a three-month pilot. Real entries begin from the first month.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09 · THE PILOT</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Three months. Then we decide together.</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A defined trial, not an indefinite commitment — and not a decision you have to get right first time.</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10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 y="2066544"/>
            <a:ext cx="3401568" cy="1298448"/>
          </a:xfrm>
          <a:prstGeom prst="roundRect">
            <a:avLst>
              <a:gd name="adj" fmla="val 845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231136"/>
            <a:ext cx="1828800" cy="182880"/>
          </a:xfrm>
          <a:prstGeom prst="rect">
            <a:avLst/>
          </a:prstGeom>
          <a:noFill/>
        </p:spPr>
        <p:txBody>
          <a:bodyPr wrap="square" lIns="0" rIns="0" tIns="0" bIns="0" anchor="t">
            <a:spAutoFit/>
          </a:bodyPr>
          <a:lstStyle/>
          <a:p>
            <a:pPr algn="l">
              <a:lnSpc>
                <a:spcPct val="130000"/>
              </a:lnSpc>
            </a:pPr>
            <a:r>
              <a:rPr sz="720" b="1" spc="200">
                <a:solidFill>
                  <a:srgbClr val="1D4ED8"/>
                </a:solidFill>
                <a:latin typeface="Inter"/>
              </a:rPr>
              <a:t>MONTH 01</a:t>
            </a:r>
          </a:p>
        </p:txBody>
      </p:sp>
      <p:sp>
        <p:nvSpPr>
          <p:cNvPr id="9" name="TextBox 8"/>
          <p:cNvSpPr txBox="1"/>
          <p:nvPr/>
        </p:nvSpPr>
        <p:spPr>
          <a:xfrm>
            <a:off x="941832" y="2414016"/>
            <a:ext cx="1828800" cy="329184"/>
          </a:xfrm>
          <a:prstGeom prst="rect">
            <a:avLst/>
          </a:prstGeom>
          <a:noFill/>
        </p:spPr>
        <p:txBody>
          <a:bodyPr wrap="square" lIns="0" rIns="0" tIns="0" bIns="0" anchor="t">
            <a:spAutoFit/>
          </a:bodyPr>
          <a:lstStyle/>
          <a:p>
            <a:pPr algn="l">
              <a:lnSpc>
                <a:spcPct val="130000"/>
              </a:lnSpc>
            </a:pPr>
            <a:r>
              <a:rPr sz="1900" b="1" spc="-40">
                <a:solidFill>
                  <a:srgbClr val="0A1322"/>
                </a:solidFill>
                <a:latin typeface="Inter"/>
              </a:rPr>
              <a:t>₹2,000</a:t>
            </a:r>
          </a:p>
        </p:txBody>
      </p:sp>
      <p:sp>
        <p:nvSpPr>
          <p:cNvPr id="10" name="TextBox 9"/>
          <p:cNvSpPr txBox="1"/>
          <p:nvPr/>
        </p:nvSpPr>
        <p:spPr>
          <a:xfrm>
            <a:off x="2103120" y="2487168"/>
            <a:ext cx="1828800" cy="182880"/>
          </a:xfrm>
          <a:prstGeom prst="rect">
            <a:avLst/>
          </a:prstGeom>
          <a:noFill/>
        </p:spPr>
        <p:txBody>
          <a:bodyPr wrap="square" lIns="0" rIns="0" tIns="0" bIns="0" anchor="t">
            <a:spAutoFit/>
          </a:bodyPr>
          <a:lstStyle/>
          <a:p>
            <a:pPr algn="l">
              <a:lnSpc>
                <a:spcPct val="130000"/>
              </a:lnSpc>
            </a:pPr>
            <a:r>
              <a:rPr sz="740" b="0">
                <a:solidFill>
                  <a:srgbClr val="8A99AE"/>
                </a:solidFill>
                <a:latin typeface="Inter"/>
              </a:rPr>
              <a:t>₹1,900 dev · ₹100 personal</a:t>
            </a:r>
          </a:p>
        </p:txBody>
      </p:sp>
      <p:sp>
        <p:nvSpPr>
          <p:cNvPr id="11" name="TextBox 10"/>
          <p:cNvSpPr txBox="1"/>
          <p:nvPr/>
        </p:nvSpPr>
        <p:spPr>
          <a:xfrm>
            <a:off x="941832" y="2871216"/>
            <a:ext cx="2944368" cy="182880"/>
          </a:xfrm>
          <a:prstGeom prst="rect">
            <a:avLst/>
          </a:prstGeom>
          <a:noFill/>
        </p:spPr>
        <p:txBody>
          <a:bodyPr wrap="square" lIns="0" rIns="0" tIns="0" bIns="0" anchor="t">
            <a:spAutoFit/>
          </a:bodyPr>
          <a:lstStyle/>
          <a:p>
            <a:pPr algn="l">
              <a:lnSpc>
                <a:spcPct val="130000"/>
              </a:lnSpc>
            </a:pPr>
            <a:r>
              <a:rPr sz="880" b="1">
                <a:solidFill>
                  <a:srgbClr val="2C3B52"/>
                </a:solidFill>
                <a:latin typeface="Inter"/>
              </a:rPr>
              <a:t>Set the system up</a:t>
            </a:r>
          </a:p>
        </p:txBody>
      </p:sp>
      <p:sp>
        <p:nvSpPr>
          <p:cNvPr id="12" name="TextBox 11"/>
          <p:cNvSpPr txBox="1"/>
          <p:nvPr/>
        </p:nvSpPr>
        <p:spPr>
          <a:xfrm>
            <a:off x="941832" y="3072384"/>
            <a:ext cx="2944368" cy="182880"/>
          </a:xfrm>
          <a:prstGeom prst="rect">
            <a:avLst/>
          </a:prstGeom>
          <a:noFill/>
        </p:spPr>
        <p:txBody>
          <a:bodyPr wrap="square" lIns="0" rIns="0" tIns="0" bIns="0" anchor="t">
            <a:spAutoFit/>
          </a:bodyPr>
          <a:lstStyle/>
          <a:p>
            <a:pPr algn="l">
              <a:lnSpc>
                <a:spcPct val="130000"/>
              </a:lnSpc>
            </a:pPr>
            <a:r>
              <a:rPr sz="760" b="0">
                <a:solidFill>
                  <a:srgbClr val="8A99AE"/>
                </a:solidFill>
                <a:latin typeface="Inter"/>
              </a:rPr>
              <a:t>Ledger opened · first resources</a:t>
            </a:r>
          </a:p>
        </p:txBody>
      </p:sp>
      <p:sp>
        <p:nvSpPr>
          <p:cNvPr id="13" name="Rounded Rectangle 12"/>
          <p:cNvSpPr/>
          <p:nvPr/>
        </p:nvSpPr>
        <p:spPr>
          <a:xfrm>
            <a:off x="4398264" y="2066544"/>
            <a:ext cx="3401568" cy="1298448"/>
          </a:xfrm>
          <a:prstGeom prst="roundRect">
            <a:avLst>
              <a:gd name="adj" fmla="val 845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2231136"/>
            <a:ext cx="1828800" cy="182880"/>
          </a:xfrm>
          <a:prstGeom prst="rect">
            <a:avLst/>
          </a:prstGeom>
          <a:noFill/>
        </p:spPr>
        <p:txBody>
          <a:bodyPr wrap="square" lIns="0" rIns="0" tIns="0" bIns="0" anchor="t">
            <a:spAutoFit/>
          </a:bodyPr>
          <a:lstStyle/>
          <a:p>
            <a:pPr algn="l">
              <a:lnSpc>
                <a:spcPct val="130000"/>
              </a:lnSpc>
            </a:pPr>
            <a:r>
              <a:rPr sz="720" b="1" spc="200">
                <a:solidFill>
                  <a:srgbClr val="1D4ED8"/>
                </a:solidFill>
                <a:latin typeface="Inter"/>
              </a:rPr>
              <a:t>MONTH 02</a:t>
            </a:r>
          </a:p>
        </p:txBody>
      </p:sp>
      <p:sp>
        <p:nvSpPr>
          <p:cNvPr id="15" name="TextBox 14"/>
          <p:cNvSpPr txBox="1"/>
          <p:nvPr/>
        </p:nvSpPr>
        <p:spPr>
          <a:xfrm>
            <a:off x="4654296" y="2414016"/>
            <a:ext cx="1828800" cy="329184"/>
          </a:xfrm>
          <a:prstGeom prst="rect">
            <a:avLst/>
          </a:prstGeom>
          <a:noFill/>
        </p:spPr>
        <p:txBody>
          <a:bodyPr wrap="square" lIns="0" rIns="0" tIns="0" bIns="0" anchor="t">
            <a:spAutoFit/>
          </a:bodyPr>
          <a:lstStyle/>
          <a:p>
            <a:pPr algn="l">
              <a:lnSpc>
                <a:spcPct val="130000"/>
              </a:lnSpc>
            </a:pPr>
            <a:r>
              <a:rPr sz="1900" b="1" spc="-40">
                <a:solidFill>
                  <a:srgbClr val="0A1322"/>
                </a:solidFill>
                <a:latin typeface="Inter"/>
              </a:rPr>
              <a:t>₹2,000</a:t>
            </a:r>
          </a:p>
        </p:txBody>
      </p:sp>
      <p:sp>
        <p:nvSpPr>
          <p:cNvPr id="16" name="TextBox 15"/>
          <p:cNvSpPr txBox="1"/>
          <p:nvPr/>
        </p:nvSpPr>
        <p:spPr>
          <a:xfrm>
            <a:off x="5815584" y="2487168"/>
            <a:ext cx="1828800" cy="182880"/>
          </a:xfrm>
          <a:prstGeom prst="rect">
            <a:avLst/>
          </a:prstGeom>
          <a:noFill/>
        </p:spPr>
        <p:txBody>
          <a:bodyPr wrap="square" lIns="0" rIns="0" tIns="0" bIns="0" anchor="t">
            <a:spAutoFit/>
          </a:bodyPr>
          <a:lstStyle/>
          <a:p>
            <a:pPr algn="l">
              <a:lnSpc>
                <a:spcPct val="130000"/>
              </a:lnSpc>
            </a:pPr>
            <a:r>
              <a:rPr sz="740" b="0">
                <a:solidFill>
                  <a:srgbClr val="8A99AE"/>
                </a:solidFill>
                <a:latin typeface="Inter"/>
              </a:rPr>
              <a:t>₹1,900 dev · ₹100 personal</a:t>
            </a:r>
          </a:p>
        </p:txBody>
      </p:sp>
      <p:sp>
        <p:nvSpPr>
          <p:cNvPr id="17" name="TextBox 16"/>
          <p:cNvSpPr txBox="1"/>
          <p:nvPr/>
        </p:nvSpPr>
        <p:spPr>
          <a:xfrm>
            <a:off x="4654296" y="2871216"/>
            <a:ext cx="2944368" cy="182880"/>
          </a:xfrm>
          <a:prstGeom prst="rect">
            <a:avLst/>
          </a:prstGeom>
          <a:noFill/>
        </p:spPr>
        <p:txBody>
          <a:bodyPr wrap="square" lIns="0" rIns="0" tIns="0" bIns="0" anchor="t">
            <a:spAutoFit/>
          </a:bodyPr>
          <a:lstStyle/>
          <a:p>
            <a:pPr algn="l">
              <a:lnSpc>
                <a:spcPct val="130000"/>
              </a:lnSpc>
            </a:pPr>
            <a:r>
              <a:rPr sz="880" b="1">
                <a:solidFill>
                  <a:srgbClr val="2C3B52"/>
                </a:solidFill>
                <a:latin typeface="Inter"/>
              </a:rPr>
              <a:t>Settle into the routine</a:t>
            </a:r>
          </a:p>
        </p:txBody>
      </p:sp>
      <p:sp>
        <p:nvSpPr>
          <p:cNvPr id="18" name="TextBox 17"/>
          <p:cNvSpPr txBox="1"/>
          <p:nvPr/>
        </p:nvSpPr>
        <p:spPr>
          <a:xfrm>
            <a:off x="4654296" y="3072384"/>
            <a:ext cx="2944368" cy="182880"/>
          </a:xfrm>
          <a:prstGeom prst="rect">
            <a:avLst/>
          </a:prstGeom>
          <a:noFill/>
        </p:spPr>
        <p:txBody>
          <a:bodyPr wrap="square" lIns="0" rIns="0" tIns="0" bIns="0" anchor="t">
            <a:spAutoFit/>
          </a:bodyPr>
          <a:lstStyle/>
          <a:p>
            <a:pPr algn="l">
              <a:lnSpc>
                <a:spcPct val="130000"/>
              </a:lnSpc>
            </a:pPr>
            <a:r>
              <a:rPr sz="760" b="0">
                <a:solidFill>
                  <a:srgbClr val="8A99AE"/>
                </a:solidFill>
                <a:latin typeface="Inter"/>
              </a:rPr>
              <a:t>Consistent build time · review notes</a:t>
            </a:r>
          </a:p>
        </p:txBody>
      </p:sp>
      <p:sp>
        <p:nvSpPr>
          <p:cNvPr id="19" name="Rounded Rectangle 18"/>
          <p:cNvSpPr/>
          <p:nvPr/>
        </p:nvSpPr>
        <p:spPr>
          <a:xfrm>
            <a:off x="8110728" y="2066544"/>
            <a:ext cx="3401568" cy="1298448"/>
          </a:xfrm>
          <a:prstGeom prst="roundRect">
            <a:avLst>
              <a:gd name="adj" fmla="val 8450"/>
            </a:avLst>
          </a:prstGeom>
          <a:solidFill>
            <a:srgbClr val="FFFFFF"/>
          </a:solidFill>
          <a:ln w="11430">
            <a:solidFill>
              <a:srgbClr val="E2E8F1"/>
            </a:solidFill>
          </a:ln>
          <a:effectLst>
            <a:outerShdw blurRad="182880" dist="45720" dir="5400000" algn="ctr" rotWithShape="0">
              <a:srgbClr val="0A1322">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2231136"/>
            <a:ext cx="1828800" cy="182880"/>
          </a:xfrm>
          <a:prstGeom prst="rect">
            <a:avLst/>
          </a:prstGeom>
          <a:noFill/>
        </p:spPr>
        <p:txBody>
          <a:bodyPr wrap="square" lIns="0" rIns="0" tIns="0" bIns="0" anchor="t">
            <a:spAutoFit/>
          </a:bodyPr>
          <a:lstStyle/>
          <a:p>
            <a:pPr algn="l">
              <a:lnSpc>
                <a:spcPct val="130000"/>
              </a:lnSpc>
            </a:pPr>
            <a:r>
              <a:rPr sz="720" b="1" spc="200">
                <a:solidFill>
                  <a:srgbClr val="1D4ED8"/>
                </a:solidFill>
                <a:latin typeface="Inter"/>
              </a:rPr>
              <a:t>MONTH 03</a:t>
            </a:r>
          </a:p>
        </p:txBody>
      </p:sp>
      <p:sp>
        <p:nvSpPr>
          <p:cNvPr id="21" name="TextBox 20"/>
          <p:cNvSpPr txBox="1"/>
          <p:nvPr/>
        </p:nvSpPr>
        <p:spPr>
          <a:xfrm>
            <a:off x="8366760" y="2414016"/>
            <a:ext cx="1828800" cy="329184"/>
          </a:xfrm>
          <a:prstGeom prst="rect">
            <a:avLst/>
          </a:prstGeom>
          <a:noFill/>
        </p:spPr>
        <p:txBody>
          <a:bodyPr wrap="square" lIns="0" rIns="0" tIns="0" bIns="0" anchor="t">
            <a:spAutoFit/>
          </a:bodyPr>
          <a:lstStyle/>
          <a:p>
            <a:pPr algn="l">
              <a:lnSpc>
                <a:spcPct val="130000"/>
              </a:lnSpc>
            </a:pPr>
            <a:r>
              <a:rPr sz="1900" b="1" spc="-40">
                <a:solidFill>
                  <a:srgbClr val="0A1322"/>
                </a:solidFill>
                <a:latin typeface="Inter"/>
              </a:rPr>
              <a:t>₹2,000</a:t>
            </a:r>
          </a:p>
        </p:txBody>
      </p:sp>
      <p:sp>
        <p:nvSpPr>
          <p:cNvPr id="22" name="TextBox 21"/>
          <p:cNvSpPr txBox="1"/>
          <p:nvPr/>
        </p:nvSpPr>
        <p:spPr>
          <a:xfrm>
            <a:off x="9528048" y="2487168"/>
            <a:ext cx="1828800" cy="182880"/>
          </a:xfrm>
          <a:prstGeom prst="rect">
            <a:avLst/>
          </a:prstGeom>
          <a:noFill/>
        </p:spPr>
        <p:txBody>
          <a:bodyPr wrap="square" lIns="0" rIns="0" tIns="0" bIns="0" anchor="t">
            <a:spAutoFit/>
          </a:bodyPr>
          <a:lstStyle/>
          <a:p>
            <a:pPr algn="l">
              <a:lnSpc>
                <a:spcPct val="130000"/>
              </a:lnSpc>
            </a:pPr>
            <a:r>
              <a:rPr sz="740" b="0">
                <a:solidFill>
                  <a:srgbClr val="8A99AE"/>
                </a:solidFill>
                <a:latin typeface="Inter"/>
              </a:rPr>
              <a:t>₹1,900 dev · ₹100 personal</a:t>
            </a:r>
          </a:p>
        </p:txBody>
      </p:sp>
      <p:sp>
        <p:nvSpPr>
          <p:cNvPr id="23" name="TextBox 22"/>
          <p:cNvSpPr txBox="1"/>
          <p:nvPr/>
        </p:nvSpPr>
        <p:spPr>
          <a:xfrm>
            <a:off x="8366760" y="2871216"/>
            <a:ext cx="2944368" cy="182880"/>
          </a:xfrm>
          <a:prstGeom prst="rect">
            <a:avLst/>
          </a:prstGeom>
          <a:noFill/>
        </p:spPr>
        <p:txBody>
          <a:bodyPr wrap="square" lIns="0" rIns="0" tIns="0" bIns="0" anchor="t">
            <a:spAutoFit/>
          </a:bodyPr>
          <a:lstStyle/>
          <a:p>
            <a:pPr algn="l">
              <a:lnSpc>
                <a:spcPct val="130000"/>
              </a:lnSpc>
            </a:pPr>
            <a:r>
              <a:rPr sz="880" b="1">
                <a:solidFill>
                  <a:srgbClr val="2C3B52"/>
                </a:solidFill>
                <a:latin typeface="Inter"/>
              </a:rPr>
              <a:t>Prepare the review</a:t>
            </a:r>
          </a:p>
        </p:txBody>
      </p:sp>
      <p:sp>
        <p:nvSpPr>
          <p:cNvPr id="24" name="TextBox 23"/>
          <p:cNvSpPr txBox="1"/>
          <p:nvPr/>
        </p:nvSpPr>
        <p:spPr>
          <a:xfrm>
            <a:off x="8366760" y="3072384"/>
            <a:ext cx="2944368" cy="182880"/>
          </a:xfrm>
          <a:prstGeom prst="rect">
            <a:avLst/>
          </a:prstGeom>
          <a:noFill/>
        </p:spPr>
        <p:txBody>
          <a:bodyPr wrap="square" lIns="0" rIns="0" tIns="0" bIns="0" anchor="t">
            <a:spAutoFit/>
          </a:bodyPr>
          <a:lstStyle/>
          <a:p>
            <a:pPr algn="l">
              <a:lnSpc>
                <a:spcPct val="130000"/>
              </a:lnSpc>
            </a:pPr>
            <a:r>
              <a:rPr sz="760" b="0">
                <a:solidFill>
                  <a:srgbClr val="8A99AE"/>
                </a:solidFill>
                <a:latin typeface="Inter"/>
              </a:rPr>
              <a:t>Progress summary · written record</a:t>
            </a:r>
          </a:p>
        </p:txBody>
      </p:sp>
      <p:sp>
        <p:nvSpPr>
          <p:cNvPr id="25" name="Rounded Rectangle 24"/>
          <p:cNvSpPr/>
          <p:nvPr/>
        </p:nvSpPr>
        <p:spPr>
          <a:xfrm>
            <a:off x="685800" y="3529584"/>
            <a:ext cx="10817352" cy="822960"/>
          </a:xfrm>
          <a:prstGeom prst="roundRect">
            <a:avLst>
              <a:gd name="adj" fmla="val 11111"/>
            </a:avLst>
          </a:prstGeom>
          <a:solidFill>
            <a:srgbClr val="070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675888"/>
            <a:ext cx="1920240" cy="164592"/>
          </a:xfrm>
          <a:prstGeom prst="rect">
            <a:avLst/>
          </a:prstGeom>
          <a:noFill/>
        </p:spPr>
        <p:txBody>
          <a:bodyPr wrap="square" lIns="0" rIns="0" tIns="0" bIns="0" anchor="t">
            <a:spAutoFit/>
          </a:bodyPr>
          <a:lstStyle/>
          <a:p>
            <a:pPr algn="l">
              <a:lnSpc>
                <a:spcPct val="130000"/>
              </a:lnSpc>
            </a:pPr>
            <a:r>
              <a:rPr sz="660" b="1" spc="160">
                <a:solidFill>
                  <a:srgbClr val="7E93B0"/>
                </a:solidFill>
                <a:latin typeface="Inter"/>
              </a:rPr>
              <a:t>TOTAL CONTRIBUTED</a:t>
            </a:r>
          </a:p>
        </p:txBody>
      </p:sp>
      <p:sp>
        <p:nvSpPr>
          <p:cNvPr id="27" name="TextBox 26"/>
          <p:cNvSpPr txBox="1"/>
          <p:nvPr/>
        </p:nvSpPr>
        <p:spPr>
          <a:xfrm>
            <a:off x="960120" y="3858768"/>
            <a:ext cx="1920240" cy="310896"/>
          </a:xfrm>
          <a:prstGeom prst="rect">
            <a:avLst/>
          </a:prstGeom>
          <a:noFill/>
        </p:spPr>
        <p:txBody>
          <a:bodyPr wrap="square" lIns="0" rIns="0" tIns="0" bIns="0" anchor="t">
            <a:spAutoFit/>
          </a:bodyPr>
          <a:lstStyle/>
          <a:p>
            <a:pPr algn="l">
              <a:lnSpc>
                <a:spcPct val="130000"/>
              </a:lnSpc>
            </a:pPr>
            <a:r>
              <a:rPr sz="1700" b="1" spc="-40">
                <a:solidFill>
                  <a:srgbClr val="FFFFFF"/>
                </a:solidFill>
                <a:latin typeface="Inter"/>
              </a:rPr>
              <a:t>₹6,000</a:t>
            </a:r>
          </a:p>
        </p:txBody>
      </p:sp>
      <p:sp>
        <p:nvSpPr>
          <p:cNvPr id="28" name="TextBox 27"/>
          <p:cNvSpPr txBox="1"/>
          <p:nvPr/>
        </p:nvSpPr>
        <p:spPr>
          <a:xfrm>
            <a:off x="3108960" y="3675888"/>
            <a:ext cx="1920240" cy="164592"/>
          </a:xfrm>
          <a:prstGeom prst="rect">
            <a:avLst/>
          </a:prstGeom>
          <a:noFill/>
        </p:spPr>
        <p:txBody>
          <a:bodyPr wrap="square" lIns="0" rIns="0" tIns="0" bIns="0" anchor="t">
            <a:spAutoFit/>
          </a:bodyPr>
          <a:lstStyle/>
          <a:p>
            <a:pPr algn="l">
              <a:lnSpc>
                <a:spcPct val="130000"/>
              </a:lnSpc>
            </a:pPr>
            <a:r>
              <a:rPr sz="660" b="1" spc="160">
                <a:solidFill>
                  <a:srgbClr val="7E93B0"/>
                </a:solidFill>
                <a:latin typeface="Inter"/>
              </a:rPr>
              <a:t>DEVELOPMENT FUND</a:t>
            </a:r>
          </a:p>
        </p:txBody>
      </p:sp>
      <p:sp>
        <p:nvSpPr>
          <p:cNvPr id="29" name="TextBox 28"/>
          <p:cNvSpPr txBox="1"/>
          <p:nvPr/>
        </p:nvSpPr>
        <p:spPr>
          <a:xfrm>
            <a:off x="3108960" y="3858768"/>
            <a:ext cx="1920240" cy="310896"/>
          </a:xfrm>
          <a:prstGeom prst="rect">
            <a:avLst/>
          </a:prstGeom>
          <a:noFill/>
        </p:spPr>
        <p:txBody>
          <a:bodyPr wrap="square" lIns="0" rIns="0" tIns="0" bIns="0" anchor="t">
            <a:spAutoFit/>
          </a:bodyPr>
          <a:lstStyle/>
          <a:p>
            <a:pPr algn="l">
              <a:lnSpc>
                <a:spcPct val="130000"/>
              </a:lnSpc>
            </a:pPr>
            <a:r>
              <a:rPr sz="1700" b="1" spc="-40">
                <a:solidFill>
                  <a:srgbClr val="FFFFFF"/>
                </a:solidFill>
                <a:latin typeface="Inter"/>
              </a:rPr>
              <a:t>₹5,700</a:t>
            </a:r>
          </a:p>
        </p:txBody>
      </p:sp>
      <p:sp>
        <p:nvSpPr>
          <p:cNvPr id="30" name="TextBox 29"/>
          <p:cNvSpPr txBox="1"/>
          <p:nvPr/>
        </p:nvSpPr>
        <p:spPr>
          <a:xfrm>
            <a:off x="5257800" y="3675888"/>
            <a:ext cx="1920240" cy="164592"/>
          </a:xfrm>
          <a:prstGeom prst="rect">
            <a:avLst/>
          </a:prstGeom>
          <a:noFill/>
        </p:spPr>
        <p:txBody>
          <a:bodyPr wrap="square" lIns="0" rIns="0" tIns="0" bIns="0" anchor="t">
            <a:spAutoFit/>
          </a:bodyPr>
          <a:lstStyle/>
          <a:p>
            <a:pPr algn="l">
              <a:lnSpc>
                <a:spcPct val="130000"/>
              </a:lnSpc>
            </a:pPr>
            <a:r>
              <a:rPr sz="660" b="1" spc="160">
                <a:solidFill>
                  <a:srgbClr val="7E93B0"/>
                </a:solidFill>
                <a:latin typeface="Inter"/>
              </a:rPr>
              <a:t>PERSONAL ALLOCATION</a:t>
            </a:r>
          </a:p>
        </p:txBody>
      </p:sp>
      <p:sp>
        <p:nvSpPr>
          <p:cNvPr id="31" name="TextBox 30"/>
          <p:cNvSpPr txBox="1"/>
          <p:nvPr/>
        </p:nvSpPr>
        <p:spPr>
          <a:xfrm>
            <a:off x="5257800" y="3858768"/>
            <a:ext cx="1920240" cy="310896"/>
          </a:xfrm>
          <a:prstGeom prst="rect">
            <a:avLst/>
          </a:prstGeom>
          <a:noFill/>
        </p:spPr>
        <p:txBody>
          <a:bodyPr wrap="square" lIns="0" rIns="0" tIns="0" bIns="0" anchor="t">
            <a:spAutoFit/>
          </a:bodyPr>
          <a:lstStyle/>
          <a:p>
            <a:pPr algn="l">
              <a:lnSpc>
                <a:spcPct val="130000"/>
              </a:lnSpc>
            </a:pPr>
            <a:r>
              <a:rPr sz="1700" b="1" spc="-40">
                <a:solidFill>
                  <a:srgbClr val="FFFFFF"/>
                </a:solidFill>
                <a:latin typeface="Inter"/>
              </a:rPr>
              <a:t>₹300</a:t>
            </a:r>
          </a:p>
        </p:txBody>
      </p:sp>
      <p:sp>
        <p:nvSpPr>
          <p:cNvPr id="32" name="TextBox 31"/>
          <p:cNvSpPr txBox="1"/>
          <p:nvPr/>
        </p:nvSpPr>
        <p:spPr>
          <a:xfrm>
            <a:off x="7360920" y="3712464"/>
            <a:ext cx="3931920" cy="457200"/>
          </a:xfrm>
          <a:prstGeom prst="rect">
            <a:avLst/>
          </a:prstGeom>
          <a:noFill/>
        </p:spPr>
        <p:txBody>
          <a:bodyPr wrap="square" lIns="0" rIns="0" tIns="0" bIns="0" anchor="t">
            <a:spAutoFit/>
          </a:bodyPr>
          <a:lstStyle/>
          <a:p>
            <a:pPr algn="r">
              <a:lnSpc>
                <a:spcPct val="140000"/>
              </a:lnSpc>
            </a:pPr>
            <a:r>
              <a:rPr sz="1019" b="1">
                <a:solidFill>
                  <a:srgbClr val="C9D5E4"/>
                </a:solidFill>
                <a:latin typeface="Inter"/>
              </a:rPr>
              <a:t>Three contributions.
One written review.</a:t>
            </a:r>
          </a:p>
        </p:txBody>
      </p:sp>
      <p:sp>
        <p:nvSpPr>
          <p:cNvPr id="33" name="Rounded Rectangle 32"/>
          <p:cNvSpPr/>
          <p:nvPr/>
        </p:nvSpPr>
        <p:spPr>
          <a:xfrm>
            <a:off x="685800" y="4553712"/>
            <a:ext cx="6784848" cy="1682496"/>
          </a:xfrm>
          <a:prstGeom prst="roundRect">
            <a:avLst>
              <a:gd name="adj" fmla="val 6521"/>
            </a:avLst>
          </a:prstGeom>
          <a:solidFill>
            <a:srgbClr val="F7F9FC"/>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4700016"/>
            <a:ext cx="4572000" cy="182880"/>
          </a:xfrm>
          <a:prstGeom prst="rect">
            <a:avLst/>
          </a:prstGeom>
          <a:noFill/>
        </p:spPr>
        <p:txBody>
          <a:bodyPr wrap="square" lIns="0" rIns="0" tIns="0" bIns="0" anchor="t">
            <a:spAutoFit/>
          </a:bodyPr>
          <a:lstStyle/>
          <a:p>
            <a:pPr algn="l">
              <a:lnSpc>
                <a:spcPct val="130000"/>
              </a:lnSpc>
            </a:pPr>
            <a:r>
              <a:rPr sz="700" b="1" spc="200">
                <a:solidFill>
                  <a:srgbClr val="1D4ED8"/>
                </a:solidFill>
                <a:latin typeface="Inter"/>
              </a:rPr>
              <a:t>WHAT WE REVIEW AT THE END</a:t>
            </a:r>
          </a:p>
        </p:txBody>
      </p:sp>
      <p:sp>
        <p:nvSpPr>
          <p:cNvPr id="35" name="TextBox 34"/>
          <p:cNvSpPr txBox="1"/>
          <p:nvPr/>
        </p:nvSpPr>
        <p:spPr>
          <a:xfrm>
            <a:off x="914400" y="497433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01</a:t>
            </a:r>
          </a:p>
        </p:txBody>
      </p:sp>
      <p:sp>
        <p:nvSpPr>
          <p:cNvPr id="36" name="TextBox 35"/>
          <p:cNvSpPr txBox="1"/>
          <p:nvPr/>
        </p:nvSpPr>
        <p:spPr>
          <a:xfrm>
            <a:off x="1207008" y="497433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Academic consistency</a:t>
            </a:r>
          </a:p>
        </p:txBody>
      </p:sp>
      <p:sp>
        <p:nvSpPr>
          <p:cNvPr id="37" name="TextBox 36"/>
          <p:cNvSpPr txBox="1"/>
          <p:nvPr/>
        </p:nvSpPr>
        <p:spPr>
          <a:xfrm>
            <a:off x="4133088" y="497433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02</a:t>
            </a:r>
          </a:p>
        </p:txBody>
      </p:sp>
      <p:sp>
        <p:nvSpPr>
          <p:cNvPr id="38" name="TextBox 37"/>
          <p:cNvSpPr txBox="1"/>
          <p:nvPr/>
        </p:nvSpPr>
        <p:spPr>
          <a:xfrm>
            <a:off x="4425696" y="497433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Fulfilment of responsibilities</a:t>
            </a:r>
          </a:p>
        </p:txBody>
      </p:sp>
      <p:sp>
        <p:nvSpPr>
          <p:cNvPr id="39" name="TextBox 38"/>
          <p:cNvSpPr txBox="1"/>
          <p:nvPr/>
        </p:nvSpPr>
        <p:spPr>
          <a:xfrm>
            <a:off x="914400" y="534009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03</a:t>
            </a:r>
          </a:p>
        </p:txBody>
      </p:sp>
      <p:sp>
        <p:nvSpPr>
          <p:cNvPr id="40" name="TextBox 39"/>
          <p:cNvSpPr txBox="1"/>
          <p:nvPr/>
        </p:nvSpPr>
        <p:spPr>
          <a:xfrm>
            <a:off x="1207008" y="534009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Personal discipline</a:t>
            </a:r>
          </a:p>
        </p:txBody>
      </p:sp>
      <p:sp>
        <p:nvSpPr>
          <p:cNvPr id="41" name="TextBox 40"/>
          <p:cNvSpPr txBox="1"/>
          <p:nvPr/>
        </p:nvSpPr>
        <p:spPr>
          <a:xfrm>
            <a:off x="4133088" y="534009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04</a:t>
            </a:r>
          </a:p>
        </p:txBody>
      </p:sp>
      <p:sp>
        <p:nvSpPr>
          <p:cNvPr id="42" name="TextBox 41"/>
          <p:cNvSpPr txBox="1"/>
          <p:nvPr/>
        </p:nvSpPr>
        <p:spPr>
          <a:xfrm>
            <a:off x="4425696" y="534009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Financial transparency</a:t>
            </a:r>
          </a:p>
        </p:txBody>
      </p:sp>
      <p:sp>
        <p:nvSpPr>
          <p:cNvPr id="43" name="TextBox 42"/>
          <p:cNvSpPr txBox="1"/>
          <p:nvPr/>
        </p:nvSpPr>
        <p:spPr>
          <a:xfrm>
            <a:off x="914400" y="570585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05</a:t>
            </a:r>
          </a:p>
        </p:txBody>
      </p:sp>
      <p:sp>
        <p:nvSpPr>
          <p:cNvPr id="44" name="TextBox 43"/>
          <p:cNvSpPr txBox="1"/>
          <p:nvPr/>
        </p:nvSpPr>
        <p:spPr>
          <a:xfrm>
            <a:off x="1207008" y="570585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Progress in technical learning</a:t>
            </a:r>
          </a:p>
        </p:txBody>
      </p:sp>
      <p:sp>
        <p:nvSpPr>
          <p:cNvPr id="45" name="TextBox 44"/>
          <p:cNvSpPr txBox="1"/>
          <p:nvPr/>
        </p:nvSpPr>
        <p:spPr>
          <a:xfrm>
            <a:off x="4133088" y="5705856"/>
            <a:ext cx="237744" cy="182880"/>
          </a:xfrm>
          <a:prstGeom prst="rect">
            <a:avLst/>
          </a:prstGeom>
          <a:noFill/>
        </p:spPr>
        <p:txBody>
          <a:bodyPr wrap="square" lIns="0" rIns="0" tIns="0" bIns="0" anchor="t">
            <a:spAutoFit/>
          </a:bodyPr>
          <a:lstStyle/>
          <a:p>
            <a:pPr algn="l">
              <a:lnSpc>
                <a:spcPct val="130000"/>
              </a:lnSpc>
            </a:pPr>
            <a:r>
              <a:rPr sz="760" b="1" spc="80">
                <a:solidFill>
                  <a:srgbClr val="1D4ED8"/>
                </a:solidFill>
                <a:latin typeface="Inter"/>
              </a:rPr>
              <a:t>06</a:t>
            </a:r>
          </a:p>
        </p:txBody>
      </p:sp>
      <p:sp>
        <p:nvSpPr>
          <p:cNvPr id="46" name="TextBox 45"/>
          <p:cNvSpPr txBox="1"/>
          <p:nvPr/>
        </p:nvSpPr>
        <p:spPr>
          <a:xfrm>
            <a:off x="4425696" y="5705856"/>
            <a:ext cx="2834640" cy="292608"/>
          </a:xfrm>
          <a:prstGeom prst="rect">
            <a:avLst/>
          </a:prstGeom>
          <a:noFill/>
        </p:spPr>
        <p:txBody>
          <a:bodyPr wrap="square" lIns="0" rIns="0" tIns="0" bIns="0" anchor="t">
            <a:spAutoFit/>
          </a:bodyPr>
          <a:lstStyle/>
          <a:p>
            <a:pPr algn="l">
              <a:lnSpc>
                <a:spcPct val="130000"/>
              </a:lnSpc>
            </a:pPr>
            <a:r>
              <a:rPr sz="860" b="0">
                <a:solidFill>
                  <a:srgbClr val="33445C"/>
                </a:solidFill>
                <a:latin typeface="Inter"/>
              </a:rPr>
              <a:t>Whether the arrangement works</a:t>
            </a:r>
          </a:p>
        </p:txBody>
      </p:sp>
      <p:sp>
        <p:nvSpPr>
          <p:cNvPr id="47" name="Rounded Rectangle 46"/>
          <p:cNvSpPr/>
          <p:nvPr/>
        </p:nvSpPr>
        <p:spPr>
          <a:xfrm>
            <a:off x="7644384" y="4553712"/>
            <a:ext cx="3858768" cy="1682496"/>
          </a:xfrm>
          <a:prstGeom prst="roundRect">
            <a:avLst>
              <a:gd name="adj" fmla="val 6521"/>
            </a:avLst>
          </a:prstGeom>
          <a:solidFill>
            <a:srgbClr val="FFFFFF"/>
          </a:solidFill>
          <a:ln w="11430">
            <a:solidFill>
              <a:srgbClr val="E2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82128" y="4700016"/>
            <a:ext cx="3291840" cy="182880"/>
          </a:xfrm>
          <a:prstGeom prst="rect">
            <a:avLst/>
          </a:prstGeom>
          <a:noFill/>
        </p:spPr>
        <p:txBody>
          <a:bodyPr wrap="square" lIns="0" rIns="0" tIns="0" bIns="0" anchor="t">
            <a:spAutoFit/>
          </a:bodyPr>
          <a:lstStyle/>
          <a:p>
            <a:pPr algn="l">
              <a:lnSpc>
                <a:spcPct val="130000"/>
              </a:lnSpc>
            </a:pPr>
            <a:r>
              <a:rPr sz="700" b="1" spc="200">
                <a:solidFill>
                  <a:srgbClr val="1D4ED8"/>
                </a:solidFill>
                <a:latin typeface="Inter"/>
              </a:rPr>
              <a:t>THEN YOU DECIDE</a:t>
            </a:r>
          </a:p>
        </p:txBody>
      </p:sp>
      <p:sp>
        <p:nvSpPr>
          <p:cNvPr id="49" name="Rounded Rectangle 48"/>
          <p:cNvSpPr/>
          <p:nvPr/>
        </p:nvSpPr>
        <p:spPr>
          <a:xfrm>
            <a:off x="7882128" y="4956048"/>
            <a:ext cx="3364992" cy="292608"/>
          </a:xfrm>
          <a:prstGeom prst="roundRect">
            <a:avLst>
              <a:gd name="adj" fmla="val 18750"/>
            </a:avLst>
          </a:prstGeom>
          <a:solidFill>
            <a:srgbClr val="F4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28432" y="5020056"/>
            <a:ext cx="3108960" cy="182880"/>
          </a:xfrm>
          <a:prstGeom prst="rect">
            <a:avLst/>
          </a:prstGeom>
          <a:noFill/>
        </p:spPr>
        <p:txBody>
          <a:bodyPr wrap="square" lIns="0" rIns="0" tIns="0" bIns="0" anchor="t">
            <a:spAutoFit/>
          </a:bodyPr>
          <a:lstStyle/>
          <a:p>
            <a:pPr algn="l">
              <a:lnSpc>
                <a:spcPct val="130000"/>
              </a:lnSpc>
            </a:pPr>
            <a:r>
              <a:rPr sz="840" b="0">
                <a:solidFill>
                  <a:srgbClr val="2C3B52"/>
                </a:solidFill>
                <a:latin typeface="Inter"/>
              </a:rPr>
              <a:t>Continue as it stands</a:t>
            </a:r>
          </a:p>
        </p:txBody>
      </p:sp>
      <p:sp>
        <p:nvSpPr>
          <p:cNvPr id="51" name="Rounded Rectangle 50"/>
          <p:cNvSpPr/>
          <p:nvPr/>
        </p:nvSpPr>
        <p:spPr>
          <a:xfrm>
            <a:off x="7882128" y="5321808"/>
            <a:ext cx="3364992" cy="292608"/>
          </a:xfrm>
          <a:prstGeom prst="roundRect">
            <a:avLst>
              <a:gd name="adj" fmla="val 18750"/>
            </a:avLst>
          </a:prstGeom>
          <a:solidFill>
            <a:srgbClr val="F4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28432" y="5385816"/>
            <a:ext cx="3108960" cy="182880"/>
          </a:xfrm>
          <a:prstGeom prst="rect">
            <a:avLst/>
          </a:prstGeom>
          <a:noFill/>
        </p:spPr>
        <p:txBody>
          <a:bodyPr wrap="square" lIns="0" rIns="0" tIns="0" bIns="0" anchor="t">
            <a:spAutoFit/>
          </a:bodyPr>
          <a:lstStyle/>
          <a:p>
            <a:pPr algn="l">
              <a:lnSpc>
                <a:spcPct val="130000"/>
              </a:lnSpc>
            </a:pPr>
            <a:r>
              <a:rPr sz="840" b="0">
                <a:solidFill>
                  <a:srgbClr val="2C3B52"/>
                </a:solidFill>
                <a:latin typeface="Inter"/>
              </a:rPr>
              <a:t>Continue with changes</a:t>
            </a:r>
          </a:p>
        </p:txBody>
      </p:sp>
      <p:sp>
        <p:nvSpPr>
          <p:cNvPr id="53" name="Rounded Rectangle 52"/>
          <p:cNvSpPr/>
          <p:nvPr/>
        </p:nvSpPr>
        <p:spPr>
          <a:xfrm>
            <a:off x="7882128" y="5687568"/>
            <a:ext cx="3364992" cy="292608"/>
          </a:xfrm>
          <a:prstGeom prst="roundRect">
            <a:avLst>
              <a:gd name="adj" fmla="val 18750"/>
            </a:avLst>
          </a:prstGeom>
          <a:solidFill>
            <a:srgbClr val="F4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28432" y="5751576"/>
            <a:ext cx="3108960" cy="182880"/>
          </a:xfrm>
          <a:prstGeom prst="rect">
            <a:avLst/>
          </a:prstGeom>
          <a:noFill/>
        </p:spPr>
        <p:txBody>
          <a:bodyPr wrap="square" lIns="0" rIns="0" tIns="0" bIns="0" anchor="t">
            <a:spAutoFit/>
          </a:bodyPr>
          <a:lstStyle/>
          <a:p>
            <a:pPr algn="l">
              <a:lnSpc>
                <a:spcPct val="130000"/>
              </a:lnSpc>
            </a:pPr>
            <a:r>
              <a:rPr sz="840" b="0">
                <a:solidFill>
                  <a:srgbClr val="2C3B52"/>
                </a:solidFill>
                <a:latin typeface="Inter"/>
              </a:rPr>
              <a:t>Stop — no explanation needed</a:t>
            </a:r>
          </a:p>
        </p:txBody>
      </p:sp>
      <p:cxnSp>
        <p:nvCxnSpPr>
          <p:cNvPr id="55" name="Connector 54"/>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57" name="TextBox 56"/>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58" name="TextBox 57"/>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59" name="TextBox 58"/>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1D4ED8"/>
                </a:solidFill>
                <a:latin typeface="Inter"/>
              </a:rPr>
              <a:t>10 · QUESTIONS</a:t>
            </a:r>
          </a:p>
        </p:txBody>
      </p:sp>
      <p:sp>
        <p:nvSpPr>
          <p:cNvPr id="3" name="TextBox 2"/>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0A1322"/>
                </a:solidFill>
                <a:latin typeface="Inter"/>
              </a:rPr>
              <a:t>The questions you're most likely to ask.</a:t>
            </a:r>
          </a:p>
        </p:txBody>
      </p:sp>
      <p:sp>
        <p:nvSpPr>
          <p:cNvPr id="4" name="TextBox 3"/>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4E5F78"/>
                </a:solidFill>
                <a:latin typeface="Inter"/>
              </a:rPr>
              <a:t>Straight answers, in advance.</a:t>
            </a:r>
          </a:p>
        </p:txBody>
      </p:sp>
      <p:sp>
        <p:nvSpPr>
          <p:cNvPr id="5" name="TextBox 4"/>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8A99AE"/>
                </a:solidFill>
                <a:latin typeface="Inter"/>
              </a:rPr>
              <a:t>11 / 13</a:t>
            </a:r>
          </a:p>
        </p:txBody>
      </p:sp>
      <p:cxnSp>
        <p:nvCxnSpPr>
          <p:cNvPr id="6" name="Connector 5"/>
          <p:cNvCxnSpPr/>
          <p:nvPr/>
        </p:nvCxnSpPr>
        <p:spPr>
          <a:xfrm>
            <a:off x="685800" y="192024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94944" y="2071116"/>
            <a:ext cx="411480" cy="182880"/>
          </a:xfrm>
          <a:prstGeom prst="rect">
            <a:avLst/>
          </a:prstGeom>
          <a:noFill/>
        </p:spPr>
        <p:txBody>
          <a:bodyPr wrap="square" lIns="0" rIns="0" tIns="0" bIns="0" anchor="t">
            <a:spAutoFit/>
          </a:bodyPr>
          <a:lstStyle/>
          <a:p>
            <a:pPr algn="l">
              <a:lnSpc>
                <a:spcPct val="130000"/>
              </a:lnSpc>
            </a:pPr>
            <a:r>
              <a:rPr sz="960" b="1" spc="120">
                <a:solidFill>
                  <a:srgbClr val="B8C6DA"/>
                </a:solidFill>
                <a:latin typeface="Inter"/>
              </a:rPr>
              <a:t>01</a:t>
            </a:r>
          </a:p>
        </p:txBody>
      </p:sp>
      <p:sp>
        <p:nvSpPr>
          <p:cNvPr id="8" name="TextBox 7"/>
          <p:cNvSpPr txBox="1"/>
          <p:nvPr/>
        </p:nvSpPr>
        <p:spPr>
          <a:xfrm>
            <a:off x="1225296" y="2039112"/>
            <a:ext cx="4251960" cy="457200"/>
          </a:xfrm>
          <a:prstGeom prst="rect">
            <a:avLst/>
          </a:prstGeom>
          <a:noFill/>
        </p:spPr>
        <p:txBody>
          <a:bodyPr wrap="square" lIns="0" rIns="0" tIns="0" bIns="0" anchor="t">
            <a:spAutoFit/>
          </a:bodyPr>
          <a:lstStyle/>
          <a:p>
            <a:pPr algn="l">
              <a:lnSpc>
                <a:spcPct val="135000"/>
              </a:lnSpc>
            </a:pPr>
            <a:r>
              <a:rPr sz="1040" b="1">
                <a:solidFill>
                  <a:srgbClr val="0A1322"/>
                </a:solidFill>
                <a:latin typeface="Inter"/>
              </a:rPr>
              <a:t>You already buy the equipment I ask for. Why a monthly fund?</a:t>
            </a:r>
          </a:p>
        </p:txBody>
      </p:sp>
      <p:sp>
        <p:nvSpPr>
          <p:cNvPr id="9" name="TextBox 8"/>
          <p:cNvSpPr txBox="1"/>
          <p:nvPr/>
        </p:nvSpPr>
        <p:spPr>
          <a:xfrm>
            <a:off x="5760720" y="2057400"/>
            <a:ext cx="5669280" cy="457200"/>
          </a:xfrm>
          <a:prstGeom prst="rect">
            <a:avLst/>
          </a:prstGeom>
          <a:noFill/>
        </p:spPr>
        <p:txBody>
          <a:bodyPr wrap="square" lIns="0" rIns="0" tIns="0" bIns="0" anchor="t">
            <a:spAutoFit/>
          </a:bodyPr>
          <a:lstStyle/>
          <a:p>
            <a:pPr algn="l">
              <a:lnSpc>
                <a:spcPct val="145000"/>
              </a:lnSpc>
            </a:pPr>
            <a:r>
              <a:rPr sz="940" b="0">
                <a:solidFill>
                  <a:srgbClr val="4E5F78"/>
                </a:solidFill>
                <a:latin typeface="Inter"/>
              </a:rPr>
              <a:t>It isn't a replacement. It adds structure: a fixed amount, planned ahead and accounted for.</a:t>
            </a:r>
          </a:p>
        </p:txBody>
      </p:sp>
      <p:cxnSp>
        <p:nvCxnSpPr>
          <p:cNvPr id="10" name="Connector 9"/>
          <p:cNvCxnSpPr/>
          <p:nvPr/>
        </p:nvCxnSpPr>
        <p:spPr>
          <a:xfrm>
            <a:off x="685800" y="267004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4944" y="2857500"/>
            <a:ext cx="411480" cy="182880"/>
          </a:xfrm>
          <a:prstGeom prst="rect">
            <a:avLst/>
          </a:prstGeom>
          <a:noFill/>
        </p:spPr>
        <p:txBody>
          <a:bodyPr wrap="square" lIns="0" rIns="0" tIns="0" bIns="0" anchor="t">
            <a:spAutoFit/>
          </a:bodyPr>
          <a:lstStyle/>
          <a:p>
            <a:pPr algn="l">
              <a:lnSpc>
                <a:spcPct val="130000"/>
              </a:lnSpc>
            </a:pPr>
            <a:r>
              <a:rPr sz="960" b="1" spc="120">
                <a:solidFill>
                  <a:srgbClr val="B8C6DA"/>
                </a:solidFill>
                <a:latin typeface="Inter"/>
              </a:rPr>
              <a:t>02</a:t>
            </a:r>
          </a:p>
        </p:txBody>
      </p:sp>
      <p:sp>
        <p:nvSpPr>
          <p:cNvPr id="12" name="TextBox 11"/>
          <p:cNvSpPr txBox="1"/>
          <p:nvPr/>
        </p:nvSpPr>
        <p:spPr>
          <a:xfrm>
            <a:off x="1225296" y="2825496"/>
            <a:ext cx="4251960" cy="457200"/>
          </a:xfrm>
          <a:prstGeom prst="rect">
            <a:avLst/>
          </a:prstGeom>
          <a:noFill/>
        </p:spPr>
        <p:txBody>
          <a:bodyPr wrap="square" lIns="0" rIns="0" tIns="0" bIns="0" anchor="t">
            <a:spAutoFit/>
          </a:bodyPr>
          <a:lstStyle/>
          <a:p>
            <a:pPr algn="l">
              <a:lnSpc>
                <a:spcPct val="135000"/>
              </a:lnSpc>
            </a:pPr>
            <a:r>
              <a:rPr sz="1040" b="1">
                <a:solidFill>
                  <a:srgbClr val="0A1322"/>
                </a:solidFill>
                <a:latin typeface="Inter"/>
              </a:rPr>
              <a:t>Why not simply ask whenever something is needed?</a:t>
            </a:r>
          </a:p>
        </p:txBody>
      </p:sp>
      <p:sp>
        <p:nvSpPr>
          <p:cNvPr id="13" name="TextBox 12"/>
          <p:cNvSpPr txBox="1"/>
          <p:nvPr/>
        </p:nvSpPr>
        <p:spPr>
          <a:xfrm>
            <a:off x="5760720" y="2843784"/>
            <a:ext cx="5669280" cy="457200"/>
          </a:xfrm>
          <a:prstGeom prst="rect">
            <a:avLst/>
          </a:prstGeom>
          <a:noFill/>
        </p:spPr>
        <p:txBody>
          <a:bodyPr wrap="square" lIns="0" rIns="0" tIns="0" bIns="0" anchor="t">
            <a:spAutoFit/>
          </a:bodyPr>
          <a:lstStyle/>
          <a:p>
            <a:pPr algn="l">
              <a:lnSpc>
                <a:spcPct val="145000"/>
              </a:lnSpc>
            </a:pPr>
            <a:r>
              <a:rPr sz="940" b="0">
                <a:solidFill>
                  <a:srgbClr val="4E5F78"/>
                </a:solidFill>
                <a:latin typeface="Inter"/>
              </a:rPr>
              <a:t>Individual requests solve today's need. A fund builds towards goals that are still months away.</a:t>
            </a:r>
          </a:p>
        </p:txBody>
      </p:sp>
      <p:cxnSp>
        <p:nvCxnSpPr>
          <p:cNvPr id="14" name="Connector 13"/>
          <p:cNvCxnSpPr/>
          <p:nvPr/>
        </p:nvCxnSpPr>
        <p:spPr>
          <a:xfrm>
            <a:off x="685800" y="3456432"/>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4944" y="3643884"/>
            <a:ext cx="411480" cy="182880"/>
          </a:xfrm>
          <a:prstGeom prst="rect">
            <a:avLst/>
          </a:prstGeom>
          <a:noFill/>
        </p:spPr>
        <p:txBody>
          <a:bodyPr wrap="square" lIns="0" rIns="0" tIns="0" bIns="0" anchor="t">
            <a:spAutoFit/>
          </a:bodyPr>
          <a:lstStyle/>
          <a:p>
            <a:pPr algn="l">
              <a:lnSpc>
                <a:spcPct val="130000"/>
              </a:lnSpc>
            </a:pPr>
            <a:r>
              <a:rPr sz="960" b="1" spc="120">
                <a:solidFill>
                  <a:srgbClr val="B8C6DA"/>
                </a:solidFill>
                <a:latin typeface="Inter"/>
              </a:rPr>
              <a:t>03</a:t>
            </a:r>
          </a:p>
        </p:txBody>
      </p:sp>
      <p:sp>
        <p:nvSpPr>
          <p:cNvPr id="16" name="TextBox 15"/>
          <p:cNvSpPr txBox="1"/>
          <p:nvPr/>
        </p:nvSpPr>
        <p:spPr>
          <a:xfrm>
            <a:off x="1225296" y="3611880"/>
            <a:ext cx="4251960" cy="457200"/>
          </a:xfrm>
          <a:prstGeom prst="rect">
            <a:avLst/>
          </a:prstGeom>
          <a:noFill/>
        </p:spPr>
        <p:txBody>
          <a:bodyPr wrap="square" lIns="0" rIns="0" tIns="0" bIns="0" anchor="t">
            <a:spAutoFit/>
          </a:bodyPr>
          <a:lstStyle/>
          <a:p>
            <a:pPr algn="l">
              <a:lnSpc>
                <a:spcPct val="135000"/>
              </a:lnSpc>
            </a:pPr>
            <a:r>
              <a:rPr sz="1040" b="1">
                <a:solidFill>
                  <a:srgbClr val="0A1322"/>
                </a:solidFill>
                <a:latin typeface="Inter"/>
              </a:rPr>
              <a:t>How do we know the money is used properly?</a:t>
            </a:r>
          </a:p>
        </p:txBody>
      </p:sp>
      <p:sp>
        <p:nvSpPr>
          <p:cNvPr id="17" name="TextBox 16"/>
          <p:cNvSpPr txBox="1"/>
          <p:nvPr/>
        </p:nvSpPr>
        <p:spPr>
          <a:xfrm>
            <a:off x="5760720" y="3630168"/>
            <a:ext cx="5669280" cy="457200"/>
          </a:xfrm>
          <a:prstGeom prst="rect">
            <a:avLst/>
          </a:prstGeom>
          <a:noFill/>
        </p:spPr>
        <p:txBody>
          <a:bodyPr wrap="square" lIns="0" rIns="0" tIns="0" bIns="0" anchor="t">
            <a:spAutoFit/>
          </a:bodyPr>
          <a:lstStyle/>
          <a:p>
            <a:pPr algn="l">
              <a:lnSpc>
                <a:spcPct val="145000"/>
              </a:lnSpc>
            </a:pPr>
            <a:r>
              <a:rPr sz="940" b="0">
                <a:solidFill>
                  <a:srgbClr val="4E5F78"/>
                </a:solidFill>
                <a:latin typeface="Inter"/>
              </a:rPr>
              <a:t>A shared ledger records every contribution and purchase. Anything significant is discussed first.</a:t>
            </a:r>
          </a:p>
        </p:txBody>
      </p:sp>
      <p:cxnSp>
        <p:nvCxnSpPr>
          <p:cNvPr id="18" name="Connector 17"/>
          <p:cNvCxnSpPr/>
          <p:nvPr/>
        </p:nvCxnSpPr>
        <p:spPr>
          <a:xfrm>
            <a:off x="685800" y="4242816"/>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4944" y="4430268"/>
            <a:ext cx="411480" cy="182880"/>
          </a:xfrm>
          <a:prstGeom prst="rect">
            <a:avLst/>
          </a:prstGeom>
          <a:noFill/>
        </p:spPr>
        <p:txBody>
          <a:bodyPr wrap="square" lIns="0" rIns="0" tIns="0" bIns="0" anchor="t">
            <a:spAutoFit/>
          </a:bodyPr>
          <a:lstStyle/>
          <a:p>
            <a:pPr algn="l">
              <a:lnSpc>
                <a:spcPct val="130000"/>
              </a:lnSpc>
            </a:pPr>
            <a:r>
              <a:rPr sz="960" b="1" spc="120">
                <a:solidFill>
                  <a:srgbClr val="B8C6DA"/>
                </a:solidFill>
                <a:latin typeface="Inter"/>
              </a:rPr>
              <a:t>04</a:t>
            </a:r>
          </a:p>
        </p:txBody>
      </p:sp>
      <p:sp>
        <p:nvSpPr>
          <p:cNvPr id="20" name="TextBox 19"/>
          <p:cNvSpPr txBox="1"/>
          <p:nvPr/>
        </p:nvSpPr>
        <p:spPr>
          <a:xfrm>
            <a:off x="1225296" y="4398264"/>
            <a:ext cx="4251960" cy="457200"/>
          </a:xfrm>
          <a:prstGeom prst="rect">
            <a:avLst/>
          </a:prstGeom>
          <a:noFill/>
        </p:spPr>
        <p:txBody>
          <a:bodyPr wrap="square" lIns="0" rIns="0" tIns="0" bIns="0" anchor="t">
            <a:spAutoFit/>
          </a:bodyPr>
          <a:lstStyle/>
          <a:p>
            <a:pPr algn="l">
              <a:lnSpc>
                <a:spcPct val="135000"/>
              </a:lnSpc>
            </a:pPr>
            <a:r>
              <a:rPr sz="1040" b="1">
                <a:solidFill>
                  <a:srgbClr val="0A1322"/>
                </a:solidFill>
                <a:latin typeface="Inter"/>
              </a:rPr>
              <a:t>What happens if academics or discipline slip?</a:t>
            </a:r>
          </a:p>
        </p:txBody>
      </p:sp>
      <p:sp>
        <p:nvSpPr>
          <p:cNvPr id="21" name="TextBox 20"/>
          <p:cNvSpPr txBox="1"/>
          <p:nvPr/>
        </p:nvSpPr>
        <p:spPr>
          <a:xfrm>
            <a:off x="5760720" y="4416552"/>
            <a:ext cx="5669280" cy="457200"/>
          </a:xfrm>
          <a:prstGeom prst="rect">
            <a:avLst/>
          </a:prstGeom>
          <a:noFill/>
        </p:spPr>
        <p:txBody>
          <a:bodyPr wrap="square" lIns="0" rIns="0" tIns="0" bIns="0" anchor="t">
            <a:spAutoFit/>
          </a:bodyPr>
          <a:lstStyle/>
          <a:p>
            <a:pPr algn="l">
              <a:lnSpc>
                <a:spcPct val="145000"/>
              </a:lnSpc>
            </a:pPr>
            <a:r>
              <a:rPr sz="940" b="0">
                <a:solidFill>
                  <a:srgbClr val="4E5F78"/>
                </a:solidFill>
                <a:latin typeface="Inter"/>
              </a:rPr>
              <a:t>It becomes a review item at month three — on consistency, responsibilities and progress.</a:t>
            </a:r>
          </a:p>
        </p:txBody>
      </p:sp>
      <p:cxnSp>
        <p:nvCxnSpPr>
          <p:cNvPr id="22" name="Connector 21"/>
          <p:cNvCxnSpPr/>
          <p:nvPr/>
        </p:nvCxnSpPr>
        <p:spPr>
          <a:xfrm>
            <a:off x="685800" y="5029200"/>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4944" y="5216652"/>
            <a:ext cx="411480" cy="182880"/>
          </a:xfrm>
          <a:prstGeom prst="rect">
            <a:avLst/>
          </a:prstGeom>
          <a:noFill/>
        </p:spPr>
        <p:txBody>
          <a:bodyPr wrap="square" lIns="0" rIns="0" tIns="0" bIns="0" anchor="t">
            <a:spAutoFit/>
          </a:bodyPr>
          <a:lstStyle/>
          <a:p>
            <a:pPr algn="l">
              <a:lnSpc>
                <a:spcPct val="130000"/>
              </a:lnSpc>
            </a:pPr>
            <a:r>
              <a:rPr sz="960" b="1" spc="120">
                <a:solidFill>
                  <a:srgbClr val="B8C6DA"/>
                </a:solidFill>
                <a:latin typeface="Inter"/>
              </a:rPr>
              <a:t>05</a:t>
            </a:r>
          </a:p>
        </p:txBody>
      </p:sp>
      <p:sp>
        <p:nvSpPr>
          <p:cNvPr id="24" name="TextBox 23"/>
          <p:cNvSpPr txBox="1"/>
          <p:nvPr/>
        </p:nvSpPr>
        <p:spPr>
          <a:xfrm>
            <a:off x="1225296" y="5184648"/>
            <a:ext cx="4251960" cy="457200"/>
          </a:xfrm>
          <a:prstGeom prst="rect">
            <a:avLst/>
          </a:prstGeom>
          <a:noFill/>
        </p:spPr>
        <p:txBody>
          <a:bodyPr wrap="square" lIns="0" rIns="0" tIns="0" bIns="0" anchor="t">
            <a:spAutoFit/>
          </a:bodyPr>
          <a:lstStyle/>
          <a:p>
            <a:pPr algn="l">
              <a:lnSpc>
                <a:spcPct val="135000"/>
              </a:lnSpc>
            </a:pPr>
            <a:r>
              <a:rPr sz="1040" b="1">
                <a:solidFill>
                  <a:srgbClr val="0A1322"/>
                </a:solidFill>
                <a:latin typeface="Inter"/>
              </a:rPr>
              <a:t>Do I actually need expensive equipment right now?</a:t>
            </a:r>
          </a:p>
        </p:txBody>
      </p:sp>
      <p:sp>
        <p:nvSpPr>
          <p:cNvPr id="25" name="TextBox 24"/>
          <p:cNvSpPr txBox="1"/>
          <p:nvPr/>
        </p:nvSpPr>
        <p:spPr>
          <a:xfrm>
            <a:off x="5760720" y="5202936"/>
            <a:ext cx="5669280" cy="457200"/>
          </a:xfrm>
          <a:prstGeom prst="rect">
            <a:avLst/>
          </a:prstGeom>
          <a:noFill/>
        </p:spPr>
        <p:txBody>
          <a:bodyPr wrap="square" lIns="0" rIns="0" tIns="0" bIns="0" anchor="t">
            <a:spAutoFit/>
          </a:bodyPr>
          <a:lstStyle/>
          <a:p>
            <a:pPr algn="l">
              <a:lnSpc>
                <a:spcPct val="145000"/>
              </a:lnSpc>
            </a:pPr>
            <a:r>
              <a:rPr sz="940" b="0">
                <a:solidFill>
                  <a:srgbClr val="4E5F78"/>
                </a:solidFill>
                <a:latin typeface="Inter"/>
              </a:rPr>
              <a:t>No. The point is to save now so that a purchase later is deliberate rather than sudden.</a:t>
            </a:r>
          </a:p>
        </p:txBody>
      </p:sp>
      <p:cxnSp>
        <p:nvCxnSpPr>
          <p:cNvPr id="26" name="Connector 25"/>
          <p:cNvCxnSpPr/>
          <p:nvPr/>
        </p:nvCxnSpPr>
        <p:spPr>
          <a:xfrm>
            <a:off x="685800" y="5815584"/>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6035040"/>
            <a:ext cx="10789920" cy="219456"/>
          </a:xfrm>
          <a:prstGeom prst="rect">
            <a:avLst/>
          </a:prstGeom>
          <a:noFill/>
        </p:spPr>
        <p:txBody>
          <a:bodyPr wrap="square" lIns="0" rIns="0" tIns="0" bIns="0" anchor="t">
            <a:spAutoFit/>
          </a:bodyPr>
          <a:lstStyle/>
          <a:p>
            <a:pPr algn="l">
              <a:lnSpc>
                <a:spcPct val="130000"/>
              </a:lnSpc>
            </a:pPr>
            <a:r>
              <a:rPr sz="860" b="0">
                <a:solidFill>
                  <a:srgbClr val="8A99AE"/>
                </a:solidFill>
                <a:latin typeface="Inter"/>
              </a:rPr>
              <a:t>There is a longer written list of questions and answers in the supporting document.</a:t>
            </a:r>
          </a:p>
        </p:txBody>
      </p:sp>
      <p:cxnSp>
        <p:nvCxnSpPr>
          <p:cNvPr id="28" name="Connector 27"/>
          <p:cNvCxnSpPr/>
          <p:nvPr/>
        </p:nvCxnSpPr>
        <p:spPr>
          <a:xfrm>
            <a:off x="685800" y="6419088"/>
            <a:ext cx="10817352" cy="0"/>
          </a:xfrm>
          <a:prstGeom prst="line">
            <a:avLst/>
          </a:prstGeom>
          <a:ln w="11430">
            <a:solidFill>
              <a:srgbClr val="E2E8F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8A99AE"/>
                </a:solidFill>
                <a:latin typeface="Inter"/>
              </a:rPr>
              <a:t>PROJECT FUTURE</a:t>
            </a:r>
          </a:p>
        </p:txBody>
      </p:sp>
      <p:sp>
        <p:nvSpPr>
          <p:cNvPr id="30" name="TextBox 29"/>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8A99AE"/>
                </a:solidFill>
                <a:latin typeface="Inter"/>
              </a:rPr>
              <a:t>·</a:t>
            </a:r>
          </a:p>
        </p:txBody>
      </p:sp>
      <p:sp>
        <p:nvSpPr>
          <p:cNvPr id="31" name="TextBox 30"/>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8A99AE"/>
                </a:solidFill>
                <a:latin typeface="Inter"/>
              </a:rPr>
              <a:t>PERSONAL DEVELOPMENT &amp; TECHNOLOGY FUND</a:t>
            </a:r>
          </a:p>
        </p:txBody>
      </p:sp>
      <p:sp>
        <p:nvSpPr>
          <p:cNvPr id="32" name="TextBox 31"/>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8A99AE"/>
                </a:solidFill>
                <a:latin typeface="Inter"/>
              </a:rPr>
              <a:t>₹2,000 / MONTH   ·   3-MONTH PILOT   ·   FULL TRANSPARENCY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Oval 1"/>
          <p:cNvSpPr/>
          <p:nvPr/>
        </p:nvSpPr>
        <p:spPr>
          <a:xfrm>
            <a:off x="5212080" y="-5303520"/>
            <a:ext cx="11338560" cy="11338560"/>
          </a:xfrm>
          <a:prstGeom prst="ellipse">
            <a:avLst/>
          </a:prstGeom>
          <a:gradFill rotWithShape="1">
            <a:gsLst>
              <a:gs pos="0">
                <a:srgbClr val="10305F">
                  <a:alpha val="36000"/>
                </a:srgbClr>
              </a:gs>
              <a:gs pos="45000">
                <a:srgbClr val="0A1B36">
                  <a:alpha val="15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778240" cy="219456"/>
          </a:xfrm>
          <a:prstGeom prst="rect">
            <a:avLst/>
          </a:prstGeom>
          <a:noFill/>
        </p:spPr>
        <p:txBody>
          <a:bodyPr wrap="square" lIns="0" rIns="0" tIns="0" bIns="0" anchor="t">
            <a:spAutoFit/>
          </a:bodyPr>
          <a:lstStyle/>
          <a:p>
            <a:pPr algn="l">
              <a:lnSpc>
                <a:spcPct val="130000"/>
              </a:lnSpc>
            </a:pPr>
            <a:r>
              <a:rPr sz="900" b="1" spc="260">
                <a:solidFill>
                  <a:srgbClr val="22D3EE"/>
                </a:solidFill>
                <a:latin typeface="Inter"/>
              </a:rPr>
              <a:t>11 · THE DECISION</a:t>
            </a:r>
          </a:p>
        </p:txBody>
      </p:sp>
      <p:sp>
        <p:nvSpPr>
          <p:cNvPr id="4" name="TextBox 3"/>
          <p:cNvSpPr txBox="1"/>
          <p:nvPr/>
        </p:nvSpPr>
        <p:spPr>
          <a:xfrm>
            <a:off x="685800" y="822960"/>
            <a:ext cx="10332720" cy="566928"/>
          </a:xfrm>
          <a:prstGeom prst="rect">
            <a:avLst/>
          </a:prstGeom>
          <a:noFill/>
        </p:spPr>
        <p:txBody>
          <a:bodyPr wrap="square" lIns="0" rIns="0" tIns="0" bIns="0" anchor="t">
            <a:spAutoFit/>
          </a:bodyPr>
          <a:lstStyle/>
          <a:p>
            <a:pPr algn="l">
              <a:lnSpc>
                <a:spcPct val="108000"/>
              </a:lnSpc>
            </a:pPr>
            <a:r>
              <a:rPr sz="2900" b="1" spc="-70">
                <a:solidFill>
                  <a:srgbClr val="FFFFFF"/>
                </a:solidFill>
                <a:latin typeface="Inter"/>
              </a:rPr>
              <a:t>What I'm asking you to approve.</a:t>
            </a:r>
          </a:p>
        </p:txBody>
      </p:sp>
      <p:sp>
        <p:nvSpPr>
          <p:cNvPr id="5" name="TextBox 4"/>
          <p:cNvSpPr txBox="1"/>
          <p:nvPr/>
        </p:nvSpPr>
        <p:spPr>
          <a:xfrm>
            <a:off x="685800" y="1417320"/>
            <a:ext cx="9509760" cy="420624"/>
          </a:xfrm>
          <a:prstGeom prst="rect">
            <a:avLst/>
          </a:prstGeom>
          <a:noFill/>
        </p:spPr>
        <p:txBody>
          <a:bodyPr wrap="square" lIns="0" rIns="0" tIns="0" bIns="0" anchor="t">
            <a:spAutoFit/>
          </a:bodyPr>
          <a:lstStyle/>
          <a:p>
            <a:pPr algn="l">
              <a:lnSpc>
                <a:spcPct val="145000"/>
              </a:lnSpc>
            </a:pPr>
            <a:r>
              <a:rPr sz="1150" b="0">
                <a:solidFill>
                  <a:srgbClr val="A9B7CC"/>
                </a:solidFill>
                <a:latin typeface="Inter"/>
              </a:rPr>
              <a:t>A three-month pilot, with everything visible and a review built in.</a:t>
            </a:r>
          </a:p>
        </p:txBody>
      </p:sp>
      <p:sp>
        <p:nvSpPr>
          <p:cNvPr id="6" name="TextBox 5"/>
          <p:cNvSpPr txBox="1"/>
          <p:nvPr/>
        </p:nvSpPr>
        <p:spPr>
          <a:xfrm>
            <a:off x="10149840" y="548640"/>
            <a:ext cx="1353312" cy="219456"/>
          </a:xfrm>
          <a:prstGeom prst="rect">
            <a:avLst/>
          </a:prstGeom>
          <a:noFill/>
        </p:spPr>
        <p:txBody>
          <a:bodyPr wrap="square" lIns="0" rIns="0" tIns="0" bIns="0" anchor="t">
            <a:spAutoFit/>
          </a:bodyPr>
          <a:lstStyle/>
          <a:p>
            <a:pPr algn="r">
              <a:lnSpc>
                <a:spcPct val="130000"/>
              </a:lnSpc>
            </a:pPr>
            <a:r>
              <a:rPr sz="900" b="1" spc="140">
                <a:solidFill>
                  <a:srgbClr val="5D6F8C"/>
                </a:solidFill>
                <a:latin typeface="Inter"/>
              </a:rPr>
              <a:t>12 / 13</a:t>
            </a:r>
          </a:p>
        </p:txBody>
      </p:sp>
      <p:cxnSp>
        <p:nvCxnSpPr>
          <p:cNvPr id="7" name="Connector 6"/>
          <p:cNvCxnSpPr/>
          <p:nvPr/>
        </p:nvCxnSpPr>
        <p:spPr>
          <a:xfrm>
            <a:off x="685800" y="1920240"/>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2121408"/>
            <a:ext cx="5120640" cy="182880"/>
          </a:xfrm>
          <a:prstGeom prst="rect">
            <a:avLst/>
          </a:prstGeom>
          <a:noFill/>
        </p:spPr>
        <p:txBody>
          <a:bodyPr wrap="square" lIns="0" rIns="0" tIns="0" bIns="0" anchor="t">
            <a:spAutoFit/>
          </a:bodyPr>
          <a:lstStyle/>
          <a:p>
            <a:pPr algn="l">
              <a:lnSpc>
                <a:spcPct val="130000"/>
              </a:lnSpc>
            </a:pPr>
            <a:r>
              <a:rPr sz="720" b="1" spc="220">
                <a:solidFill>
                  <a:srgbClr val="22D3EE"/>
                </a:solidFill>
                <a:latin typeface="Inter"/>
              </a:rPr>
              <a:t>THE REQUEST</a:t>
            </a:r>
          </a:p>
        </p:txBody>
      </p:sp>
      <p:sp>
        <p:nvSpPr>
          <p:cNvPr id="9" name="Oval 8"/>
          <p:cNvSpPr/>
          <p:nvPr/>
        </p:nvSpPr>
        <p:spPr>
          <a:xfrm>
            <a:off x="717804" y="2459736"/>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914400" y="27432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68880"/>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₹2,000 at the beginning of each month</a:t>
            </a:r>
          </a:p>
        </p:txBody>
      </p:sp>
      <p:sp>
        <p:nvSpPr>
          <p:cNvPr id="12" name="Oval 11"/>
          <p:cNvSpPr/>
          <p:nvPr/>
        </p:nvSpPr>
        <p:spPr>
          <a:xfrm>
            <a:off x="717804" y="2990088"/>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400" y="27432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999232"/>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₹1,900 to the Future Development Fund</a:t>
            </a:r>
          </a:p>
        </p:txBody>
      </p:sp>
      <p:sp>
        <p:nvSpPr>
          <p:cNvPr id="15" name="Oval 14"/>
          <p:cNvSpPr/>
          <p:nvPr/>
        </p:nvSpPr>
        <p:spPr>
          <a:xfrm>
            <a:off x="717804" y="3520440"/>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914400" y="36576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529584"/>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₹100 for personal expenses</a:t>
            </a:r>
          </a:p>
        </p:txBody>
      </p:sp>
      <p:sp>
        <p:nvSpPr>
          <p:cNvPr id="18" name="Oval 17"/>
          <p:cNvSpPr/>
          <p:nvPr/>
        </p:nvSpPr>
        <p:spPr>
          <a:xfrm>
            <a:off x="717804" y="4050792"/>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914400" y="45720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059936"/>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Complete visibility of every transaction</a:t>
            </a:r>
          </a:p>
        </p:txBody>
      </p:sp>
      <p:sp>
        <p:nvSpPr>
          <p:cNvPr id="21" name="Oval 20"/>
          <p:cNvSpPr/>
          <p:nvPr/>
        </p:nvSpPr>
        <p:spPr>
          <a:xfrm>
            <a:off x="717804" y="4581144"/>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914400" y="45720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590288"/>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The accountability agreement, from month one</a:t>
            </a:r>
          </a:p>
        </p:txBody>
      </p:sp>
      <p:sp>
        <p:nvSpPr>
          <p:cNvPr id="24" name="Oval 23"/>
          <p:cNvSpPr/>
          <p:nvPr/>
        </p:nvSpPr>
        <p:spPr>
          <a:xfrm>
            <a:off x="717804" y="5111496"/>
            <a:ext cx="210312" cy="210312"/>
          </a:xfrm>
          <a:prstGeom prst="ellipse">
            <a:avLst/>
          </a:prstGeom>
          <a:noFill/>
          <a:ln w="12700">
            <a:solidFill>
              <a:srgbClr val="2C5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14400" y="5486400"/>
            <a:ext cx="0" cy="0"/>
          </a:xfrm>
          <a:custGeom>
            <a:avLst/>
            <a:gdLst/>
            <a:ahLst/>
            <a:cxnLst/>
            <a:rect l="l" t="t" r="r" b="b"/>
            <a:pathLst>
              <a:path w="0" h="0">
                <a:moveTo>
                  <a:pt x="0" y="0"/>
                </a:moveTo>
                <a:lnTo>
                  <a:pt x="0" y="0"/>
                </a:lnTo>
                <a:lnTo>
                  <a:pt x="0" y="0"/>
                </a:lnTo>
              </a:path>
            </a:pathLst>
          </a:custGeom>
          <a:noFill/>
          <a:ln w="2476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120640"/>
            <a:ext cx="4846320" cy="274320"/>
          </a:xfrm>
          <a:prstGeom prst="rect">
            <a:avLst/>
          </a:prstGeom>
          <a:noFill/>
        </p:spPr>
        <p:txBody>
          <a:bodyPr wrap="square" lIns="0" rIns="0" tIns="0" bIns="0" anchor="t">
            <a:spAutoFit/>
          </a:bodyPr>
          <a:lstStyle/>
          <a:p>
            <a:pPr algn="l">
              <a:lnSpc>
                <a:spcPct val="130000"/>
              </a:lnSpc>
            </a:pPr>
            <a:r>
              <a:rPr sz="1019" b="0">
                <a:solidFill>
                  <a:srgbClr val="D5DEEA"/>
                </a:solidFill>
                <a:latin typeface="Inter"/>
              </a:rPr>
              <a:t>A formal review at the end of month three</a:t>
            </a:r>
          </a:p>
        </p:txBody>
      </p:sp>
      <p:sp>
        <p:nvSpPr>
          <p:cNvPr id="27" name="Rounded Rectangle 26"/>
          <p:cNvSpPr/>
          <p:nvPr/>
        </p:nvSpPr>
        <p:spPr>
          <a:xfrm>
            <a:off x="6537960" y="2103120"/>
            <a:ext cx="4965192" cy="3017520"/>
          </a:xfrm>
          <a:prstGeom prst="roundRect">
            <a:avLst>
              <a:gd name="adj" fmla="val 4242"/>
            </a:avLst>
          </a:prstGeom>
          <a:solidFill>
            <a:srgbClr val="0A1424"/>
          </a:solidFill>
          <a:ln w="12700">
            <a:solidFill>
              <a:srgbClr val="1B3A66"/>
            </a:solidFill>
          </a:ln>
          <a:effectLst>
            <a:outerShdw blurRad="310896" dist="91440" dir="5400000" algn="ctr" rotWithShape="0">
              <a:srgbClr val="0A132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37960" y="2103120"/>
            <a:ext cx="4965192" cy="45720"/>
          </a:xfrm>
          <a:prstGeom prst="roundRect">
            <a:avLst>
              <a:gd name="adj" fmla="val 4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22008" y="2487168"/>
            <a:ext cx="4197096" cy="182880"/>
          </a:xfrm>
          <a:prstGeom prst="rect">
            <a:avLst/>
          </a:prstGeom>
          <a:noFill/>
        </p:spPr>
        <p:txBody>
          <a:bodyPr wrap="square" lIns="0" rIns="0" tIns="0" bIns="0" anchor="t">
            <a:spAutoFit/>
          </a:bodyPr>
          <a:lstStyle/>
          <a:p>
            <a:pPr algn="l">
              <a:lnSpc>
                <a:spcPct val="130000"/>
              </a:lnSpc>
            </a:pPr>
            <a:r>
              <a:rPr sz="740" b="1" spc="240">
                <a:solidFill>
                  <a:srgbClr val="22D3EE"/>
                </a:solidFill>
                <a:latin typeface="Inter"/>
              </a:rPr>
              <a:t>DECISION REQUESTED</a:t>
            </a:r>
          </a:p>
        </p:txBody>
      </p:sp>
      <p:sp>
        <p:nvSpPr>
          <p:cNvPr id="30" name="TextBox 29"/>
          <p:cNvSpPr txBox="1"/>
          <p:nvPr/>
        </p:nvSpPr>
        <p:spPr>
          <a:xfrm>
            <a:off x="6922008" y="2761488"/>
            <a:ext cx="4197096" cy="822960"/>
          </a:xfrm>
          <a:prstGeom prst="rect">
            <a:avLst/>
          </a:prstGeom>
          <a:noFill/>
        </p:spPr>
        <p:txBody>
          <a:bodyPr wrap="square" lIns="0" rIns="0" tIns="0" bIns="0" anchor="t">
            <a:spAutoFit/>
          </a:bodyPr>
          <a:lstStyle/>
          <a:p>
            <a:pPr algn="l">
              <a:lnSpc>
                <a:spcPct val="124000"/>
              </a:lnSpc>
            </a:pPr>
            <a:r>
              <a:rPr sz="2100" b="1" spc="-60">
                <a:solidFill>
                  <a:srgbClr val="FFFFFF"/>
                </a:solidFill>
                <a:latin typeface="Inter"/>
              </a:rPr>
              <a:t>Approve the
three-month pilot</a:t>
            </a:r>
          </a:p>
        </p:txBody>
      </p:sp>
      <p:sp>
        <p:nvSpPr>
          <p:cNvPr id="31" name="TextBox 30"/>
          <p:cNvSpPr txBox="1"/>
          <p:nvPr/>
        </p:nvSpPr>
        <p:spPr>
          <a:xfrm>
            <a:off x="6922008" y="3803904"/>
            <a:ext cx="4197096" cy="457200"/>
          </a:xfrm>
          <a:prstGeom prst="rect">
            <a:avLst/>
          </a:prstGeom>
          <a:noFill/>
        </p:spPr>
        <p:txBody>
          <a:bodyPr wrap="square" lIns="0" rIns="0" tIns="0" bIns="0" anchor="t">
            <a:spAutoFit/>
          </a:bodyPr>
          <a:lstStyle/>
          <a:p>
            <a:pPr algn="l">
              <a:lnSpc>
                <a:spcPct val="150000"/>
              </a:lnSpc>
            </a:pPr>
            <a:r>
              <a:rPr sz="940" b="0">
                <a:solidFill>
                  <a:srgbClr val="9AAEC8"/>
                </a:solidFill>
                <a:latin typeface="Inter"/>
              </a:rPr>
              <a:t>₹6,000 in total.  ₹5,700 developing the fund.  ₹300 personal.</a:t>
            </a:r>
          </a:p>
        </p:txBody>
      </p:sp>
      <p:cxnSp>
        <p:nvCxnSpPr>
          <p:cNvPr id="32" name="Connector 31"/>
          <p:cNvCxnSpPr/>
          <p:nvPr/>
        </p:nvCxnSpPr>
        <p:spPr>
          <a:xfrm>
            <a:off x="6922008" y="4389120"/>
            <a:ext cx="4197096"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22008" y="4498848"/>
            <a:ext cx="2011680" cy="182880"/>
          </a:xfrm>
          <a:prstGeom prst="rect">
            <a:avLst/>
          </a:prstGeom>
          <a:noFill/>
        </p:spPr>
        <p:txBody>
          <a:bodyPr wrap="square" lIns="0" rIns="0" tIns="0" bIns="0" anchor="t">
            <a:spAutoFit/>
          </a:bodyPr>
          <a:lstStyle/>
          <a:p>
            <a:pPr algn="l">
              <a:lnSpc>
                <a:spcPct val="130000"/>
              </a:lnSpc>
            </a:pPr>
            <a:r>
              <a:rPr sz="660" b="1" spc="180">
                <a:solidFill>
                  <a:srgbClr val="617A9C"/>
                </a:solidFill>
                <a:latin typeface="Inter"/>
              </a:rPr>
              <a:t>STUDENT</a:t>
            </a:r>
          </a:p>
        </p:txBody>
      </p:sp>
      <p:sp>
        <p:nvSpPr>
          <p:cNvPr id="34" name="TextBox 33"/>
          <p:cNvSpPr txBox="1"/>
          <p:nvPr/>
        </p:nvSpPr>
        <p:spPr>
          <a:xfrm>
            <a:off x="6922008" y="4791456"/>
            <a:ext cx="2011680" cy="182880"/>
          </a:xfrm>
          <a:prstGeom prst="rect">
            <a:avLst/>
          </a:prstGeom>
          <a:noFill/>
        </p:spPr>
        <p:txBody>
          <a:bodyPr wrap="square" lIns="0" rIns="0" tIns="0" bIns="0" anchor="t">
            <a:spAutoFit/>
          </a:bodyPr>
          <a:lstStyle/>
          <a:p>
            <a:pPr algn="l">
              <a:lnSpc>
                <a:spcPct val="130000"/>
              </a:lnSpc>
            </a:pPr>
            <a:r>
              <a:rPr sz="800" b="0">
                <a:solidFill>
                  <a:srgbClr val="3C5A85"/>
                </a:solidFill>
                <a:latin typeface="Inter"/>
              </a:rPr>
              <a:t>________________</a:t>
            </a:r>
          </a:p>
        </p:txBody>
      </p:sp>
      <p:sp>
        <p:nvSpPr>
          <p:cNvPr id="35" name="TextBox 34"/>
          <p:cNvSpPr txBox="1"/>
          <p:nvPr/>
        </p:nvSpPr>
        <p:spPr>
          <a:xfrm>
            <a:off x="9235440" y="4498848"/>
            <a:ext cx="2011680" cy="182880"/>
          </a:xfrm>
          <a:prstGeom prst="rect">
            <a:avLst/>
          </a:prstGeom>
          <a:noFill/>
        </p:spPr>
        <p:txBody>
          <a:bodyPr wrap="square" lIns="0" rIns="0" tIns="0" bIns="0" anchor="t">
            <a:spAutoFit/>
          </a:bodyPr>
          <a:lstStyle/>
          <a:p>
            <a:pPr algn="l">
              <a:lnSpc>
                <a:spcPct val="130000"/>
              </a:lnSpc>
            </a:pPr>
            <a:r>
              <a:rPr sz="660" b="1" spc="180">
                <a:solidFill>
                  <a:srgbClr val="617A9C"/>
                </a:solidFill>
                <a:latin typeface="Inter"/>
              </a:rPr>
              <a:t>PARENTS</a:t>
            </a:r>
          </a:p>
        </p:txBody>
      </p:sp>
      <p:sp>
        <p:nvSpPr>
          <p:cNvPr id="36" name="TextBox 35"/>
          <p:cNvSpPr txBox="1"/>
          <p:nvPr/>
        </p:nvSpPr>
        <p:spPr>
          <a:xfrm>
            <a:off x="9235440" y="4791456"/>
            <a:ext cx="2011680" cy="182880"/>
          </a:xfrm>
          <a:prstGeom prst="rect">
            <a:avLst/>
          </a:prstGeom>
          <a:noFill/>
        </p:spPr>
        <p:txBody>
          <a:bodyPr wrap="square" lIns="0" rIns="0" tIns="0" bIns="0" anchor="t">
            <a:spAutoFit/>
          </a:bodyPr>
          <a:lstStyle/>
          <a:p>
            <a:pPr algn="l">
              <a:lnSpc>
                <a:spcPct val="130000"/>
              </a:lnSpc>
            </a:pPr>
            <a:r>
              <a:rPr sz="800" b="0">
                <a:solidFill>
                  <a:srgbClr val="3C5A85"/>
                </a:solidFill>
                <a:latin typeface="Inter"/>
              </a:rPr>
              <a:t>________________</a:t>
            </a:r>
          </a:p>
        </p:txBody>
      </p:sp>
      <p:cxnSp>
        <p:nvCxnSpPr>
          <p:cNvPr id="37" name="Connector 36"/>
          <p:cNvCxnSpPr/>
          <p:nvPr/>
        </p:nvCxnSpPr>
        <p:spPr>
          <a:xfrm>
            <a:off x="685800" y="5504688"/>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85800" y="5632704"/>
            <a:ext cx="2377440" cy="182880"/>
          </a:xfrm>
          <a:prstGeom prst="rect">
            <a:avLst/>
          </a:prstGeom>
          <a:noFill/>
        </p:spPr>
        <p:txBody>
          <a:bodyPr wrap="square" lIns="0" rIns="0" tIns="0" bIns="0" anchor="t">
            <a:spAutoFit/>
          </a:bodyPr>
          <a:lstStyle/>
          <a:p>
            <a:pPr algn="l">
              <a:lnSpc>
                <a:spcPct val="130000"/>
              </a:lnSpc>
            </a:pPr>
            <a:r>
              <a:rPr sz="680" b="1" spc="190">
                <a:solidFill>
                  <a:srgbClr val="617A9C"/>
                </a:solidFill>
                <a:latin typeface="Inter"/>
              </a:rPr>
              <a:t>THE FIVE PRINCIPLES</a:t>
            </a:r>
          </a:p>
        </p:txBody>
      </p:sp>
      <p:sp>
        <p:nvSpPr>
          <p:cNvPr id="39" name="Oval 38"/>
          <p:cNvSpPr/>
          <p:nvPr/>
        </p:nvSpPr>
        <p:spPr>
          <a:xfrm>
            <a:off x="694944" y="5943600"/>
            <a:ext cx="54864" cy="548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 y="5879592"/>
            <a:ext cx="2011680" cy="182880"/>
          </a:xfrm>
          <a:prstGeom prst="rect">
            <a:avLst/>
          </a:prstGeom>
          <a:noFill/>
        </p:spPr>
        <p:txBody>
          <a:bodyPr wrap="square" lIns="0" rIns="0" tIns="0" bIns="0" anchor="t">
            <a:spAutoFit/>
          </a:bodyPr>
          <a:lstStyle/>
          <a:p>
            <a:pPr algn="l">
              <a:lnSpc>
                <a:spcPct val="130000"/>
              </a:lnSpc>
            </a:pPr>
            <a:r>
              <a:rPr sz="819" b="0">
                <a:solidFill>
                  <a:srgbClr val="B8C6D8"/>
                </a:solidFill>
                <a:latin typeface="Inter"/>
              </a:rPr>
              <a:t>Long-term development</a:t>
            </a:r>
          </a:p>
        </p:txBody>
      </p:sp>
      <p:sp>
        <p:nvSpPr>
          <p:cNvPr id="41" name="Oval 40"/>
          <p:cNvSpPr/>
          <p:nvPr/>
        </p:nvSpPr>
        <p:spPr>
          <a:xfrm>
            <a:off x="2871216" y="5943600"/>
            <a:ext cx="54864" cy="548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08376" y="5879592"/>
            <a:ext cx="2011680" cy="182880"/>
          </a:xfrm>
          <a:prstGeom prst="rect">
            <a:avLst/>
          </a:prstGeom>
          <a:noFill/>
        </p:spPr>
        <p:txBody>
          <a:bodyPr wrap="square" lIns="0" rIns="0" tIns="0" bIns="0" anchor="t">
            <a:spAutoFit/>
          </a:bodyPr>
          <a:lstStyle/>
          <a:p>
            <a:pPr algn="l">
              <a:lnSpc>
                <a:spcPct val="130000"/>
              </a:lnSpc>
            </a:pPr>
            <a:r>
              <a:rPr sz="819" b="0">
                <a:solidFill>
                  <a:srgbClr val="B8C6D8"/>
                </a:solidFill>
                <a:latin typeface="Inter"/>
              </a:rPr>
              <a:t>Financial responsibility</a:t>
            </a:r>
          </a:p>
        </p:txBody>
      </p:sp>
      <p:sp>
        <p:nvSpPr>
          <p:cNvPr id="43" name="Oval 42"/>
          <p:cNvSpPr/>
          <p:nvPr/>
        </p:nvSpPr>
        <p:spPr>
          <a:xfrm>
            <a:off x="5047488" y="5943600"/>
            <a:ext cx="54864" cy="548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84648" y="5879592"/>
            <a:ext cx="2011680" cy="182880"/>
          </a:xfrm>
          <a:prstGeom prst="rect">
            <a:avLst/>
          </a:prstGeom>
          <a:noFill/>
        </p:spPr>
        <p:txBody>
          <a:bodyPr wrap="square" lIns="0" rIns="0" tIns="0" bIns="0" anchor="t">
            <a:spAutoFit/>
          </a:bodyPr>
          <a:lstStyle/>
          <a:p>
            <a:pPr algn="l">
              <a:lnSpc>
                <a:spcPct val="130000"/>
              </a:lnSpc>
            </a:pPr>
            <a:r>
              <a:rPr sz="819" b="0">
                <a:solidFill>
                  <a:srgbClr val="B8C6D8"/>
                </a:solidFill>
                <a:latin typeface="Inter"/>
              </a:rPr>
              <a:t>Academic consistency</a:t>
            </a:r>
          </a:p>
        </p:txBody>
      </p:sp>
      <p:sp>
        <p:nvSpPr>
          <p:cNvPr id="45" name="Oval 44"/>
          <p:cNvSpPr/>
          <p:nvPr/>
        </p:nvSpPr>
        <p:spPr>
          <a:xfrm>
            <a:off x="7223760" y="5943600"/>
            <a:ext cx="54864" cy="548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60920" y="5879592"/>
            <a:ext cx="2011680" cy="182880"/>
          </a:xfrm>
          <a:prstGeom prst="rect">
            <a:avLst/>
          </a:prstGeom>
          <a:noFill/>
        </p:spPr>
        <p:txBody>
          <a:bodyPr wrap="square" lIns="0" rIns="0" tIns="0" bIns="0" anchor="t">
            <a:spAutoFit/>
          </a:bodyPr>
          <a:lstStyle/>
          <a:p>
            <a:pPr algn="l">
              <a:lnSpc>
                <a:spcPct val="130000"/>
              </a:lnSpc>
            </a:pPr>
            <a:r>
              <a:rPr sz="819" b="0">
                <a:solidFill>
                  <a:srgbClr val="B8C6D8"/>
                </a:solidFill>
                <a:latin typeface="Inter"/>
              </a:rPr>
              <a:t>Personal discipline</a:t>
            </a:r>
          </a:p>
        </p:txBody>
      </p:sp>
      <p:sp>
        <p:nvSpPr>
          <p:cNvPr id="47" name="Oval 46"/>
          <p:cNvSpPr/>
          <p:nvPr/>
        </p:nvSpPr>
        <p:spPr>
          <a:xfrm>
            <a:off x="9400032" y="5943600"/>
            <a:ext cx="54864" cy="548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37192" y="5879592"/>
            <a:ext cx="2011680" cy="182880"/>
          </a:xfrm>
          <a:prstGeom prst="rect">
            <a:avLst/>
          </a:prstGeom>
          <a:noFill/>
        </p:spPr>
        <p:txBody>
          <a:bodyPr wrap="square" lIns="0" rIns="0" tIns="0" bIns="0" anchor="t">
            <a:spAutoFit/>
          </a:bodyPr>
          <a:lstStyle/>
          <a:p>
            <a:pPr algn="l">
              <a:lnSpc>
                <a:spcPct val="130000"/>
              </a:lnSpc>
            </a:pPr>
            <a:r>
              <a:rPr sz="819" b="0">
                <a:solidFill>
                  <a:srgbClr val="B8C6D8"/>
                </a:solidFill>
                <a:latin typeface="Inter"/>
              </a:rPr>
              <a:t>Full transparency</a:t>
            </a:r>
          </a:p>
        </p:txBody>
      </p:sp>
      <p:cxnSp>
        <p:nvCxnSpPr>
          <p:cNvPr id="49" name="Connector 48"/>
          <p:cNvCxnSpPr/>
          <p:nvPr/>
        </p:nvCxnSpPr>
        <p:spPr>
          <a:xfrm>
            <a:off x="685800" y="6419088"/>
            <a:ext cx="10817352" cy="0"/>
          </a:xfrm>
          <a:prstGeom prst="line">
            <a:avLst/>
          </a:prstGeom>
          <a:ln w="11430">
            <a:solidFill>
              <a:srgbClr val="1B2A4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85800" y="6519672"/>
            <a:ext cx="2926080" cy="182880"/>
          </a:xfrm>
          <a:prstGeom prst="rect">
            <a:avLst/>
          </a:prstGeom>
          <a:noFill/>
        </p:spPr>
        <p:txBody>
          <a:bodyPr wrap="square" lIns="0" rIns="0" tIns="0" bIns="0" anchor="t">
            <a:spAutoFit/>
          </a:bodyPr>
          <a:lstStyle/>
          <a:p>
            <a:pPr algn="l">
              <a:lnSpc>
                <a:spcPct val="130000"/>
              </a:lnSpc>
            </a:pPr>
            <a:r>
              <a:rPr sz="700" b="1" spc="190">
                <a:solidFill>
                  <a:srgbClr val="5D6F8C"/>
                </a:solidFill>
                <a:latin typeface="Inter"/>
              </a:rPr>
              <a:t>PROJECT FUTURE</a:t>
            </a:r>
          </a:p>
        </p:txBody>
      </p:sp>
      <p:sp>
        <p:nvSpPr>
          <p:cNvPr id="51" name="TextBox 50"/>
          <p:cNvSpPr txBox="1"/>
          <p:nvPr/>
        </p:nvSpPr>
        <p:spPr>
          <a:xfrm>
            <a:off x="1881886" y="6519672"/>
            <a:ext cx="182880" cy="182880"/>
          </a:xfrm>
          <a:prstGeom prst="rect">
            <a:avLst/>
          </a:prstGeom>
          <a:noFill/>
        </p:spPr>
        <p:txBody>
          <a:bodyPr wrap="square" lIns="0" rIns="0" tIns="0" bIns="0" anchor="t">
            <a:spAutoFit/>
          </a:bodyPr>
          <a:lstStyle/>
          <a:p>
            <a:pPr algn="l">
              <a:lnSpc>
                <a:spcPct val="130000"/>
              </a:lnSpc>
            </a:pPr>
            <a:r>
              <a:rPr sz="700" b="0">
                <a:solidFill>
                  <a:srgbClr val="5D6F8C"/>
                </a:solidFill>
                <a:latin typeface="Inter"/>
              </a:rPr>
              <a:t>·</a:t>
            </a:r>
          </a:p>
        </p:txBody>
      </p:sp>
      <p:sp>
        <p:nvSpPr>
          <p:cNvPr id="52" name="TextBox 51"/>
          <p:cNvSpPr txBox="1"/>
          <p:nvPr/>
        </p:nvSpPr>
        <p:spPr>
          <a:xfrm>
            <a:off x="2037334" y="6528816"/>
            <a:ext cx="5486400" cy="182880"/>
          </a:xfrm>
          <a:prstGeom prst="rect">
            <a:avLst/>
          </a:prstGeom>
          <a:noFill/>
        </p:spPr>
        <p:txBody>
          <a:bodyPr wrap="square" lIns="0" rIns="0" tIns="0" bIns="0" anchor="t">
            <a:spAutoFit/>
          </a:bodyPr>
          <a:lstStyle/>
          <a:p>
            <a:pPr algn="l">
              <a:lnSpc>
                <a:spcPct val="130000"/>
              </a:lnSpc>
            </a:pPr>
            <a:r>
              <a:rPr sz="700" b="0" spc="150">
                <a:solidFill>
                  <a:srgbClr val="5D6F8C"/>
                </a:solidFill>
                <a:latin typeface="Inter"/>
              </a:rPr>
              <a:t>PERSONAL DEVELOPMENT &amp; TECHNOLOGY FUND</a:t>
            </a:r>
          </a:p>
        </p:txBody>
      </p:sp>
      <p:sp>
        <p:nvSpPr>
          <p:cNvPr id="53" name="TextBox 52"/>
          <p:cNvSpPr txBox="1"/>
          <p:nvPr/>
        </p:nvSpPr>
        <p:spPr>
          <a:xfrm>
            <a:off x="7498080" y="6519672"/>
            <a:ext cx="4005072" cy="182880"/>
          </a:xfrm>
          <a:prstGeom prst="rect">
            <a:avLst/>
          </a:prstGeom>
          <a:noFill/>
        </p:spPr>
        <p:txBody>
          <a:bodyPr wrap="square" lIns="0" rIns="0" tIns="0" bIns="0" anchor="t">
            <a:spAutoFit/>
          </a:bodyPr>
          <a:lstStyle/>
          <a:p>
            <a:pPr algn="r">
              <a:lnSpc>
                <a:spcPct val="130000"/>
              </a:lnSpc>
            </a:pPr>
            <a:r>
              <a:rPr sz="700" b="1" spc="140">
                <a:solidFill>
                  <a:srgbClr val="5D6F8C"/>
                </a:solidFill>
                <a:latin typeface="Inter"/>
              </a:rPr>
              <a:t>₹2,000 / MONTH   ·   3-MONTH PILOT   ·   FULL TRANSPARENCY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cxnSp>
        <p:nvCxnSpPr>
          <p:cNvPr id="2" name="Connector 1"/>
          <p:cNvCxnSpPr/>
          <p:nvPr/>
        </p:nvCxnSpPr>
        <p:spPr>
          <a:xfrm>
            <a:off x="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87782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75564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63347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511296"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38912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26694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14476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2259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900416"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56064"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33888"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411712" y="0"/>
            <a:ext cx="0" cy="685800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0"/>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0" y="877824"/>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0" y="1755648"/>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2633472"/>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3511296"/>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4389120"/>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5266944"/>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6144768"/>
            <a:ext cx="12191695" cy="0"/>
          </a:xfrm>
          <a:prstGeom prst="line">
            <a:avLst/>
          </a:prstGeom>
          <a:ln w="7620">
            <a:solidFill>
              <a:srgbClr val="FFFFFF">
                <a:alpha val="1700"/>
              </a:srgbClr>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937760" y="-274320"/>
            <a:ext cx="13167360" cy="13167360"/>
          </a:xfrm>
          <a:prstGeom prst="ellipse">
            <a:avLst/>
          </a:prstGeom>
          <a:gradFill rotWithShape="1">
            <a:gsLst>
              <a:gs pos="0">
                <a:srgbClr val="123A78">
                  <a:alpha val="42000"/>
                </a:srgbClr>
              </a:gs>
              <a:gs pos="35000">
                <a:srgbClr val="0C2450">
                  <a:alpha val="22000"/>
                </a:srgbClr>
              </a:gs>
              <a:gs pos="100000">
                <a:srgbClr val="050A14">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0" y="0"/>
            <a:ext cx="12191695" cy="0"/>
          </a:xfrm>
          <a:prstGeom prst="line">
            <a:avLst/>
          </a:prstGeom>
          <a:ln w="30480">
            <a:solidFill>
              <a:srgbClr val="22D3EE">
                <a:alpha val="55000"/>
              </a:srgbClr>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1024128"/>
            <a:ext cx="5486400" cy="219456"/>
          </a:xfrm>
          <a:prstGeom prst="rect">
            <a:avLst/>
          </a:prstGeom>
          <a:noFill/>
        </p:spPr>
        <p:txBody>
          <a:bodyPr wrap="square" lIns="0" rIns="0" tIns="0" bIns="0" anchor="t">
            <a:spAutoFit/>
          </a:bodyPr>
          <a:lstStyle/>
          <a:p>
            <a:pPr algn="l">
              <a:lnSpc>
                <a:spcPct val="130000"/>
              </a:lnSpc>
            </a:pPr>
            <a:r>
              <a:rPr sz="860" b="1" spc="260">
                <a:solidFill>
                  <a:srgbClr val="22D3EE"/>
                </a:solidFill>
                <a:latin typeface="Inter"/>
              </a:rPr>
              <a:t>12 · CLOSING</a:t>
            </a:r>
          </a:p>
        </p:txBody>
      </p:sp>
      <p:sp>
        <p:nvSpPr>
          <p:cNvPr id="27" name="TextBox 26"/>
          <p:cNvSpPr txBox="1"/>
          <p:nvPr/>
        </p:nvSpPr>
        <p:spPr>
          <a:xfrm>
            <a:off x="822960" y="1417320"/>
            <a:ext cx="6949440" cy="3529584"/>
          </a:xfrm>
          <a:prstGeom prst="rect">
            <a:avLst/>
          </a:prstGeom>
          <a:noFill/>
        </p:spPr>
        <p:txBody>
          <a:bodyPr wrap="square" lIns="0" rIns="0" tIns="0" bIns="0" anchor="t">
            <a:spAutoFit/>
          </a:bodyPr>
          <a:lstStyle/>
          <a:p>
            <a:pPr algn="l">
              <a:lnSpc>
                <a:spcPct val="144000"/>
              </a:lnSpc>
              <a:spcAft>
                <a:spcPts val="1300"/>
              </a:spcAft>
            </a:pPr>
            <a:r>
              <a:rPr sz="1950" b="0">
                <a:solidFill>
                  <a:srgbClr val="FFFFFF"/>
                </a:solidFill>
                <a:latin typeface="Inter"/>
              </a:rPr>
              <a:t>“I don't want to keep asking for individual purchases whenever I need something.</a:t>
            </a:r>
          </a:p>
          <a:p>
            <a:pPr algn="l">
              <a:lnSpc>
                <a:spcPct val="144000"/>
              </a:lnSpc>
              <a:spcAft>
                <a:spcPts val="1300"/>
              </a:spcAft>
            </a:pPr>
            <a:r>
              <a:rPr sz="1950" b="0">
                <a:solidFill>
                  <a:srgbClr val="FFFFFF"/>
                </a:solidFill>
                <a:latin typeface="Inter"/>
              </a:rPr>
              <a:t>I want to plan ahead, save towards my goals and take greater responsibility for my development.</a:t>
            </a:r>
          </a:p>
          <a:p>
            <a:pPr algn="l">
              <a:lnSpc>
                <a:spcPct val="144000"/>
              </a:lnSpc>
            </a:pPr>
            <a:r>
              <a:rPr sz="1950" b="0">
                <a:solidFill>
                  <a:srgbClr val="22D3EE"/>
                </a:solidFill>
                <a:latin typeface="Inter"/>
              </a:rPr>
              <a:t>With your support, I hope to build something that helps me grow — not just as a student, but as a future engineer.”</a:t>
            </a:r>
          </a:p>
        </p:txBody>
      </p:sp>
      <p:sp>
        <p:nvSpPr>
          <p:cNvPr id="28" name="Rectangle 27"/>
          <p:cNvSpPr/>
          <p:nvPr/>
        </p:nvSpPr>
        <p:spPr>
          <a:xfrm>
            <a:off x="822960" y="5248656"/>
            <a:ext cx="56692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431536"/>
            <a:ext cx="5852160" cy="274320"/>
          </a:xfrm>
          <a:prstGeom prst="rect">
            <a:avLst/>
          </a:prstGeom>
          <a:noFill/>
        </p:spPr>
        <p:txBody>
          <a:bodyPr wrap="square" lIns="0" rIns="0" tIns="0" bIns="0" anchor="t">
            <a:spAutoFit/>
          </a:bodyPr>
          <a:lstStyle/>
          <a:p>
            <a:pPr algn="l">
              <a:lnSpc>
                <a:spcPct val="130000"/>
              </a:lnSpc>
            </a:pPr>
            <a:r>
              <a:rPr sz="1300" b="0">
                <a:solidFill>
                  <a:srgbClr val="D5DEEA"/>
                </a:solidFill>
                <a:latin typeface="Inter"/>
              </a:rPr>
              <a:t>Thank you for considering it.</a:t>
            </a:r>
          </a:p>
        </p:txBody>
      </p:sp>
      <p:sp>
        <p:nvSpPr>
          <p:cNvPr id="30" name="TextBox 29"/>
          <p:cNvSpPr txBox="1"/>
          <p:nvPr/>
        </p:nvSpPr>
        <p:spPr>
          <a:xfrm>
            <a:off x="822960" y="5797296"/>
            <a:ext cx="6766560" cy="274320"/>
          </a:xfrm>
          <a:prstGeom prst="rect">
            <a:avLst/>
          </a:prstGeom>
          <a:noFill/>
        </p:spPr>
        <p:txBody>
          <a:bodyPr wrap="square" lIns="0" rIns="0" tIns="0" bIns="0" anchor="t">
            <a:spAutoFit/>
          </a:bodyPr>
          <a:lstStyle/>
          <a:p>
            <a:pPr algn="l">
              <a:lnSpc>
                <a:spcPct val="130000"/>
              </a:lnSpc>
            </a:pPr>
            <a:r>
              <a:rPr sz="1050" b="0">
                <a:solidFill>
                  <a:srgbClr val="7E90AB"/>
                </a:solidFill>
                <a:latin typeface="Inter"/>
              </a:rPr>
              <a:t>Investing in skills today. Building possibilities for tomorrow.</a:t>
            </a:r>
          </a:p>
        </p:txBody>
      </p:sp>
      <p:sp>
        <p:nvSpPr>
          <p:cNvPr id="31" name="Oval 30"/>
          <p:cNvSpPr/>
          <p:nvPr/>
        </p:nvSpPr>
        <p:spPr>
          <a:xfrm>
            <a:off x="8165592" y="1993392"/>
            <a:ext cx="2779776" cy="2779776"/>
          </a:xfrm>
          <a:prstGeom prst="ellipse">
            <a:avLst/>
          </a:prstGeom>
          <a:noFill/>
          <a:ln w="12700">
            <a:solidFill>
              <a:srgbClr val="22D3EE">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520733" y="1958645"/>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82511" y="1920423"/>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32520" y="1650492"/>
            <a:ext cx="1645920" cy="201168"/>
          </a:xfrm>
          <a:prstGeom prst="rect">
            <a:avLst/>
          </a:prstGeom>
          <a:noFill/>
        </p:spPr>
        <p:txBody>
          <a:bodyPr wrap="square" lIns="0" rIns="0" tIns="0" bIns="0" anchor="t">
            <a:spAutoFit/>
          </a:bodyPr>
          <a:lstStyle/>
          <a:p>
            <a:pPr algn="ctr">
              <a:lnSpc>
                <a:spcPct val="130000"/>
              </a:lnSpc>
            </a:pPr>
            <a:r>
              <a:rPr sz="720" b="1" spc="140">
                <a:solidFill>
                  <a:srgbClr val="8FA6C4">
                    <a:alpha val="60000"/>
                  </a:srgbClr>
                </a:solidFill>
                <a:latin typeface="Inter"/>
              </a:rPr>
              <a:t>LEARN</a:t>
            </a:r>
          </a:p>
        </p:txBody>
      </p:sp>
      <p:sp>
        <p:nvSpPr>
          <p:cNvPr id="35" name="Oval 34"/>
          <p:cNvSpPr/>
          <p:nvPr/>
        </p:nvSpPr>
        <p:spPr>
          <a:xfrm>
            <a:off x="10724411" y="2653589"/>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686189" y="2615367"/>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41862" y="2482596"/>
            <a:ext cx="1371600" cy="201168"/>
          </a:xfrm>
          <a:prstGeom prst="rect">
            <a:avLst/>
          </a:prstGeom>
          <a:noFill/>
        </p:spPr>
        <p:txBody>
          <a:bodyPr wrap="square" lIns="0" rIns="0" tIns="0" bIns="0" anchor="t">
            <a:spAutoFit/>
          </a:bodyPr>
          <a:lstStyle/>
          <a:p>
            <a:pPr algn="l">
              <a:lnSpc>
                <a:spcPct val="130000"/>
              </a:lnSpc>
            </a:pPr>
            <a:r>
              <a:rPr sz="720" b="1" spc="140">
                <a:solidFill>
                  <a:srgbClr val="8FA6C4">
                    <a:alpha val="60000"/>
                  </a:srgbClr>
                </a:solidFill>
                <a:latin typeface="Inter"/>
              </a:rPr>
              <a:t>EXPERIMENT</a:t>
            </a:r>
          </a:p>
        </p:txBody>
      </p:sp>
      <p:sp>
        <p:nvSpPr>
          <p:cNvPr id="38" name="Oval 37"/>
          <p:cNvSpPr/>
          <p:nvPr/>
        </p:nvSpPr>
        <p:spPr>
          <a:xfrm>
            <a:off x="10724411" y="4043477"/>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86189" y="4005255"/>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41862" y="4146804"/>
            <a:ext cx="1371600" cy="201168"/>
          </a:xfrm>
          <a:prstGeom prst="rect">
            <a:avLst/>
          </a:prstGeom>
          <a:noFill/>
        </p:spPr>
        <p:txBody>
          <a:bodyPr wrap="square" lIns="0" rIns="0" tIns="0" bIns="0" anchor="t">
            <a:spAutoFit/>
          </a:bodyPr>
          <a:lstStyle/>
          <a:p>
            <a:pPr algn="l">
              <a:lnSpc>
                <a:spcPct val="130000"/>
              </a:lnSpc>
            </a:pPr>
            <a:r>
              <a:rPr sz="720" b="1" spc="140">
                <a:solidFill>
                  <a:srgbClr val="8FA6C4">
                    <a:alpha val="60000"/>
                  </a:srgbClr>
                </a:solidFill>
                <a:latin typeface="Inter"/>
              </a:rPr>
              <a:t>DESIGN</a:t>
            </a:r>
          </a:p>
        </p:txBody>
      </p:sp>
      <p:sp>
        <p:nvSpPr>
          <p:cNvPr id="41" name="Oval 40"/>
          <p:cNvSpPr/>
          <p:nvPr/>
        </p:nvSpPr>
        <p:spPr>
          <a:xfrm>
            <a:off x="9520733" y="4738421"/>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82511" y="4700199"/>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32520" y="4978908"/>
            <a:ext cx="1645920" cy="201168"/>
          </a:xfrm>
          <a:prstGeom prst="rect">
            <a:avLst/>
          </a:prstGeom>
          <a:noFill/>
        </p:spPr>
        <p:txBody>
          <a:bodyPr wrap="square" lIns="0" rIns="0" tIns="0" bIns="0" anchor="t">
            <a:spAutoFit/>
          </a:bodyPr>
          <a:lstStyle/>
          <a:p>
            <a:pPr algn="ctr">
              <a:lnSpc>
                <a:spcPct val="130000"/>
              </a:lnSpc>
            </a:pPr>
            <a:r>
              <a:rPr sz="720" b="1" spc="140">
                <a:solidFill>
                  <a:srgbClr val="8FA6C4">
                    <a:alpha val="60000"/>
                  </a:srgbClr>
                </a:solidFill>
                <a:latin typeface="Inter"/>
              </a:rPr>
              <a:t>PROTOTYPE</a:t>
            </a:r>
          </a:p>
        </p:txBody>
      </p:sp>
      <p:sp>
        <p:nvSpPr>
          <p:cNvPr id="44" name="Oval 43"/>
          <p:cNvSpPr/>
          <p:nvPr/>
        </p:nvSpPr>
        <p:spPr>
          <a:xfrm>
            <a:off x="8317054" y="4043477"/>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278833" y="4005255"/>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97498" y="4146804"/>
            <a:ext cx="1371600" cy="201168"/>
          </a:xfrm>
          <a:prstGeom prst="rect">
            <a:avLst/>
          </a:prstGeom>
          <a:noFill/>
        </p:spPr>
        <p:txBody>
          <a:bodyPr wrap="square" lIns="0" rIns="0" tIns="0" bIns="0" anchor="t">
            <a:spAutoFit/>
          </a:bodyPr>
          <a:lstStyle/>
          <a:p>
            <a:pPr algn="r">
              <a:lnSpc>
                <a:spcPct val="130000"/>
              </a:lnSpc>
            </a:pPr>
            <a:r>
              <a:rPr sz="720" b="1" spc="140">
                <a:solidFill>
                  <a:srgbClr val="8FA6C4">
                    <a:alpha val="60000"/>
                  </a:srgbClr>
                </a:solidFill>
                <a:latin typeface="Inter"/>
              </a:rPr>
              <a:t>TEST</a:t>
            </a:r>
          </a:p>
        </p:txBody>
      </p:sp>
      <p:sp>
        <p:nvSpPr>
          <p:cNvPr id="47" name="Oval 46"/>
          <p:cNvSpPr/>
          <p:nvPr/>
        </p:nvSpPr>
        <p:spPr>
          <a:xfrm>
            <a:off x="8317054" y="2653589"/>
            <a:ext cx="69494" cy="69494"/>
          </a:xfrm>
          <a:prstGeom prst="ellipse">
            <a:avLst/>
          </a:prstGeom>
          <a:solidFill>
            <a:srgbClr val="22D3EE">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78833" y="2615367"/>
            <a:ext cx="145938" cy="145938"/>
          </a:xfrm>
          <a:prstGeom prst="ellipse">
            <a:avLst/>
          </a:prstGeom>
          <a:noFill/>
          <a:ln w="10160">
            <a:solidFill>
              <a:srgbClr val="22D3EE">
                <a:alpha val="17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97498" y="2482596"/>
            <a:ext cx="1371600" cy="201168"/>
          </a:xfrm>
          <a:prstGeom prst="rect">
            <a:avLst/>
          </a:prstGeom>
          <a:noFill/>
        </p:spPr>
        <p:txBody>
          <a:bodyPr wrap="square" lIns="0" rIns="0" tIns="0" bIns="0" anchor="t">
            <a:spAutoFit/>
          </a:bodyPr>
          <a:lstStyle/>
          <a:p>
            <a:pPr algn="r">
              <a:lnSpc>
                <a:spcPct val="130000"/>
              </a:lnSpc>
            </a:pPr>
            <a:r>
              <a:rPr sz="720" b="1" spc="140">
                <a:solidFill>
                  <a:srgbClr val="8FA6C4">
                    <a:alpha val="60000"/>
                  </a:srgbClr>
                </a:solidFill>
                <a:latin typeface="Inter"/>
              </a:rPr>
              <a:t>IMPROVE</a:t>
            </a:r>
          </a:p>
        </p:txBody>
      </p:sp>
      <p:cxnSp>
        <p:nvCxnSpPr>
          <p:cNvPr id="50" name="Connector 49"/>
          <p:cNvCxnSpPr/>
          <p:nvPr/>
        </p:nvCxnSpPr>
        <p:spPr>
          <a:xfrm>
            <a:off x="822960" y="6364224"/>
            <a:ext cx="10515600" cy="0"/>
          </a:xfrm>
          <a:prstGeom prst="line">
            <a:avLst/>
          </a:prstGeom>
          <a:ln w="10160">
            <a:solidFill>
              <a:srgbClr val="FFFFFF">
                <a:alpha val="13000"/>
              </a:srgbClr>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22960" y="6455664"/>
            <a:ext cx="4572000" cy="182880"/>
          </a:xfrm>
          <a:prstGeom prst="rect">
            <a:avLst/>
          </a:prstGeom>
          <a:noFill/>
        </p:spPr>
        <p:txBody>
          <a:bodyPr wrap="square" lIns="0" rIns="0" tIns="0" bIns="0" anchor="t">
            <a:spAutoFit/>
          </a:bodyPr>
          <a:lstStyle/>
          <a:p>
            <a:pPr algn="l">
              <a:lnSpc>
                <a:spcPct val="130000"/>
              </a:lnSpc>
            </a:pPr>
            <a:r>
              <a:rPr sz="740" b="1" spc="220">
                <a:solidFill>
                  <a:srgbClr val="5E708C"/>
                </a:solidFill>
                <a:latin typeface="Inter"/>
              </a:rPr>
              <a:t>PROJECT FUTURE</a:t>
            </a:r>
          </a:p>
        </p:txBody>
      </p:sp>
      <p:sp>
        <p:nvSpPr>
          <p:cNvPr id="52" name="TextBox 51"/>
          <p:cNvSpPr txBox="1"/>
          <p:nvPr/>
        </p:nvSpPr>
        <p:spPr>
          <a:xfrm>
            <a:off x="7680960" y="6455664"/>
            <a:ext cx="3657600" cy="182880"/>
          </a:xfrm>
          <a:prstGeom prst="rect">
            <a:avLst/>
          </a:prstGeom>
          <a:noFill/>
        </p:spPr>
        <p:txBody>
          <a:bodyPr wrap="square" lIns="0" rIns="0" tIns="0" bIns="0" anchor="t">
            <a:spAutoFit/>
          </a:bodyPr>
          <a:lstStyle/>
          <a:p>
            <a:pPr algn="r">
              <a:lnSpc>
                <a:spcPct val="130000"/>
              </a:lnSpc>
            </a:pPr>
            <a:r>
              <a:rPr sz="700" b="1" spc="180">
                <a:solidFill>
                  <a:srgbClr val="5E708C"/>
                </a:solidFill>
                <a:latin typeface="Inter"/>
              </a:rPr>
              <a:t>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FUTURE — Personal Development &amp; Technology Fund</dc:title>
  <dc:subject>Three-month pilot proposal for parental support</dc:subject>
  <dc:creator>Student proposal</dc:creator>
  <cp:keywords>development fund, robotics, engineering, proposal</cp:keywords>
  <dc:description>A three-month pilot proposal for a ₹2,000 monthly personal development fund. Typeset in Inter. All figures are contributions only.</dc:description>
  <cp:lastModifiedBy>Steve Canny</cp:lastModifiedBy>
  <cp:revision>1</cp:revision>
  <dcterms:created xsi:type="dcterms:W3CDTF">2013-01-27T09:14:16Z</dcterms:created>
  <dcterms:modified xsi:type="dcterms:W3CDTF">2013-01-27T09:15:58Z</dcterms:modified>
  <cp:category/>
</cp:coreProperties>
</file>